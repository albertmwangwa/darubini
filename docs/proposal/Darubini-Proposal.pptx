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514609-f89f-0b8e-fe32-5a8e88984dc7}">
          <p14:sldIdLst>
            <p14:sldId id="256"/>
          </p14:sldIdLst>
        </p14:section>
        <p14:section name="Problem" id="{a7477e34-4660-9c47-020b-270a62a1f631}">
          <p14:sldIdLst>
            <p14:sldId id="257"/>
          </p14:sldIdLst>
        </p14:section>
        <p14:section name="Solution" id="{15c6ded6-5643-2850-0aaf-86d126618f45}">
          <p14:sldIdLst>
            <p14:sldId id="258"/>
            <p14:sldId id="259"/>
          </p14:sldIdLst>
        </p14:section>
        <p14:section name="Meta AI" id="{e5d49566-06ff-1971-775e-254d107a7677}">
          <p14:sldIdLst>
            <p14:sldId id="260"/>
          </p14:sldIdLst>
        </p14:section>
        <p14:section name="Data and evaluation" id="{ca9891ef-c979-9678-a0af-c60acaf26120}">
          <p14:sldIdLst>
            <p14:sldId id="261"/>
            <p14:sldId id="262"/>
          </p14:sldIdLst>
        </p14:section>
        <p14:section name="Strategy" id="{72db2a73-0378-4489-6ac6-21d406734b34}">
          <p14:sldIdLst>
            <p14:sldId id="263"/>
            <p14:sldId id="264"/>
            <p14:sldId id="265"/>
            <p14:sldId id="266"/>
          </p14:sldIdLst>
        </p14:section>
        <p14:section name="Close" id="{33607bbd-f1a3-d88b-3c36-096b1422d238}">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4748B"/>
                </a:solidFill>
                <a:latin typeface="+mn-lt"/>
              </a:defRPr>
            </a:pPr>
            <a:r>
              <a:rPr sz="1400" b="0" i="0" u="none" strike="noStrike">
                <a:solidFill>
                  <a:srgbClr val="64748B"/>
                </a:solidFill>
                <a:latin typeface="+mn-lt"/>
              </a:rPr>
              <a:t>Judging weights (%)</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2563EB"/>
            </a:solidFill>
            <a:effectLst/>
          </c:spPr>
          <c:invertIfNegative val="0"/>
          <c:dLbls>
            <c:numFmt formatCode="0&quot;%&quot;" sourceLinked="0"/>
            <c:txPr>
              <a:bodyPr/>
              <a:lstStyle/>
              <a:p>
                <a:pPr>
                  <a:defRPr b="1" i="0" strike="noStrike" sz="14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2563EB"/>
              </a:solidFill>
              <a:effectLst/>
            </c:spPr>
          </c:dPt>
          <c:dPt>
            <c:idx val="1"/>
            <c:invertIfNegative val="0"/>
            <c:bubble3D val="0"/>
            <c:spPr>
              <a:solidFill>
                <a:srgbClr val="6D3FA0"/>
              </a:solidFill>
              <a:effectLst/>
            </c:spPr>
          </c:dPt>
          <c:dPt>
            <c:idx val="2"/>
            <c:invertIfNegative val="0"/>
            <c:bubble3D val="0"/>
            <c:spPr>
              <a:solidFill>
                <a:srgbClr val="16A34A"/>
              </a:solidFill>
              <a:effectLst/>
            </c:spPr>
          </c:dPt>
          <c:dPt>
            <c:idx val="3"/>
            <c:invertIfNegative val="0"/>
            <c:bubble3D val="0"/>
            <c:spPr>
              <a:solidFill>
                <a:srgbClr val="D97706"/>
              </a:solidFill>
              <a:effectLst/>
            </c:spPr>
          </c:dPt>
          <c:cat>
            <c:multiLvlStrRef>
              <c:f>Sheet1!$A$2:$A$5</c:f>
              <c:multiLvlStrCache>
                <c:ptCount val="4"/>
                <c:lvl>
                  <c:pt idx="0">
                    <c:v>Impact</c:v>
                  </c:pt>
                  <c:pt idx="1">
                    <c:v>Meta tooling</c:v>
                  </c:pt>
                  <c:pt idx="2">
                    <c:v>Demo</c:v>
                  </c:pt>
                  <c:pt idx="3">
                    <c:v>Technical depth</c:v>
                  </c:pt>
                </c:lvl>
              </c:multiLvlStrCache>
            </c:multiLvlStrRef>
          </c:cat>
          <c:val>
            <c:numRef>
              <c:f>Sheet1!$B$2:$B$5</c:f>
              <c:numCache>
                <c:formatCode>General</c:formatCode>
                <c:ptCount val="4"/>
                <c:pt idx="0">
                  <c:v>30</c:v>
                </c:pt>
                <c:pt idx="1">
                  <c:v>25</c:v>
                </c:pt>
                <c:pt idx="2">
                  <c:v>25</c:v>
                </c:pt>
                <c:pt idx="3">
                  <c:v>20</c:v>
                </c:pt>
              </c:numCache>
            </c:numRef>
          </c:val>
        </c:ser>
        <c:dLbls>
          <c:numFmt formatCode="0&quot;%&quot;" sourceLinked="0"/>
          <c:txPr>
            <a:bodyPr/>
            <a:lstStyle/>
            <a:p>
              <a:pPr>
                <a:defRPr b="1" i="0" strike="noStrike" sz="14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172A"/>
                </a:solidFill>
                <a:latin typeface="+mn-lt"/>
              </a:defRPr>
            </a:pPr>
            <a:endParaRPr lang="en-US"/>
          </a:p>
        </c:txPr>
        <c:crossAx val="2094734552"/>
        <c:crosses val="autoZero"/>
        <c:auto val="1"/>
        <c:lblAlgn val="ctr"/>
        <c:noMultiLvlLbl val="1"/>
      </c:catAx>
      <c:valAx>
        <c:axId val="2094734552"/>
        <c:scaling>
          <c:orientation val="minMax"/>
          <c:max val="36"/>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749808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r>
              <a:rPr lang="en-US" sz="6000" b="1" dirty="0">
                <a:solidFill>
                  <a:schemeClr val="bg1"/>
                </a:solidFill>
              </a:rPr>
              <a:t>Title</a:t>
            </a:r>
            <a:endParaRPr lang="en-US" sz="6000" dirty="0"/>
          </a:p>
        </p:txBody>
      </p:sp>
      <p:sp>
        <p:nvSpPr>
          <p:cNvPr id="3" name="Text 0"/>
          <p:cNvSpPr/>
          <p:nvPr>
            <p:ph idx="101" type="body" hasCustomPrompt="1"/>
          </p:nvPr>
        </p:nvSpPr>
        <p:spPr>
          <a:xfrm>
            <a:off x="548640" y="3474720"/>
            <a:ext cx="6766560" cy="1188720"/>
          </a:xfrm>
          <a:prstGeom prst="rect">
            <a:avLst/>
          </a:prstGeom>
          <a:noFill/>
          <a:ln/>
        </p:spPr>
        <p:txBody>
          <a:bodyPr wrap="square" rtlCol="0"/>
          <a:lstStyle>
            <a:lvl1pPr algn="l" indent="0" marL="0">
              <a:buNone/>
              <a:defRPr lang="en-US" sz="2000" dirty="0">
                <a:solidFill>
                  <a:srgbClr val="BFDBFE"/>
                </a:solidFill>
              </a:defRPr>
            </a:lvl1pPr>
          </a:lstStyle>
          <a:p>
            <a:pPr algn="l" indent="0" marL="0">
              <a:buNone/>
            </a:pPr>
            <a:r>
              <a:rPr lang="en-US" sz="2000" dirty="0">
                <a:solidFill>
                  <a:srgbClr val="BFDBFE"/>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r>
              <a:rPr lang="en-US" sz="1200" b="1" spc="200" kern="0" dirty="0">
                <a:solidFill>
                  <a:schemeClr val="accent1"/>
                </a:solidFill>
              </a:rPr>
              <a:t>Eyebrow</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Title</a:t>
            </a:r>
            <a:endParaRPr lang="en-US" sz="3200" dirty="0"/>
          </a:p>
        </p:txBody>
      </p:sp>
      <p:sp>
        <p:nvSpPr>
          <p:cNvPr id="4"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Darubini · Meta Global AI Developer Hackathon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Title</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7498080" cy="1188720"/>
          </a:xfrm>
          <a:prstGeom prst="rect">
            <a:avLst/>
          </a:prstGeom>
          <a:noFill/>
          <a:ln/>
        </p:spPr>
        <p:txBody>
          <a:bodyPr wrap="square" lIns="0" tIns="0" rIns="0" bIns="0" rtlCol="0" anchor="b"/>
          <a:lstStyle/>
          <a:p>
            <a:pPr algn="l" indent="0" marL="0">
              <a:buNone/>
            </a:pPr>
            <a:r>
              <a:rPr lang="en-US" sz="6000" b="1" dirty="0">
                <a:solidFill>
                  <a:schemeClr val="bg1"/>
                </a:solidFill>
              </a:rPr>
              <a:t>Darubini</a:t>
            </a:r>
            <a:endParaRPr lang="en-US" sz="6000" dirty="0"/>
          </a:p>
        </p:txBody>
      </p:sp>
      <p:sp>
        <p:nvSpPr>
          <p:cNvPr id="3" name="Text 0"/>
          <p:cNvSpPr/>
          <p:nvPr>
            <p:ph idx="101" type="body" hasCustomPrompt="1"/>
          </p:nvPr>
        </p:nvSpPr>
        <p:spPr>
          <a:xfrm>
            <a:off x="548640" y="3474720"/>
            <a:ext cx="6766560" cy="1188720"/>
          </a:xfrm>
          <a:prstGeom prst="rect">
            <a:avLst/>
          </a:prstGeom>
          <a:noFill/>
          <a:ln/>
        </p:spPr>
        <p:txBody>
          <a:bodyPr wrap="square" lIns="0" tIns="0" rIns="0" bIns="0" rtlCol="0" anchor="t"/>
          <a:lstStyle/>
          <a:p>
            <a:pPr algn="l" indent="0" marL="0">
              <a:buNone/>
            </a:pPr>
            <a:r>
              <a:rPr lang="en-US" sz="2000" dirty="0">
                <a:solidFill>
                  <a:srgbClr val="BFDBFE"/>
                </a:solidFill>
              </a:rPr>
              <a:t>A malaria microscopy copilot built on Meta SAM 3 and Muse Spark. A phone on the eyepiece, a count a microscopist can trust, a report in Kiswahili or English.</a:t>
            </a:r>
            <a:endParaRPr lang="en-US" sz="2000" dirty="0"/>
          </a:p>
        </p:txBody>
      </p:sp>
      <p:sp>
        <p:nvSpPr>
          <p:cNvPr id="4" name="Text 2"/>
          <p:cNvSpPr txBox="1"/>
          <p:nvPr/>
        </p:nvSpPr>
        <p:spPr>
          <a:xfrm>
            <a:off x="548640" y="1554480"/>
            <a:ext cx="8229600" cy="320040"/>
          </a:xfrm>
          <a:prstGeom prst="rect">
            <a:avLst/>
          </a:prstGeom>
          <a:noFill/>
          <a:ln/>
        </p:spPr>
        <p:txBody>
          <a:bodyPr wrap="square" lIns="0" tIns="0" rIns="0" bIns="0" rtlCol="0" anchor="t"/>
          <a:lstStyle/>
          <a:p>
            <a:pPr indent="0" marL="0">
              <a:buNone/>
            </a:pPr>
            <a:r>
              <a:rPr lang="en-US" sz="1200" b="1" spc="200" kern="0" dirty="0">
                <a:solidFill>
                  <a:srgbClr val="93C5FD"/>
                </a:solidFill>
              </a:rPr>
              <a:t>INDIE DEVELOPER TRACK  ·  META GLOBAL AI DEVELOPER HACKATHON 2026</a:t>
            </a:r>
            <a:endParaRPr lang="en-US" sz="1200" dirty="0"/>
          </a:p>
        </p:txBody>
      </p:sp>
      <p:sp>
        <p:nvSpPr>
          <p:cNvPr id="5" name="Text 3"/>
          <p:cNvSpPr txBox="1"/>
          <p:nvPr/>
        </p:nvSpPr>
        <p:spPr>
          <a:xfrm>
            <a:off x="548640" y="6035040"/>
            <a:ext cx="10058400" cy="320040"/>
          </a:xfrm>
          <a:prstGeom prst="rect">
            <a:avLst/>
          </a:prstGeom>
          <a:noFill/>
          <a:ln/>
        </p:spPr>
        <p:txBody>
          <a:bodyPr wrap="square" lIns="0" tIns="0" rIns="0" bIns="0" rtlCol="0" anchor="t"/>
          <a:lstStyle/>
          <a:p>
            <a:pPr indent="0" marL="0">
              <a:buNone/>
            </a:pPr>
            <a:r>
              <a:rPr lang="en-US" sz="1200" dirty="0">
                <a:solidFill>
                  <a:srgbClr val="93C5FD"/>
                </a:solidFill>
              </a:rPr>
              <a:t>Albert William Mwangwa  ·  MSc Data Science, University of Dar es Salaam  ·  github.com/albertmwangwa/darubini</a:t>
            </a:r>
            <a:endParaRPr lang="en-US" sz="1200" dirty="0"/>
          </a:p>
        </p:txBody>
      </p:sp>
      <p:sp>
        <p:nvSpPr>
          <p:cNvPr id="6" name="field"/>
          <p:cNvSpPr/>
          <p:nvPr/>
        </p:nvSpPr>
        <p:spPr>
          <a:xfrm>
            <a:off x="8549640" y="1600200"/>
            <a:ext cx="3108960" cy="3108960"/>
          </a:xfrm>
          <a:prstGeom prst="ellipse">
            <a:avLst/>
          </a:prstGeom>
          <a:solidFill>
            <a:srgbClr val="FBE7EE"/>
          </a:solidFill>
          <a:ln w="25400">
            <a:solidFill>
              <a:srgbClr val="93C5FD"/>
            </a:solidFill>
            <a:prstDash val="solid"/>
          </a:ln>
        </p:spPr>
      </p:sp>
      <p:sp>
        <p:nvSpPr>
          <p:cNvPr id="7" name="wbc"/>
          <p:cNvSpPr/>
          <p:nvPr/>
        </p:nvSpPr>
        <p:spPr>
          <a:xfrm>
            <a:off x="9189720" y="2331720"/>
            <a:ext cx="502920" cy="502920"/>
          </a:xfrm>
          <a:prstGeom prst="ellipse">
            <a:avLst/>
          </a:prstGeom>
          <a:solidFill>
            <a:srgbClr val="6D3FA0"/>
          </a:solidFill>
          <a:ln/>
        </p:spPr>
      </p:sp>
      <p:sp>
        <p:nvSpPr>
          <p:cNvPr id="8" name="wbc"/>
          <p:cNvSpPr/>
          <p:nvPr/>
        </p:nvSpPr>
        <p:spPr>
          <a:xfrm>
            <a:off x="10469880" y="3429000"/>
            <a:ext cx="548640" cy="548640"/>
          </a:xfrm>
          <a:prstGeom prst="ellipse">
            <a:avLst/>
          </a:prstGeom>
          <a:solidFill>
            <a:srgbClr val="6D3FA0"/>
          </a:solidFill>
          <a:ln/>
        </p:spPr>
      </p:sp>
      <p:sp>
        <p:nvSpPr>
          <p:cNvPr id="9" name="wbc"/>
          <p:cNvSpPr/>
          <p:nvPr/>
        </p:nvSpPr>
        <p:spPr>
          <a:xfrm>
            <a:off x="9646920" y="3840480"/>
            <a:ext cx="457200" cy="457200"/>
          </a:xfrm>
          <a:prstGeom prst="ellipse">
            <a:avLst/>
          </a:prstGeom>
          <a:solidFill>
            <a:srgbClr val="6D3FA0"/>
          </a:solidFill>
          <a:ln/>
        </p:spPr>
      </p:sp>
      <p:sp>
        <p:nvSpPr>
          <p:cNvPr id="10" name="parasite"/>
          <p:cNvSpPr/>
          <p:nvPr/>
        </p:nvSpPr>
        <p:spPr>
          <a:xfrm>
            <a:off x="10195560" y="2240280"/>
            <a:ext cx="109728" cy="109728"/>
          </a:xfrm>
          <a:prstGeom prst="ellipse">
            <a:avLst/>
          </a:prstGeom>
          <a:solidFill>
            <a:srgbClr val="6D3FA0"/>
          </a:solidFill>
          <a:ln/>
        </p:spPr>
      </p:sp>
      <p:sp>
        <p:nvSpPr>
          <p:cNvPr id="11" name="box"/>
          <p:cNvSpPr/>
          <p:nvPr/>
        </p:nvSpPr>
        <p:spPr>
          <a:xfrm>
            <a:off x="10104120" y="2148840"/>
            <a:ext cx="292608" cy="292608"/>
          </a:xfrm>
          <a:prstGeom prst="roundRect">
            <a:avLst>
              <a:gd name="adj" fmla="val 15625"/>
            </a:avLst>
          </a:prstGeom>
          <a:solidFill>
            <a:srgbClr val="FFFFFF">
              <a:alpha val="0"/>
            </a:srgbClr>
          </a:solidFill>
          <a:ln w="25400">
            <a:solidFill>
              <a:srgbClr val="2563EB"/>
            </a:solidFill>
            <a:prstDash val="solid"/>
          </a:ln>
        </p:spPr>
      </p:sp>
      <p:sp>
        <p:nvSpPr>
          <p:cNvPr id="12" name="parasite"/>
          <p:cNvSpPr/>
          <p:nvPr/>
        </p:nvSpPr>
        <p:spPr>
          <a:xfrm>
            <a:off x="9464040" y="3200400"/>
            <a:ext cx="109728" cy="109728"/>
          </a:xfrm>
          <a:prstGeom prst="ellipse">
            <a:avLst/>
          </a:prstGeom>
          <a:solidFill>
            <a:srgbClr val="6D3FA0"/>
          </a:solidFill>
          <a:ln/>
        </p:spPr>
      </p:sp>
      <p:sp>
        <p:nvSpPr>
          <p:cNvPr id="13" name="box"/>
          <p:cNvSpPr/>
          <p:nvPr/>
        </p:nvSpPr>
        <p:spPr>
          <a:xfrm>
            <a:off x="9372600" y="3108960"/>
            <a:ext cx="292608" cy="292608"/>
          </a:xfrm>
          <a:prstGeom prst="roundRect">
            <a:avLst>
              <a:gd name="adj" fmla="val 15625"/>
            </a:avLst>
          </a:prstGeom>
          <a:solidFill>
            <a:srgbClr val="FFFFFF">
              <a:alpha val="0"/>
            </a:srgbClr>
          </a:solidFill>
          <a:ln w="25400">
            <a:solidFill>
              <a:srgbClr val="2563EB"/>
            </a:solidFill>
            <a:prstDash val="solid"/>
          </a:ln>
        </p:spPr>
      </p:sp>
      <p:sp>
        <p:nvSpPr>
          <p:cNvPr id="14" name="parasite"/>
          <p:cNvSpPr/>
          <p:nvPr/>
        </p:nvSpPr>
        <p:spPr>
          <a:xfrm>
            <a:off x="10698480" y="2788920"/>
            <a:ext cx="109728" cy="109728"/>
          </a:xfrm>
          <a:prstGeom prst="ellipse">
            <a:avLst/>
          </a:prstGeom>
          <a:solidFill>
            <a:srgbClr val="6D3FA0"/>
          </a:solidFill>
          <a:ln/>
        </p:spPr>
      </p:sp>
      <p:sp>
        <p:nvSpPr>
          <p:cNvPr id="15" name="box"/>
          <p:cNvSpPr/>
          <p:nvPr/>
        </p:nvSpPr>
        <p:spPr>
          <a:xfrm>
            <a:off x="10607040" y="2697480"/>
            <a:ext cx="292608" cy="292608"/>
          </a:xfrm>
          <a:prstGeom prst="roundRect">
            <a:avLst>
              <a:gd name="adj" fmla="val 15625"/>
            </a:avLst>
          </a:prstGeom>
          <a:solidFill>
            <a:srgbClr val="FFFFFF">
              <a:alpha val="0"/>
            </a:srgbClr>
          </a:solidFill>
          <a:ln w="25400">
            <a:solidFill>
              <a:srgbClr val="2563EB"/>
            </a:solidFill>
            <a:prstDash val="solid"/>
          </a:ln>
        </p:spPr>
      </p:sp>
      <p:sp>
        <p:nvSpPr>
          <p:cNvPr id="16" name="parasite"/>
          <p:cNvSpPr/>
          <p:nvPr/>
        </p:nvSpPr>
        <p:spPr>
          <a:xfrm>
            <a:off x="9052560" y="3429000"/>
            <a:ext cx="109728" cy="109728"/>
          </a:xfrm>
          <a:prstGeom prst="ellipse">
            <a:avLst/>
          </a:prstGeom>
          <a:solidFill>
            <a:srgbClr val="6D3FA0"/>
          </a:solidFill>
          <a:ln/>
        </p:spPr>
      </p:sp>
      <p:sp>
        <p:nvSpPr>
          <p:cNvPr id="17" name="box"/>
          <p:cNvSpPr/>
          <p:nvPr/>
        </p:nvSpPr>
        <p:spPr>
          <a:xfrm>
            <a:off x="8961120" y="3337560"/>
            <a:ext cx="292608" cy="292608"/>
          </a:xfrm>
          <a:prstGeom prst="roundRect">
            <a:avLst>
              <a:gd name="adj" fmla="val 15625"/>
            </a:avLst>
          </a:prstGeom>
          <a:solidFill>
            <a:srgbClr val="FFFFFF">
              <a:alpha val="0"/>
            </a:srgbClr>
          </a:solidFill>
          <a:ln w="25400">
            <a:solidFill>
              <a:srgbClr val="2563EB"/>
            </a:solidFill>
            <a:prstDash val="solid"/>
          </a:ln>
        </p:spPr>
      </p:sp>
      <p:sp>
        <p:nvSpPr>
          <p:cNvPr id="18" name="parasite"/>
          <p:cNvSpPr/>
          <p:nvPr/>
        </p:nvSpPr>
        <p:spPr>
          <a:xfrm>
            <a:off x="10927080" y="2468880"/>
            <a:ext cx="109728" cy="109728"/>
          </a:xfrm>
          <a:prstGeom prst="ellipse">
            <a:avLst/>
          </a:prstGeom>
          <a:solidFill>
            <a:srgbClr val="6D3FA0"/>
          </a:solidFill>
          <a:ln/>
        </p:spPr>
      </p:sp>
      <p:sp>
        <p:nvSpPr>
          <p:cNvPr id="19" name="box"/>
          <p:cNvSpPr/>
          <p:nvPr/>
        </p:nvSpPr>
        <p:spPr>
          <a:xfrm>
            <a:off x="10835640" y="2377440"/>
            <a:ext cx="292608" cy="292608"/>
          </a:xfrm>
          <a:prstGeom prst="roundRect">
            <a:avLst>
              <a:gd name="adj" fmla="val 15625"/>
            </a:avLst>
          </a:prstGeom>
          <a:solidFill>
            <a:srgbClr val="FFFFFF">
              <a:alpha val="0"/>
            </a:srgbClr>
          </a:solidFill>
          <a:ln w="25400">
            <a:solidFill>
              <a:srgbClr val="2563E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PROBLEM</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Counting malaria parasites is slow, skilled work</a:t>
            </a:r>
            <a:endParaRPr lang="en-US" sz="3200" dirty="0"/>
          </a:p>
        </p:txBody>
      </p:sp>
      <p:sp>
        <p:nvSpPr>
          <p:cNvPr id="4" name="stat-card"/>
          <p:cNvSpPr/>
          <p:nvPr/>
        </p:nvSpPr>
        <p:spPr>
          <a:xfrm>
            <a:off x="548640" y="1783080"/>
            <a:ext cx="3520440" cy="2331720"/>
          </a:xfrm>
          <a:prstGeom prst="roundRect">
            <a:avLst>
              <a:gd name="adj" fmla="val 3922"/>
            </a:avLst>
          </a:prstGeom>
          <a:solidFill>
            <a:schemeClr val="bg1"/>
          </a:solidFill>
          <a:ln w="12700">
            <a:solidFill>
              <a:schemeClr val="accent6"/>
            </a:solidFill>
            <a:prstDash val="solid"/>
          </a:ln>
        </p:spPr>
      </p:sp>
      <p:sp>
        <p:nvSpPr>
          <p:cNvPr id="5" name="Text 3"/>
          <p:cNvSpPr txBox="1"/>
          <p:nvPr/>
        </p:nvSpPr>
        <p:spPr>
          <a:xfrm>
            <a:off x="868680" y="2103120"/>
            <a:ext cx="2926080" cy="914400"/>
          </a:xfrm>
          <a:prstGeom prst="rect">
            <a:avLst/>
          </a:prstGeom>
          <a:noFill/>
          <a:ln/>
        </p:spPr>
        <p:txBody>
          <a:bodyPr wrap="square" lIns="0" tIns="0" rIns="0" bIns="0" rtlCol="0" anchor="t"/>
          <a:lstStyle/>
          <a:p>
            <a:pPr indent="0" marL="0">
              <a:buNone/>
            </a:pPr>
            <a:r>
              <a:rPr lang="en-US" sz="4800" b="1" dirty="0">
                <a:solidFill>
                  <a:schemeClr val="tx1"/>
                </a:solidFill>
              </a:rPr>
              <a:t>282M</a:t>
            </a:r>
            <a:endParaRPr lang="en-US" sz="4800" dirty="0"/>
          </a:p>
        </p:txBody>
      </p:sp>
      <p:sp>
        <p:nvSpPr>
          <p:cNvPr id="6" name="Text 4"/>
          <p:cNvSpPr txBox="1"/>
          <p:nvPr/>
        </p:nvSpPr>
        <p:spPr>
          <a:xfrm>
            <a:off x="868680" y="310896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estimated malaria cases worldwide in 2024</a:t>
            </a:r>
            <a:endParaRPr lang="en-US" sz="1500" dirty="0"/>
          </a:p>
        </p:txBody>
      </p:sp>
      <p:sp>
        <p:nvSpPr>
          <p:cNvPr id="7" name="stat-card"/>
          <p:cNvSpPr/>
          <p:nvPr/>
        </p:nvSpPr>
        <p:spPr>
          <a:xfrm>
            <a:off x="4297680" y="1783080"/>
            <a:ext cx="3520440" cy="2331720"/>
          </a:xfrm>
          <a:prstGeom prst="roundRect">
            <a:avLst>
              <a:gd name="adj" fmla="val 3922"/>
            </a:avLst>
          </a:prstGeom>
          <a:solidFill>
            <a:schemeClr val="bg1"/>
          </a:solidFill>
          <a:ln w="12700">
            <a:solidFill>
              <a:schemeClr val="accent6"/>
            </a:solidFill>
            <a:prstDash val="solid"/>
          </a:ln>
        </p:spPr>
      </p:sp>
      <p:sp>
        <p:nvSpPr>
          <p:cNvPr id="8" name="Text 6"/>
          <p:cNvSpPr txBox="1"/>
          <p:nvPr/>
        </p:nvSpPr>
        <p:spPr>
          <a:xfrm>
            <a:off x="4617720" y="2103120"/>
            <a:ext cx="2926080" cy="914400"/>
          </a:xfrm>
          <a:prstGeom prst="rect">
            <a:avLst/>
          </a:prstGeom>
          <a:noFill/>
          <a:ln/>
        </p:spPr>
        <p:txBody>
          <a:bodyPr wrap="square" lIns="0" tIns="0" rIns="0" bIns="0" rtlCol="0" anchor="t"/>
          <a:lstStyle/>
          <a:p>
            <a:pPr indent="0" marL="0">
              <a:buNone/>
            </a:pPr>
            <a:r>
              <a:rPr lang="en-US" sz="4800" b="1" dirty="0">
                <a:solidFill>
                  <a:schemeClr val="tx1"/>
                </a:solidFill>
              </a:rPr>
              <a:t>610,000</a:t>
            </a:r>
            <a:endParaRPr lang="en-US" sz="4800" dirty="0"/>
          </a:p>
        </p:txBody>
      </p:sp>
      <p:sp>
        <p:nvSpPr>
          <p:cNvPr id="9" name="Text 7"/>
          <p:cNvSpPr txBox="1"/>
          <p:nvPr/>
        </p:nvSpPr>
        <p:spPr>
          <a:xfrm>
            <a:off x="4617720" y="310896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estimated malaria deaths in 2024; 11 African countries carry about two-thirds</a:t>
            </a:r>
            <a:endParaRPr lang="en-US" sz="1500" dirty="0"/>
          </a:p>
        </p:txBody>
      </p:sp>
      <p:sp>
        <p:nvSpPr>
          <p:cNvPr id="10" name="stat-card"/>
          <p:cNvSpPr/>
          <p:nvPr/>
        </p:nvSpPr>
        <p:spPr>
          <a:xfrm>
            <a:off x="8046720" y="1783080"/>
            <a:ext cx="3520440" cy="2331720"/>
          </a:xfrm>
          <a:prstGeom prst="roundRect">
            <a:avLst>
              <a:gd name="adj" fmla="val 3922"/>
            </a:avLst>
          </a:prstGeom>
          <a:solidFill>
            <a:schemeClr val="bg1"/>
          </a:solidFill>
          <a:ln w="12700">
            <a:solidFill>
              <a:schemeClr val="accent6"/>
            </a:solidFill>
            <a:prstDash val="solid"/>
          </a:ln>
        </p:spPr>
      </p:sp>
      <p:sp>
        <p:nvSpPr>
          <p:cNvPr id="11" name="Text 9"/>
          <p:cNvSpPr txBox="1"/>
          <p:nvPr/>
        </p:nvSpPr>
        <p:spPr>
          <a:xfrm>
            <a:off x="8366760" y="2103120"/>
            <a:ext cx="2926080" cy="914400"/>
          </a:xfrm>
          <a:prstGeom prst="rect">
            <a:avLst/>
          </a:prstGeom>
          <a:noFill/>
          <a:ln/>
        </p:spPr>
        <p:txBody>
          <a:bodyPr wrap="square" lIns="0" tIns="0" rIns="0" bIns="0" rtlCol="0" anchor="t"/>
          <a:lstStyle/>
          <a:p>
            <a:pPr indent="0" marL="0">
              <a:buNone/>
            </a:pPr>
            <a:r>
              <a:rPr lang="en-US" sz="4800" b="1" dirty="0">
                <a:solidFill>
                  <a:schemeClr val="accent1"/>
                </a:solidFill>
              </a:rPr>
              <a:t>4.3%</a:t>
            </a:r>
            <a:endParaRPr lang="en-US" sz="4800" dirty="0"/>
          </a:p>
        </p:txBody>
      </p:sp>
      <p:sp>
        <p:nvSpPr>
          <p:cNvPr id="12" name="Text 10"/>
          <p:cNvSpPr txBox="1"/>
          <p:nvPr/>
        </p:nvSpPr>
        <p:spPr>
          <a:xfrm>
            <a:off x="8366760" y="310896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of global malaria deaths were in Tanzania, the fourth highest worldwide</a:t>
            </a:r>
            <a:endParaRPr lang="en-US" sz="1500" dirty="0"/>
          </a:p>
        </p:txBody>
      </p:sp>
      <p:sp>
        <p:nvSpPr>
          <p:cNvPr id="13" name="context"/>
          <p:cNvSpPr/>
          <p:nvPr/>
        </p:nvSpPr>
        <p:spPr>
          <a:xfrm>
            <a:off x="548640" y="4434840"/>
            <a:ext cx="11094415" cy="1554480"/>
          </a:xfrm>
          <a:prstGeom prst="roundRect">
            <a:avLst>
              <a:gd name="adj" fmla="val 5882"/>
            </a:avLst>
          </a:prstGeom>
          <a:solidFill>
            <a:schemeClr val="bg2"/>
          </a:solidFill>
          <a:ln w="12700">
            <a:solidFill>
              <a:schemeClr val="bg2"/>
            </a:solidFill>
            <a:prstDash val="solid"/>
          </a:ln>
        </p:spPr>
      </p:sp>
      <p:sp>
        <p:nvSpPr>
          <p:cNvPr id="14" name="Text 12"/>
          <p:cNvSpPr txBox="1"/>
          <p:nvPr/>
        </p:nvSpPr>
        <p:spPr>
          <a:xfrm>
            <a:off x="868680" y="4645152"/>
            <a:ext cx="10454335" cy="914400"/>
          </a:xfrm>
          <a:prstGeom prst="rect">
            <a:avLst/>
          </a:prstGeom>
          <a:noFill/>
          <a:ln/>
        </p:spPr>
        <p:txBody>
          <a:bodyPr wrap="square" lIns="0" tIns="0" rIns="0" bIns="0" rtlCol="0" anchor="t"/>
          <a:lstStyle/>
          <a:p>
            <a:pPr indent="0" marL="0">
              <a:buNone/>
            </a:pPr>
            <a:r>
              <a:rPr lang="en-US" sz="1500" dirty="0">
                <a:solidFill>
                  <a:schemeClr val="tx1"/>
                </a:solidFill>
              </a:rPr>
              <a:t>Microscopy of Giemsa-stained thick films is the reference method for confirming malaria and measuring parasite density. Technicians count parasites against 200 to 500 white blood cells, field by field. Fatigue, stain quality and smear thickness all erode accuracy.</a:t>
            </a:r>
            <a:endParaRPr lang="en-US" sz="1500" dirty="0"/>
          </a:p>
        </p:txBody>
      </p:sp>
      <p:sp>
        <p:nvSpPr>
          <p:cNvPr id="15" name="Text 13"/>
          <p:cNvSpPr txBox="1"/>
          <p:nvPr/>
        </p:nvSpPr>
        <p:spPr>
          <a:xfrm>
            <a:off x="868680" y="5596128"/>
            <a:ext cx="9144000" cy="274320"/>
          </a:xfrm>
          <a:prstGeom prst="rect">
            <a:avLst/>
          </a:prstGeom>
          <a:noFill/>
          <a:ln/>
        </p:spPr>
        <p:txBody>
          <a:bodyPr wrap="square" lIns="0" tIns="0" rIns="0" bIns="0" rtlCol="0" anchor="t"/>
          <a:lstStyle/>
          <a:p>
            <a:pPr indent="0" marL="0">
              <a:buNone/>
            </a:pPr>
            <a:r>
              <a:rPr lang="en-US" sz="1000" dirty="0">
                <a:solidFill>
                  <a:schemeClr val="accent5"/>
                </a:solidFill>
              </a:rPr>
              <a:t>Sources: WHO World Malaria Report 2025; The Citizen (Tanzania), citing the same report.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SOLUTION</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Six steps from eyepiece to a confirmed count</a:t>
            </a:r>
            <a:endParaRPr lang="en-US" sz="3200" dirty="0"/>
          </a:p>
        </p:txBody>
      </p:sp>
      <p:sp>
        <p:nvSpPr>
          <p:cNvPr id="4" name="step-card"/>
          <p:cNvSpPr/>
          <p:nvPr/>
        </p:nvSpPr>
        <p:spPr>
          <a:xfrm>
            <a:off x="548640" y="1828800"/>
            <a:ext cx="1681429" cy="3291840"/>
          </a:xfrm>
          <a:prstGeom prst="roundRect">
            <a:avLst>
              <a:gd name="adj" fmla="val 5438"/>
            </a:avLst>
          </a:prstGeom>
          <a:solidFill>
            <a:schemeClr val="bg1"/>
          </a:solidFill>
          <a:ln w="12700">
            <a:solidFill>
              <a:schemeClr val="accent6"/>
            </a:solidFill>
            <a:prstDash val="solid"/>
          </a:ln>
        </p:spPr>
      </p:sp>
      <p:sp>
        <p:nvSpPr>
          <p:cNvPr id="5" name="icon-bg"/>
          <p:cNvSpPr/>
          <p:nvPr/>
        </p:nvSpPr>
        <p:spPr>
          <a:xfrm>
            <a:off x="822960" y="2148840"/>
            <a:ext cx="548640" cy="54864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960120" y="2286000"/>
            <a:ext cx="274320" cy="274320"/>
          </a:xfrm>
          <a:prstGeom prst="rect">
            <a:avLst/>
          </a:prstGeom>
        </p:spPr>
      </p:pic>
      <p:sp>
        <p:nvSpPr>
          <p:cNvPr id="7" name="Text 4"/>
          <p:cNvSpPr txBox="1"/>
          <p:nvPr/>
        </p:nvSpPr>
        <p:spPr>
          <a:xfrm>
            <a:off x="1727149"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1</a:t>
            </a:r>
            <a:endParaRPr lang="en-US" sz="1400" dirty="0"/>
          </a:p>
        </p:txBody>
      </p:sp>
      <p:sp>
        <p:nvSpPr>
          <p:cNvPr id="8" name="Text 5"/>
          <p:cNvSpPr txBox="1"/>
          <p:nvPr/>
        </p:nvSpPr>
        <p:spPr>
          <a:xfrm>
            <a:off x="822960"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Capture</a:t>
            </a:r>
            <a:endParaRPr lang="en-US" sz="1700" dirty="0"/>
          </a:p>
        </p:txBody>
      </p:sp>
      <p:sp>
        <p:nvSpPr>
          <p:cNvPr id="9" name="Text 6"/>
          <p:cNvSpPr txBox="1"/>
          <p:nvPr/>
        </p:nvSpPr>
        <p:spPr>
          <a:xfrm>
            <a:off x="822960"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Phone on the eyepiece photographs one field at a time</a:t>
            </a:r>
            <a:endParaRPr lang="en-US" sz="1400" dirty="0"/>
          </a:p>
        </p:txBody>
      </p:sp>
      <p:sp>
        <p:nvSpPr>
          <p:cNvPr id="10" name="step-card"/>
          <p:cNvSpPr/>
          <p:nvPr/>
        </p:nvSpPr>
        <p:spPr>
          <a:xfrm>
            <a:off x="2431237" y="1828800"/>
            <a:ext cx="1681429" cy="3291840"/>
          </a:xfrm>
          <a:prstGeom prst="roundRect">
            <a:avLst>
              <a:gd name="adj" fmla="val 5438"/>
            </a:avLst>
          </a:prstGeom>
          <a:solidFill>
            <a:schemeClr val="bg1"/>
          </a:solidFill>
          <a:ln w="12700">
            <a:solidFill>
              <a:schemeClr val="accent6"/>
            </a:solidFill>
            <a:prstDash val="solid"/>
          </a:ln>
        </p:spPr>
      </p:sp>
      <p:sp>
        <p:nvSpPr>
          <p:cNvPr id="11" name="icon-bg"/>
          <p:cNvSpPr/>
          <p:nvPr/>
        </p:nvSpPr>
        <p:spPr>
          <a:xfrm>
            <a:off x="2705557" y="2148840"/>
            <a:ext cx="548640" cy="548640"/>
          </a:xfrm>
          <a:prstGeom prst="ellipse">
            <a:avLst/>
          </a:prstGeom>
          <a:solidFill>
            <a:schemeClr val="accent1"/>
          </a:solidFill>
          <a:ln/>
        </p:spPr>
      </p:sp>
      <p:pic>
        <p:nvPicPr>
          <p:cNvPr id="12" name="icon" descr="preencoded.png">    </p:cNvPr>
          <p:cNvPicPr>
            <a:picLocks noChangeAspect="1"/>
          </p:cNvPicPr>
          <p:nvPr/>
        </p:nvPicPr>
        <p:blipFill>
          <a:blip r:embed="rId2"/>
          <a:stretch>
            <a:fillRect/>
          </a:stretch>
        </p:blipFill>
        <p:spPr>
          <a:xfrm>
            <a:off x="2842717" y="2286000"/>
            <a:ext cx="274320" cy="274320"/>
          </a:xfrm>
          <a:prstGeom prst="rect">
            <a:avLst/>
          </a:prstGeom>
        </p:spPr>
      </p:pic>
      <p:sp>
        <p:nvSpPr>
          <p:cNvPr id="13" name="Text 9"/>
          <p:cNvSpPr txBox="1"/>
          <p:nvPr/>
        </p:nvSpPr>
        <p:spPr>
          <a:xfrm>
            <a:off x="3609746"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2</a:t>
            </a:r>
            <a:endParaRPr lang="en-US" sz="1400" dirty="0"/>
          </a:p>
        </p:txBody>
      </p:sp>
      <p:sp>
        <p:nvSpPr>
          <p:cNvPr id="14" name="Text 10"/>
          <p:cNvSpPr txBox="1"/>
          <p:nvPr/>
        </p:nvSpPr>
        <p:spPr>
          <a:xfrm>
            <a:off x="2705557"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Check</a:t>
            </a:r>
            <a:endParaRPr lang="en-US" sz="1700" dirty="0"/>
          </a:p>
        </p:txBody>
      </p:sp>
      <p:sp>
        <p:nvSpPr>
          <p:cNvPr id="15" name="Text 11"/>
          <p:cNvSpPr txBox="1"/>
          <p:nvPr/>
        </p:nvSpPr>
        <p:spPr>
          <a:xfrm>
            <a:off x="2705557"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Focus, exposure and stain checks reject bad fields</a:t>
            </a:r>
            <a:endParaRPr lang="en-US" sz="1400" dirty="0"/>
          </a:p>
        </p:txBody>
      </p:sp>
      <p:sp>
        <p:nvSpPr>
          <p:cNvPr id="16" name="step-card"/>
          <p:cNvSpPr/>
          <p:nvPr/>
        </p:nvSpPr>
        <p:spPr>
          <a:xfrm>
            <a:off x="4313834" y="1828800"/>
            <a:ext cx="1681429" cy="3291840"/>
          </a:xfrm>
          <a:prstGeom prst="roundRect">
            <a:avLst>
              <a:gd name="adj" fmla="val 5438"/>
            </a:avLst>
          </a:prstGeom>
          <a:solidFill>
            <a:schemeClr val="bg1"/>
          </a:solidFill>
          <a:ln w="12700">
            <a:solidFill>
              <a:schemeClr val="accent6"/>
            </a:solidFill>
            <a:prstDash val="solid"/>
          </a:ln>
        </p:spPr>
      </p:sp>
      <p:sp>
        <p:nvSpPr>
          <p:cNvPr id="17" name="icon-bg"/>
          <p:cNvSpPr/>
          <p:nvPr/>
        </p:nvSpPr>
        <p:spPr>
          <a:xfrm>
            <a:off x="4588154" y="2148840"/>
            <a:ext cx="548640" cy="548640"/>
          </a:xfrm>
          <a:prstGeom prst="ellipse">
            <a:avLst/>
          </a:prstGeom>
          <a:solidFill>
            <a:schemeClr val="accent1"/>
          </a:solidFill>
          <a:ln/>
        </p:spPr>
      </p:sp>
      <p:pic>
        <p:nvPicPr>
          <p:cNvPr id="18" name="icon" descr="preencoded.png">    </p:cNvPr>
          <p:cNvPicPr>
            <a:picLocks noChangeAspect="1"/>
          </p:cNvPicPr>
          <p:nvPr/>
        </p:nvPicPr>
        <p:blipFill>
          <a:blip r:embed="rId3"/>
          <a:stretch>
            <a:fillRect/>
          </a:stretch>
        </p:blipFill>
        <p:spPr>
          <a:xfrm>
            <a:off x="4725314" y="2286000"/>
            <a:ext cx="274320" cy="274320"/>
          </a:xfrm>
          <a:prstGeom prst="rect">
            <a:avLst/>
          </a:prstGeom>
        </p:spPr>
      </p:pic>
      <p:sp>
        <p:nvSpPr>
          <p:cNvPr id="19" name="Text 14"/>
          <p:cNvSpPr txBox="1"/>
          <p:nvPr/>
        </p:nvSpPr>
        <p:spPr>
          <a:xfrm>
            <a:off x="5492344"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3</a:t>
            </a:r>
            <a:endParaRPr lang="en-US" sz="1400" dirty="0"/>
          </a:p>
        </p:txBody>
      </p:sp>
      <p:sp>
        <p:nvSpPr>
          <p:cNvPr id="20" name="Text 15"/>
          <p:cNvSpPr txBox="1"/>
          <p:nvPr/>
        </p:nvSpPr>
        <p:spPr>
          <a:xfrm>
            <a:off x="4588154"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Segment</a:t>
            </a:r>
            <a:endParaRPr lang="en-US" sz="1700" dirty="0"/>
          </a:p>
        </p:txBody>
      </p:sp>
      <p:sp>
        <p:nvSpPr>
          <p:cNvPr id="21" name="Text 16"/>
          <p:cNvSpPr txBox="1"/>
          <p:nvPr/>
        </p:nvSpPr>
        <p:spPr>
          <a:xfrm>
            <a:off x="4588154"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SAM 3 finds parasites and WBC from concept prompts</a:t>
            </a:r>
            <a:endParaRPr lang="en-US" sz="1400" dirty="0"/>
          </a:p>
        </p:txBody>
      </p:sp>
      <p:sp>
        <p:nvSpPr>
          <p:cNvPr id="22" name="step-card"/>
          <p:cNvSpPr/>
          <p:nvPr/>
        </p:nvSpPr>
        <p:spPr>
          <a:xfrm>
            <a:off x="6196432" y="1828800"/>
            <a:ext cx="1681429" cy="3291840"/>
          </a:xfrm>
          <a:prstGeom prst="roundRect">
            <a:avLst>
              <a:gd name="adj" fmla="val 5438"/>
            </a:avLst>
          </a:prstGeom>
          <a:solidFill>
            <a:schemeClr val="bg1"/>
          </a:solidFill>
          <a:ln w="12700">
            <a:solidFill>
              <a:schemeClr val="accent6"/>
            </a:solidFill>
            <a:prstDash val="solid"/>
          </a:ln>
        </p:spPr>
      </p:sp>
      <p:sp>
        <p:nvSpPr>
          <p:cNvPr id="23" name="icon-bg"/>
          <p:cNvSpPr/>
          <p:nvPr/>
        </p:nvSpPr>
        <p:spPr>
          <a:xfrm>
            <a:off x="6470752" y="2148840"/>
            <a:ext cx="548640" cy="548640"/>
          </a:xfrm>
          <a:prstGeom prst="ellipse">
            <a:avLst/>
          </a:prstGeom>
          <a:solidFill>
            <a:schemeClr val="accent1"/>
          </a:solidFill>
          <a:ln/>
        </p:spPr>
      </p:sp>
      <p:pic>
        <p:nvPicPr>
          <p:cNvPr id="24" name="icon" descr="preencoded.png">    </p:cNvPr>
          <p:cNvPicPr>
            <a:picLocks noChangeAspect="1"/>
          </p:cNvPicPr>
          <p:nvPr/>
        </p:nvPicPr>
        <p:blipFill>
          <a:blip r:embed="rId4"/>
          <a:stretch>
            <a:fillRect/>
          </a:stretch>
        </p:blipFill>
        <p:spPr>
          <a:xfrm>
            <a:off x="6607912" y="2286000"/>
            <a:ext cx="274320" cy="274320"/>
          </a:xfrm>
          <a:prstGeom prst="rect">
            <a:avLst/>
          </a:prstGeom>
        </p:spPr>
      </p:pic>
      <p:sp>
        <p:nvSpPr>
          <p:cNvPr id="25" name="Text 19"/>
          <p:cNvSpPr txBox="1"/>
          <p:nvPr/>
        </p:nvSpPr>
        <p:spPr>
          <a:xfrm>
            <a:off x="7374941"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4</a:t>
            </a:r>
            <a:endParaRPr lang="en-US" sz="1400" dirty="0"/>
          </a:p>
        </p:txBody>
      </p:sp>
      <p:sp>
        <p:nvSpPr>
          <p:cNvPr id="26" name="Text 20"/>
          <p:cNvSpPr txBox="1"/>
          <p:nvPr/>
        </p:nvSpPr>
        <p:spPr>
          <a:xfrm>
            <a:off x="6470752"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Count</a:t>
            </a:r>
            <a:endParaRPr lang="en-US" sz="1700" dirty="0"/>
          </a:p>
        </p:txBody>
      </p:sp>
      <p:sp>
        <p:nvSpPr>
          <p:cNvPr id="27" name="Text 21"/>
          <p:cNvSpPr txBox="1"/>
          <p:nvPr/>
        </p:nvSpPr>
        <p:spPr>
          <a:xfrm>
            <a:off x="6470752"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WHO rule: 200 WBC, extend to 500 if few parasites</a:t>
            </a:r>
            <a:endParaRPr lang="en-US" sz="1400" dirty="0"/>
          </a:p>
        </p:txBody>
      </p:sp>
      <p:sp>
        <p:nvSpPr>
          <p:cNvPr id="28" name="step-card"/>
          <p:cNvSpPr/>
          <p:nvPr/>
        </p:nvSpPr>
        <p:spPr>
          <a:xfrm>
            <a:off x="8079029" y="1828800"/>
            <a:ext cx="1681429" cy="3291840"/>
          </a:xfrm>
          <a:prstGeom prst="roundRect">
            <a:avLst>
              <a:gd name="adj" fmla="val 5438"/>
            </a:avLst>
          </a:prstGeom>
          <a:solidFill>
            <a:schemeClr val="bg1"/>
          </a:solidFill>
          <a:ln w="12700">
            <a:solidFill>
              <a:schemeClr val="accent6"/>
            </a:solidFill>
            <a:prstDash val="solid"/>
          </a:ln>
        </p:spPr>
      </p:sp>
      <p:sp>
        <p:nvSpPr>
          <p:cNvPr id="29" name="icon-bg"/>
          <p:cNvSpPr/>
          <p:nvPr/>
        </p:nvSpPr>
        <p:spPr>
          <a:xfrm>
            <a:off x="8353349" y="2148840"/>
            <a:ext cx="548640" cy="548640"/>
          </a:xfrm>
          <a:prstGeom prst="ellipse">
            <a:avLst/>
          </a:prstGeom>
          <a:solidFill>
            <a:schemeClr val="accent1"/>
          </a:solidFill>
          <a:ln/>
        </p:spPr>
      </p:sp>
      <p:pic>
        <p:nvPicPr>
          <p:cNvPr id="30" name="icon" descr="preencoded.png">    </p:cNvPr>
          <p:cNvPicPr>
            <a:picLocks noChangeAspect="1"/>
          </p:cNvPicPr>
          <p:nvPr/>
        </p:nvPicPr>
        <p:blipFill>
          <a:blip r:embed="rId5"/>
          <a:stretch>
            <a:fillRect/>
          </a:stretch>
        </p:blipFill>
        <p:spPr>
          <a:xfrm>
            <a:off x="8490509" y="2286000"/>
            <a:ext cx="274320" cy="274320"/>
          </a:xfrm>
          <a:prstGeom prst="rect">
            <a:avLst/>
          </a:prstGeom>
        </p:spPr>
      </p:pic>
      <p:sp>
        <p:nvSpPr>
          <p:cNvPr id="31" name="Text 24"/>
          <p:cNvSpPr txBox="1"/>
          <p:nvPr/>
        </p:nvSpPr>
        <p:spPr>
          <a:xfrm>
            <a:off x="9257538"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5</a:t>
            </a:r>
            <a:endParaRPr lang="en-US" sz="1400" dirty="0"/>
          </a:p>
        </p:txBody>
      </p:sp>
      <p:sp>
        <p:nvSpPr>
          <p:cNvPr id="32" name="Text 25"/>
          <p:cNvSpPr txBox="1"/>
          <p:nvPr/>
        </p:nvSpPr>
        <p:spPr>
          <a:xfrm>
            <a:off x="8353349"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Report</a:t>
            </a:r>
            <a:endParaRPr lang="en-US" sz="1700" dirty="0"/>
          </a:p>
        </p:txBody>
      </p:sp>
      <p:sp>
        <p:nvSpPr>
          <p:cNvPr id="33" name="Text 26"/>
          <p:cNvSpPr txBox="1"/>
          <p:nvPr/>
        </p:nvSpPr>
        <p:spPr>
          <a:xfrm>
            <a:off x="8353349"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Muse Spark reviews and writes in Kiswahili or English</a:t>
            </a:r>
            <a:endParaRPr lang="en-US" sz="1400" dirty="0"/>
          </a:p>
        </p:txBody>
      </p:sp>
      <p:sp>
        <p:nvSpPr>
          <p:cNvPr id="34" name="step-card"/>
          <p:cNvSpPr/>
          <p:nvPr/>
        </p:nvSpPr>
        <p:spPr>
          <a:xfrm>
            <a:off x="9961626" y="1828800"/>
            <a:ext cx="1681429" cy="3291840"/>
          </a:xfrm>
          <a:prstGeom prst="roundRect">
            <a:avLst>
              <a:gd name="adj" fmla="val 5438"/>
            </a:avLst>
          </a:prstGeom>
          <a:solidFill>
            <a:schemeClr val="bg1"/>
          </a:solidFill>
          <a:ln w="12700">
            <a:solidFill>
              <a:schemeClr val="accent6"/>
            </a:solidFill>
            <a:prstDash val="solid"/>
          </a:ln>
        </p:spPr>
      </p:sp>
      <p:sp>
        <p:nvSpPr>
          <p:cNvPr id="35" name="icon-bg"/>
          <p:cNvSpPr/>
          <p:nvPr/>
        </p:nvSpPr>
        <p:spPr>
          <a:xfrm>
            <a:off x="10235946" y="2148840"/>
            <a:ext cx="548640" cy="548640"/>
          </a:xfrm>
          <a:prstGeom prst="ellipse">
            <a:avLst/>
          </a:prstGeom>
          <a:solidFill>
            <a:schemeClr val="accent1"/>
          </a:solidFill>
          <a:ln/>
        </p:spPr>
      </p:sp>
      <p:pic>
        <p:nvPicPr>
          <p:cNvPr id="36" name="icon" descr="preencoded.png">    </p:cNvPr>
          <p:cNvPicPr>
            <a:picLocks noChangeAspect="1"/>
          </p:cNvPicPr>
          <p:nvPr/>
        </p:nvPicPr>
        <p:blipFill>
          <a:blip r:embed="rId6"/>
          <a:stretch>
            <a:fillRect/>
          </a:stretch>
        </p:blipFill>
        <p:spPr>
          <a:xfrm>
            <a:off x="10373106" y="2286000"/>
            <a:ext cx="274320" cy="274320"/>
          </a:xfrm>
          <a:prstGeom prst="rect">
            <a:avLst/>
          </a:prstGeom>
        </p:spPr>
      </p:pic>
      <p:sp>
        <p:nvSpPr>
          <p:cNvPr id="37" name="Text 29"/>
          <p:cNvSpPr txBox="1"/>
          <p:nvPr/>
        </p:nvSpPr>
        <p:spPr>
          <a:xfrm>
            <a:off x="11140135" y="2194560"/>
            <a:ext cx="274320" cy="365760"/>
          </a:xfrm>
          <a:prstGeom prst="rect">
            <a:avLst/>
          </a:prstGeom>
          <a:noFill/>
          <a:ln/>
        </p:spPr>
        <p:txBody>
          <a:bodyPr wrap="square" lIns="0" tIns="0" rIns="0" bIns="0" rtlCol="0" anchor="t"/>
          <a:lstStyle/>
          <a:p>
            <a:pPr algn="r" indent="0" marL="0">
              <a:buNone/>
            </a:pPr>
            <a:r>
              <a:rPr lang="en-US" sz="1400" b="1" dirty="0">
                <a:solidFill>
                  <a:schemeClr val="accent5"/>
                </a:solidFill>
              </a:rPr>
              <a:t>6</a:t>
            </a:r>
            <a:endParaRPr lang="en-US" sz="1400" dirty="0"/>
          </a:p>
        </p:txBody>
      </p:sp>
      <p:sp>
        <p:nvSpPr>
          <p:cNvPr id="38" name="Text 30"/>
          <p:cNvSpPr txBox="1"/>
          <p:nvPr/>
        </p:nvSpPr>
        <p:spPr>
          <a:xfrm>
            <a:off x="10235946" y="2926080"/>
            <a:ext cx="1224229" cy="411480"/>
          </a:xfrm>
          <a:prstGeom prst="rect">
            <a:avLst/>
          </a:prstGeom>
          <a:noFill/>
          <a:ln/>
        </p:spPr>
        <p:txBody>
          <a:bodyPr wrap="square" lIns="0" tIns="0" rIns="0" bIns="0" rtlCol="0" anchor="t"/>
          <a:lstStyle/>
          <a:p>
            <a:pPr indent="0" marL="0">
              <a:buNone/>
            </a:pPr>
            <a:r>
              <a:rPr lang="en-US" sz="1700" b="1" dirty="0">
                <a:solidFill>
                  <a:schemeClr val="tx1"/>
                </a:solidFill>
              </a:rPr>
              <a:t>Confirm</a:t>
            </a:r>
            <a:endParaRPr lang="en-US" sz="1700" dirty="0"/>
          </a:p>
        </p:txBody>
      </p:sp>
      <p:sp>
        <p:nvSpPr>
          <p:cNvPr id="39" name="Text 31"/>
          <p:cNvSpPr txBox="1"/>
          <p:nvPr/>
        </p:nvSpPr>
        <p:spPr>
          <a:xfrm>
            <a:off x="10235946" y="3429000"/>
            <a:ext cx="1224229" cy="1463040"/>
          </a:xfrm>
          <a:prstGeom prst="rect">
            <a:avLst/>
          </a:prstGeom>
          <a:noFill/>
          <a:ln/>
        </p:spPr>
        <p:txBody>
          <a:bodyPr wrap="square" lIns="0" tIns="0" rIns="0" bIns="0" rtlCol="0" anchor="t"/>
          <a:lstStyle/>
          <a:p>
            <a:pPr indent="0" marL="0">
              <a:buNone/>
            </a:pPr>
            <a:r>
              <a:rPr lang="en-US" sz="1400" dirty="0">
                <a:solidFill>
                  <a:schemeClr val="accent5"/>
                </a:solidFill>
              </a:rPr>
              <a:t>The microscopist checks flagged fields and signs off</a:t>
            </a:r>
            <a:endParaRPr lang="en-US" sz="1400" dirty="0"/>
          </a:p>
        </p:txBody>
      </p:sp>
      <p:sp>
        <p:nvSpPr>
          <p:cNvPr id="40" name="Text 32"/>
          <p:cNvSpPr txBox="1"/>
          <p:nvPr/>
        </p:nvSpPr>
        <p:spPr>
          <a:xfrm>
            <a:off x="548640" y="5486400"/>
            <a:ext cx="11094415" cy="365760"/>
          </a:xfrm>
          <a:prstGeom prst="rect">
            <a:avLst/>
          </a:prstGeom>
          <a:noFill/>
          <a:ln/>
        </p:spPr>
        <p:txBody>
          <a:bodyPr wrap="square" lIns="0" tIns="0" rIns="0" bIns="0" rtlCol="0" anchor="t"/>
          <a:lstStyle/>
          <a:p>
            <a:pPr indent="0" marL="0">
              <a:buNone/>
            </a:pPr>
            <a:r>
              <a:rPr lang="en-US" sz="1500" i="1" dirty="0">
                <a:solidFill>
                  <a:schemeClr val="accent1"/>
                </a:solidFill>
              </a:rPr>
              <a:t>Numbers come from deterministic code. The language model reviews and narrates; it never changes a count.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DEMO</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Live on a real microscope in Dar es Salaam</a:t>
            </a:r>
            <a:endParaRPr lang="en-US" sz="3200" dirty="0"/>
          </a:p>
        </p:txBody>
      </p:sp>
      <p:sp>
        <p:nvSpPr>
          <p:cNvPr id="4" name="field"/>
          <p:cNvSpPr/>
          <p:nvPr/>
        </p:nvSpPr>
        <p:spPr>
          <a:xfrm>
            <a:off x="731520" y="1691640"/>
            <a:ext cx="4023360" cy="4023360"/>
          </a:xfrm>
          <a:prstGeom prst="ellipse">
            <a:avLst/>
          </a:prstGeom>
          <a:solidFill>
            <a:srgbClr val="FBE7EE"/>
          </a:solidFill>
          <a:ln w="12700">
            <a:solidFill>
              <a:schemeClr val="accent6"/>
            </a:solidFill>
            <a:prstDash val="solid"/>
          </a:ln>
        </p:spPr>
      </p:sp>
      <p:sp>
        <p:nvSpPr>
          <p:cNvPr id="5" name="wbc"/>
          <p:cNvSpPr/>
          <p:nvPr/>
        </p:nvSpPr>
        <p:spPr>
          <a:xfrm>
            <a:off x="1554480" y="2514600"/>
            <a:ext cx="685800" cy="685800"/>
          </a:xfrm>
          <a:prstGeom prst="ellipse">
            <a:avLst/>
          </a:prstGeom>
          <a:solidFill>
            <a:srgbClr val="6D3FA0"/>
          </a:solidFill>
          <a:ln/>
        </p:spPr>
      </p:sp>
      <p:sp>
        <p:nvSpPr>
          <p:cNvPr id="6" name="wbc-box"/>
          <p:cNvSpPr/>
          <p:nvPr/>
        </p:nvSpPr>
        <p:spPr>
          <a:xfrm>
            <a:off x="1444752" y="2404872"/>
            <a:ext cx="905256" cy="905256"/>
          </a:xfrm>
          <a:prstGeom prst="roundRect">
            <a:avLst>
              <a:gd name="adj" fmla="val 8081"/>
            </a:avLst>
          </a:prstGeom>
          <a:solidFill>
            <a:srgbClr val="FFFFFF">
              <a:alpha val="0"/>
            </a:srgbClr>
          </a:solidFill>
          <a:ln w="15875">
            <a:solidFill>
              <a:srgbClr val="64748B"/>
            </a:solidFill>
            <a:prstDash val="dash"/>
          </a:ln>
        </p:spPr>
      </p:sp>
      <p:sp>
        <p:nvSpPr>
          <p:cNvPr id="7" name="wbc"/>
          <p:cNvSpPr/>
          <p:nvPr/>
        </p:nvSpPr>
        <p:spPr>
          <a:xfrm>
            <a:off x="3200400" y="4069080"/>
            <a:ext cx="731520" cy="731520"/>
          </a:xfrm>
          <a:prstGeom prst="ellipse">
            <a:avLst/>
          </a:prstGeom>
          <a:solidFill>
            <a:srgbClr val="6D3FA0"/>
          </a:solidFill>
          <a:ln/>
        </p:spPr>
      </p:sp>
      <p:sp>
        <p:nvSpPr>
          <p:cNvPr id="8" name="wbc-box"/>
          <p:cNvSpPr/>
          <p:nvPr/>
        </p:nvSpPr>
        <p:spPr>
          <a:xfrm>
            <a:off x="3090672" y="3959352"/>
            <a:ext cx="950976" cy="950976"/>
          </a:xfrm>
          <a:prstGeom prst="roundRect">
            <a:avLst>
              <a:gd name="adj" fmla="val 7692"/>
            </a:avLst>
          </a:prstGeom>
          <a:solidFill>
            <a:srgbClr val="FFFFFF">
              <a:alpha val="0"/>
            </a:srgbClr>
          </a:solidFill>
          <a:ln w="15875">
            <a:solidFill>
              <a:srgbClr val="64748B"/>
            </a:solidFill>
            <a:prstDash val="dash"/>
          </a:ln>
        </p:spPr>
      </p:sp>
      <p:sp>
        <p:nvSpPr>
          <p:cNvPr id="9" name="wbc"/>
          <p:cNvSpPr/>
          <p:nvPr/>
        </p:nvSpPr>
        <p:spPr>
          <a:xfrm>
            <a:off x="2103120" y="4526280"/>
            <a:ext cx="594360" cy="594360"/>
          </a:xfrm>
          <a:prstGeom prst="ellipse">
            <a:avLst/>
          </a:prstGeom>
          <a:solidFill>
            <a:srgbClr val="6D3FA0"/>
          </a:solidFill>
          <a:ln/>
        </p:spPr>
      </p:sp>
      <p:sp>
        <p:nvSpPr>
          <p:cNvPr id="10" name="wbc-box"/>
          <p:cNvSpPr/>
          <p:nvPr/>
        </p:nvSpPr>
        <p:spPr>
          <a:xfrm>
            <a:off x="1993392" y="4416552"/>
            <a:ext cx="813816" cy="813816"/>
          </a:xfrm>
          <a:prstGeom prst="roundRect">
            <a:avLst>
              <a:gd name="adj" fmla="val 8989"/>
            </a:avLst>
          </a:prstGeom>
          <a:solidFill>
            <a:srgbClr val="FFFFFF">
              <a:alpha val="0"/>
            </a:srgbClr>
          </a:solidFill>
          <a:ln w="15875">
            <a:solidFill>
              <a:srgbClr val="64748B"/>
            </a:solidFill>
            <a:prstDash val="dash"/>
          </a:ln>
        </p:spPr>
      </p:sp>
      <p:sp>
        <p:nvSpPr>
          <p:cNvPr id="11" name="parasite"/>
          <p:cNvSpPr/>
          <p:nvPr/>
        </p:nvSpPr>
        <p:spPr>
          <a:xfrm>
            <a:off x="2834640" y="2514600"/>
            <a:ext cx="137160" cy="137160"/>
          </a:xfrm>
          <a:prstGeom prst="ellipse">
            <a:avLst/>
          </a:prstGeom>
          <a:solidFill>
            <a:srgbClr val="6D3FA0"/>
          </a:solidFill>
          <a:ln/>
        </p:spPr>
      </p:sp>
      <p:sp>
        <p:nvSpPr>
          <p:cNvPr id="12" name="parasite-box"/>
          <p:cNvSpPr/>
          <p:nvPr/>
        </p:nvSpPr>
        <p:spPr>
          <a:xfrm>
            <a:off x="2724912" y="2404872"/>
            <a:ext cx="356616" cy="356616"/>
          </a:xfrm>
          <a:prstGeom prst="roundRect">
            <a:avLst>
              <a:gd name="adj" fmla="val 15385"/>
            </a:avLst>
          </a:prstGeom>
          <a:solidFill>
            <a:srgbClr val="FFFFFF">
              <a:alpha val="0"/>
            </a:srgbClr>
          </a:solidFill>
          <a:ln w="25400">
            <a:solidFill>
              <a:srgbClr val="2563EB"/>
            </a:solidFill>
            <a:prstDash val="solid"/>
          </a:ln>
        </p:spPr>
      </p:sp>
      <p:sp>
        <p:nvSpPr>
          <p:cNvPr id="13" name="parasite"/>
          <p:cNvSpPr/>
          <p:nvPr/>
        </p:nvSpPr>
        <p:spPr>
          <a:xfrm>
            <a:off x="1920240" y="3703320"/>
            <a:ext cx="137160" cy="137160"/>
          </a:xfrm>
          <a:prstGeom prst="ellipse">
            <a:avLst/>
          </a:prstGeom>
          <a:solidFill>
            <a:srgbClr val="6D3FA0"/>
          </a:solidFill>
          <a:ln/>
        </p:spPr>
      </p:sp>
      <p:sp>
        <p:nvSpPr>
          <p:cNvPr id="14" name="parasite-box"/>
          <p:cNvSpPr/>
          <p:nvPr/>
        </p:nvSpPr>
        <p:spPr>
          <a:xfrm>
            <a:off x="1810512" y="3593592"/>
            <a:ext cx="356616" cy="356616"/>
          </a:xfrm>
          <a:prstGeom prst="roundRect">
            <a:avLst>
              <a:gd name="adj" fmla="val 15385"/>
            </a:avLst>
          </a:prstGeom>
          <a:solidFill>
            <a:srgbClr val="FFFFFF">
              <a:alpha val="0"/>
            </a:srgbClr>
          </a:solidFill>
          <a:ln w="25400">
            <a:solidFill>
              <a:srgbClr val="2563EB"/>
            </a:solidFill>
            <a:prstDash val="solid"/>
          </a:ln>
        </p:spPr>
      </p:sp>
      <p:sp>
        <p:nvSpPr>
          <p:cNvPr id="15" name="parasite"/>
          <p:cNvSpPr/>
          <p:nvPr/>
        </p:nvSpPr>
        <p:spPr>
          <a:xfrm>
            <a:off x="3474720" y="3154680"/>
            <a:ext cx="137160" cy="137160"/>
          </a:xfrm>
          <a:prstGeom prst="ellipse">
            <a:avLst/>
          </a:prstGeom>
          <a:solidFill>
            <a:srgbClr val="6D3FA0"/>
          </a:solidFill>
          <a:ln/>
        </p:spPr>
      </p:sp>
      <p:sp>
        <p:nvSpPr>
          <p:cNvPr id="16" name="parasite-box"/>
          <p:cNvSpPr/>
          <p:nvPr/>
        </p:nvSpPr>
        <p:spPr>
          <a:xfrm>
            <a:off x="3364992" y="3044952"/>
            <a:ext cx="356616" cy="356616"/>
          </a:xfrm>
          <a:prstGeom prst="roundRect">
            <a:avLst>
              <a:gd name="adj" fmla="val 15385"/>
            </a:avLst>
          </a:prstGeom>
          <a:solidFill>
            <a:srgbClr val="FFFFFF">
              <a:alpha val="0"/>
            </a:srgbClr>
          </a:solidFill>
          <a:ln w="25400">
            <a:solidFill>
              <a:srgbClr val="2563EB"/>
            </a:solidFill>
            <a:prstDash val="solid"/>
          </a:ln>
        </p:spPr>
      </p:sp>
      <p:sp>
        <p:nvSpPr>
          <p:cNvPr id="17" name="parasite"/>
          <p:cNvSpPr/>
          <p:nvPr/>
        </p:nvSpPr>
        <p:spPr>
          <a:xfrm>
            <a:off x="1417320" y="4023360"/>
            <a:ext cx="137160" cy="137160"/>
          </a:xfrm>
          <a:prstGeom prst="ellipse">
            <a:avLst/>
          </a:prstGeom>
          <a:solidFill>
            <a:srgbClr val="6D3FA0"/>
          </a:solidFill>
          <a:ln/>
        </p:spPr>
      </p:sp>
      <p:sp>
        <p:nvSpPr>
          <p:cNvPr id="18" name="parasite-box"/>
          <p:cNvSpPr/>
          <p:nvPr/>
        </p:nvSpPr>
        <p:spPr>
          <a:xfrm>
            <a:off x="1307592" y="3913632"/>
            <a:ext cx="356616" cy="356616"/>
          </a:xfrm>
          <a:prstGeom prst="roundRect">
            <a:avLst>
              <a:gd name="adj" fmla="val 15385"/>
            </a:avLst>
          </a:prstGeom>
          <a:solidFill>
            <a:srgbClr val="FFFFFF">
              <a:alpha val="0"/>
            </a:srgbClr>
          </a:solidFill>
          <a:ln w="25400">
            <a:solidFill>
              <a:srgbClr val="2563EB"/>
            </a:solidFill>
            <a:prstDash val="solid"/>
          </a:ln>
        </p:spPr>
      </p:sp>
      <p:sp>
        <p:nvSpPr>
          <p:cNvPr id="19" name="parasite"/>
          <p:cNvSpPr/>
          <p:nvPr/>
        </p:nvSpPr>
        <p:spPr>
          <a:xfrm>
            <a:off x="3794760" y="2651760"/>
            <a:ext cx="137160" cy="137160"/>
          </a:xfrm>
          <a:prstGeom prst="ellipse">
            <a:avLst/>
          </a:prstGeom>
          <a:solidFill>
            <a:srgbClr val="6D3FA0"/>
          </a:solidFill>
          <a:ln/>
        </p:spPr>
      </p:sp>
      <p:sp>
        <p:nvSpPr>
          <p:cNvPr id="20" name="parasite-box"/>
          <p:cNvSpPr/>
          <p:nvPr/>
        </p:nvSpPr>
        <p:spPr>
          <a:xfrm>
            <a:off x="3685032" y="2542032"/>
            <a:ext cx="356616" cy="356616"/>
          </a:xfrm>
          <a:prstGeom prst="roundRect">
            <a:avLst>
              <a:gd name="adj" fmla="val 15385"/>
            </a:avLst>
          </a:prstGeom>
          <a:solidFill>
            <a:srgbClr val="FFFFFF">
              <a:alpha val="0"/>
            </a:srgbClr>
          </a:solidFill>
          <a:ln w="25400">
            <a:solidFill>
              <a:srgbClr val="2563EB"/>
            </a:solidFill>
            <a:prstDash val="solid"/>
          </a:ln>
        </p:spPr>
      </p:sp>
      <p:sp>
        <p:nvSpPr>
          <p:cNvPr id="21" name="Text 19"/>
          <p:cNvSpPr txBox="1"/>
          <p:nvPr/>
        </p:nvSpPr>
        <p:spPr>
          <a:xfrm>
            <a:off x="731520" y="5824728"/>
            <a:ext cx="4023360" cy="274320"/>
          </a:xfrm>
          <a:prstGeom prst="rect">
            <a:avLst/>
          </a:prstGeom>
          <a:noFill/>
          <a:ln/>
        </p:spPr>
        <p:txBody>
          <a:bodyPr wrap="square" lIns="0" tIns="0" rIns="0" bIns="0" rtlCol="0" anchor="t"/>
          <a:lstStyle/>
          <a:p>
            <a:pPr algn="ctr" indent="0" marL="0">
              <a:buNone/>
            </a:pPr>
            <a:r>
              <a:rPr lang="en-US" sz="1000" dirty="0">
                <a:solidFill>
                  <a:schemeClr val="accent5"/>
                </a:solidFill>
              </a:rPr>
              <a:t>Illustration. Blue: parasites. Dashed: white blood cells.</a:t>
            </a:r>
            <a:endParaRPr lang="en-US" sz="1000" dirty="0"/>
          </a:p>
        </p:txBody>
      </p:sp>
      <p:sp>
        <p:nvSpPr>
          <p:cNvPr id="22" name="tally"/>
          <p:cNvSpPr/>
          <p:nvPr/>
        </p:nvSpPr>
        <p:spPr>
          <a:xfrm>
            <a:off x="5257800" y="1691640"/>
            <a:ext cx="1965960" cy="1234440"/>
          </a:xfrm>
          <a:prstGeom prst="roundRect">
            <a:avLst>
              <a:gd name="adj" fmla="val 7407"/>
            </a:avLst>
          </a:prstGeom>
          <a:solidFill>
            <a:schemeClr val="bg2"/>
          </a:solidFill>
          <a:ln w="12700">
            <a:solidFill>
              <a:schemeClr val="bg2"/>
            </a:solidFill>
            <a:prstDash val="solid"/>
          </a:ln>
        </p:spPr>
      </p:sp>
      <p:sp>
        <p:nvSpPr>
          <p:cNvPr id="23" name="Text 21"/>
          <p:cNvSpPr txBox="1"/>
          <p:nvPr/>
        </p:nvSpPr>
        <p:spPr>
          <a:xfrm>
            <a:off x="5486400" y="1828800"/>
            <a:ext cx="1645920" cy="548640"/>
          </a:xfrm>
          <a:prstGeom prst="rect">
            <a:avLst/>
          </a:prstGeom>
          <a:noFill/>
          <a:ln/>
        </p:spPr>
        <p:txBody>
          <a:bodyPr wrap="square" lIns="0" tIns="0" rIns="0" bIns="0" rtlCol="0" anchor="t"/>
          <a:lstStyle/>
          <a:p>
            <a:pPr indent="0" marL="0">
              <a:buNone/>
            </a:pPr>
            <a:r>
              <a:rPr lang="en-US" sz="2800" b="1" dirty="0">
                <a:solidFill>
                  <a:schemeClr val="tx1"/>
                </a:solidFill>
              </a:rPr>
              <a:t>31</a:t>
            </a:r>
            <a:endParaRPr lang="en-US" sz="2800" dirty="0"/>
          </a:p>
        </p:txBody>
      </p:sp>
      <p:sp>
        <p:nvSpPr>
          <p:cNvPr id="24" name="Text 22"/>
          <p:cNvSpPr txBox="1"/>
          <p:nvPr/>
        </p:nvSpPr>
        <p:spPr>
          <a:xfrm>
            <a:off x="5486400" y="2395728"/>
            <a:ext cx="1645920" cy="365760"/>
          </a:xfrm>
          <a:prstGeom prst="rect">
            <a:avLst/>
          </a:prstGeom>
          <a:noFill/>
          <a:ln/>
        </p:spPr>
        <p:txBody>
          <a:bodyPr wrap="square" lIns="0" tIns="0" rIns="0" bIns="0" rtlCol="0" anchor="t"/>
          <a:lstStyle/>
          <a:p>
            <a:pPr indent="0" marL="0">
              <a:buNone/>
            </a:pPr>
            <a:r>
              <a:rPr lang="en-US" sz="1200" dirty="0">
                <a:solidFill>
                  <a:schemeClr val="accent5"/>
                </a:solidFill>
              </a:rPr>
              <a:t>parasites</a:t>
            </a:r>
            <a:endParaRPr lang="en-US" sz="1200" dirty="0"/>
          </a:p>
        </p:txBody>
      </p:sp>
      <p:sp>
        <p:nvSpPr>
          <p:cNvPr id="25" name="tally"/>
          <p:cNvSpPr/>
          <p:nvPr/>
        </p:nvSpPr>
        <p:spPr>
          <a:xfrm>
            <a:off x="7406640" y="1691640"/>
            <a:ext cx="1965960" cy="1234440"/>
          </a:xfrm>
          <a:prstGeom prst="roundRect">
            <a:avLst>
              <a:gd name="adj" fmla="val 7407"/>
            </a:avLst>
          </a:prstGeom>
          <a:solidFill>
            <a:schemeClr val="bg2"/>
          </a:solidFill>
          <a:ln w="12700">
            <a:solidFill>
              <a:schemeClr val="bg2"/>
            </a:solidFill>
            <a:prstDash val="solid"/>
          </a:ln>
        </p:spPr>
      </p:sp>
      <p:sp>
        <p:nvSpPr>
          <p:cNvPr id="26" name="Text 24"/>
          <p:cNvSpPr txBox="1"/>
          <p:nvPr/>
        </p:nvSpPr>
        <p:spPr>
          <a:xfrm>
            <a:off x="7635240" y="1828800"/>
            <a:ext cx="1645920" cy="548640"/>
          </a:xfrm>
          <a:prstGeom prst="rect">
            <a:avLst/>
          </a:prstGeom>
          <a:noFill/>
          <a:ln/>
        </p:spPr>
        <p:txBody>
          <a:bodyPr wrap="square" lIns="0" tIns="0" rIns="0" bIns="0" rtlCol="0" anchor="t"/>
          <a:lstStyle/>
          <a:p>
            <a:pPr indent="0" marL="0">
              <a:buNone/>
            </a:pPr>
            <a:r>
              <a:rPr lang="en-US" sz="2800" b="1" dirty="0">
                <a:solidFill>
                  <a:schemeClr val="tx1"/>
                </a:solidFill>
              </a:rPr>
              <a:t>206</a:t>
            </a:r>
            <a:endParaRPr lang="en-US" sz="2800" dirty="0"/>
          </a:p>
        </p:txBody>
      </p:sp>
      <p:sp>
        <p:nvSpPr>
          <p:cNvPr id="27" name="Text 25"/>
          <p:cNvSpPr txBox="1"/>
          <p:nvPr/>
        </p:nvSpPr>
        <p:spPr>
          <a:xfrm>
            <a:off x="7635240" y="2395728"/>
            <a:ext cx="1645920" cy="365760"/>
          </a:xfrm>
          <a:prstGeom prst="rect">
            <a:avLst/>
          </a:prstGeom>
          <a:noFill/>
          <a:ln/>
        </p:spPr>
        <p:txBody>
          <a:bodyPr wrap="square" lIns="0" tIns="0" rIns="0" bIns="0" rtlCol="0" anchor="t"/>
          <a:lstStyle/>
          <a:p>
            <a:pPr indent="0" marL="0">
              <a:buNone/>
            </a:pPr>
            <a:r>
              <a:rPr lang="en-US" sz="1200" dirty="0">
                <a:solidFill>
                  <a:schemeClr val="accent5"/>
                </a:solidFill>
              </a:rPr>
              <a:t>white blood cells</a:t>
            </a:r>
            <a:endParaRPr lang="en-US" sz="1200" dirty="0"/>
          </a:p>
        </p:txBody>
      </p:sp>
      <p:sp>
        <p:nvSpPr>
          <p:cNvPr id="28" name="tally"/>
          <p:cNvSpPr/>
          <p:nvPr/>
        </p:nvSpPr>
        <p:spPr>
          <a:xfrm>
            <a:off x="9555480" y="1691640"/>
            <a:ext cx="1965960" cy="1234440"/>
          </a:xfrm>
          <a:prstGeom prst="roundRect">
            <a:avLst>
              <a:gd name="adj" fmla="val 7407"/>
            </a:avLst>
          </a:prstGeom>
          <a:solidFill>
            <a:schemeClr val="bg2"/>
          </a:solidFill>
          <a:ln w="12700">
            <a:solidFill>
              <a:schemeClr val="bg2"/>
            </a:solidFill>
            <a:prstDash val="solid"/>
          </a:ln>
        </p:spPr>
      </p:sp>
      <p:sp>
        <p:nvSpPr>
          <p:cNvPr id="29" name="Text 27"/>
          <p:cNvSpPr txBox="1"/>
          <p:nvPr/>
        </p:nvSpPr>
        <p:spPr>
          <a:xfrm>
            <a:off x="9784080" y="1828800"/>
            <a:ext cx="1645920" cy="548640"/>
          </a:xfrm>
          <a:prstGeom prst="rect">
            <a:avLst/>
          </a:prstGeom>
          <a:noFill/>
          <a:ln/>
        </p:spPr>
        <p:txBody>
          <a:bodyPr wrap="square" lIns="0" tIns="0" rIns="0" bIns="0" rtlCol="0" anchor="t"/>
          <a:lstStyle/>
          <a:p>
            <a:pPr indent="0" marL="0">
              <a:buNone/>
            </a:pPr>
            <a:r>
              <a:rPr lang="en-US" sz="2800" b="1" dirty="0">
                <a:solidFill>
                  <a:schemeClr val="accent1"/>
                </a:solidFill>
              </a:rPr>
              <a:t>1,204</a:t>
            </a:r>
            <a:endParaRPr lang="en-US" sz="2800" dirty="0"/>
          </a:p>
        </p:txBody>
      </p:sp>
      <p:sp>
        <p:nvSpPr>
          <p:cNvPr id="30" name="Text 28"/>
          <p:cNvSpPr txBox="1"/>
          <p:nvPr/>
        </p:nvSpPr>
        <p:spPr>
          <a:xfrm>
            <a:off x="9784080" y="2395728"/>
            <a:ext cx="1645920" cy="365760"/>
          </a:xfrm>
          <a:prstGeom prst="rect">
            <a:avLst/>
          </a:prstGeom>
          <a:noFill/>
          <a:ln/>
        </p:spPr>
        <p:txBody>
          <a:bodyPr wrap="square" lIns="0" tIns="0" rIns="0" bIns="0" rtlCol="0" anchor="t"/>
          <a:lstStyle/>
          <a:p>
            <a:pPr indent="0" marL="0">
              <a:buNone/>
            </a:pPr>
            <a:r>
              <a:rPr lang="en-US" sz="1200" dirty="0">
                <a:solidFill>
                  <a:schemeClr val="accent5"/>
                </a:solidFill>
              </a:rPr>
              <a:t>parasites per µL</a:t>
            </a:r>
            <a:endParaRPr lang="en-US" sz="1200" dirty="0"/>
          </a:p>
        </p:txBody>
      </p:sp>
      <p:sp>
        <p:nvSpPr>
          <p:cNvPr id="31" name="Text 29"/>
          <p:cNvSpPr txBox="1"/>
          <p:nvPr/>
        </p:nvSpPr>
        <p:spPr>
          <a:xfrm>
            <a:off x="5257800" y="3017520"/>
            <a:ext cx="6309360" cy="274320"/>
          </a:xfrm>
          <a:prstGeom prst="rect">
            <a:avLst/>
          </a:prstGeom>
          <a:noFill/>
          <a:ln/>
        </p:spPr>
        <p:txBody>
          <a:bodyPr wrap="square" lIns="0" tIns="0" rIns="0" bIns="0" rtlCol="0" anchor="t"/>
          <a:lstStyle/>
          <a:p>
            <a:pPr indent="0" marL="0">
              <a:buNone/>
            </a:pPr>
            <a:r>
              <a:rPr lang="en-US" sz="1100" dirty="0">
                <a:solidFill>
                  <a:schemeClr val="accent5"/>
                </a:solidFill>
              </a:rPr>
              <a:t>31 × 8,000 ÷ 206 ≈ 1,204 parasites/µL (assumed 8,000 WBC/µL)</a:t>
            </a:r>
            <a:endParaRPr lang="en-US" sz="1100" dirty="0"/>
          </a:p>
        </p:txBody>
      </p:sp>
      <p:sp>
        <p:nvSpPr>
          <p:cNvPr id="32" name="Text 30"/>
          <p:cNvSpPr txBox="1"/>
          <p:nvPr/>
        </p:nvSpPr>
        <p:spPr>
          <a:xfrm>
            <a:off x="5257800" y="3520440"/>
            <a:ext cx="630936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blurry field is rejected and the app asks for another</a:t>
            </a:r>
            <a:endParaRPr lang="en-US" sz="1600" dirty="0"/>
          </a:p>
          <a:p>
            <a:pPr marL="342900" indent="-342900">
              <a:spcAft>
                <a:spcPts val="1000"/>
              </a:spcAft>
              <a:buSzPct val="100000"/>
              <a:buChar char="•"/>
            </a:pPr>
            <a:r>
              <a:rPr lang="en-US" sz="1600" dirty="0">
                <a:solidFill>
                  <a:schemeClr val="tx1"/>
                </a:solidFill>
              </a:rPr>
              <a:t>SAM 3 masks appear over parasites; the count climbs field by field</a:t>
            </a:r>
            <a:endParaRPr lang="en-US" sz="1600" dirty="0"/>
          </a:p>
          <a:p>
            <a:pPr marL="342900" indent="-342900">
              <a:spcAft>
                <a:spcPts val="1000"/>
              </a:spcAft>
              <a:buSzPct val="100000"/>
              <a:buChar char="•"/>
            </a:pPr>
            <a:r>
              <a:rPr lang="en-US" sz="1600" dirty="0">
                <a:solidFill>
                  <a:schemeClr val="tx1"/>
                </a:solidFill>
              </a:rPr>
              <a:t>The stopping rule fires at 200 white blood cells</a:t>
            </a:r>
            <a:endParaRPr lang="en-US" sz="1600" dirty="0"/>
          </a:p>
          <a:p>
            <a:pPr marL="342900" indent="-342900">
              <a:spcAft>
                <a:spcPts val="1000"/>
              </a:spcAft>
              <a:buSzPct val="100000"/>
              <a:buChar char="•"/>
            </a:pPr>
            <a:r>
              <a:rPr lang="en-US" sz="1600" dirty="0">
                <a:solidFill>
                  <a:schemeClr val="tx1"/>
                </a:solidFill>
              </a:rPr>
              <a:t>The report prints in Kiswahili, beside a microscopist's manual count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USE OF META AI TOOLING</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Going well past a single API call</a:t>
            </a:r>
            <a:endParaRPr lang="en-US" sz="3200" dirty="0"/>
          </a:p>
        </p:txBody>
      </p:sp>
      <p:sp>
        <p:nvSpPr>
          <p:cNvPr id="4" name="tool-card"/>
          <p:cNvSpPr/>
          <p:nvPr/>
        </p:nvSpPr>
        <p:spPr>
          <a:xfrm>
            <a:off x="548640" y="1783080"/>
            <a:ext cx="5422392" cy="1920240"/>
          </a:xfrm>
          <a:prstGeom prst="roundRect">
            <a:avLst>
              <a:gd name="adj" fmla="val 4762"/>
            </a:avLst>
          </a:prstGeom>
          <a:solidFill>
            <a:schemeClr val="bg1"/>
          </a:solidFill>
          <a:ln w="12700">
            <a:solidFill>
              <a:schemeClr val="accent6"/>
            </a:solidFill>
            <a:prstDash val="solid"/>
          </a:ln>
        </p:spPr>
      </p:sp>
      <p:sp>
        <p:nvSpPr>
          <p:cNvPr id="5" name="icon-bg"/>
          <p:cNvSpPr/>
          <p:nvPr/>
        </p:nvSpPr>
        <p:spPr>
          <a:xfrm>
            <a:off x="868680" y="2103120"/>
            <a:ext cx="566928" cy="566928"/>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1010412" y="2244852"/>
            <a:ext cx="283464" cy="283464"/>
          </a:xfrm>
          <a:prstGeom prst="rect">
            <a:avLst/>
          </a:prstGeom>
        </p:spPr>
      </p:pic>
      <p:sp>
        <p:nvSpPr>
          <p:cNvPr id="7" name="Text 4"/>
          <p:cNvSpPr txBox="1"/>
          <p:nvPr/>
        </p:nvSpPr>
        <p:spPr>
          <a:xfrm>
            <a:off x="1645920" y="2103120"/>
            <a:ext cx="4050792" cy="411480"/>
          </a:xfrm>
          <a:prstGeom prst="rect">
            <a:avLst/>
          </a:prstGeom>
          <a:noFill/>
          <a:ln/>
        </p:spPr>
        <p:txBody>
          <a:bodyPr wrap="square" lIns="0" tIns="0" rIns="0" bIns="0" rtlCol="0" anchor="t"/>
          <a:lstStyle/>
          <a:p>
            <a:pPr indent="0" marL="0">
              <a:buNone/>
            </a:pPr>
            <a:r>
              <a:rPr lang="en-US" sz="1900" b="1" dirty="0">
                <a:solidFill>
                  <a:schemeClr val="tx1"/>
                </a:solidFill>
              </a:rPr>
              <a:t>SAM 3</a:t>
            </a:r>
            <a:endParaRPr lang="en-US" sz="1900" dirty="0"/>
          </a:p>
        </p:txBody>
      </p:sp>
      <p:sp>
        <p:nvSpPr>
          <p:cNvPr id="8" name="Text 5"/>
          <p:cNvSpPr txBox="1"/>
          <p:nvPr/>
        </p:nvSpPr>
        <p:spPr>
          <a:xfrm>
            <a:off x="1645920" y="256032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Exemplar prompts from 3 to 5 confirmed parasites adapt it to each lab's stain, no retraining. Video tracking stops one parasite being counted twice.</a:t>
            </a:r>
            <a:endParaRPr lang="en-US" sz="1400" dirty="0"/>
          </a:p>
        </p:txBody>
      </p:sp>
      <p:sp>
        <p:nvSpPr>
          <p:cNvPr id="9" name="tool-card"/>
          <p:cNvSpPr/>
          <p:nvPr/>
        </p:nvSpPr>
        <p:spPr>
          <a:xfrm>
            <a:off x="6153912" y="1783080"/>
            <a:ext cx="5422392" cy="1920240"/>
          </a:xfrm>
          <a:prstGeom prst="roundRect">
            <a:avLst>
              <a:gd name="adj" fmla="val 4762"/>
            </a:avLst>
          </a:prstGeom>
          <a:solidFill>
            <a:schemeClr val="bg1"/>
          </a:solidFill>
          <a:ln w="12700">
            <a:solidFill>
              <a:schemeClr val="accent6"/>
            </a:solidFill>
            <a:prstDash val="solid"/>
          </a:ln>
        </p:spPr>
      </p:sp>
      <p:sp>
        <p:nvSpPr>
          <p:cNvPr id="10" name="icon-bg"/>
          <p:cNvSpPr/>
          <p:nvPr/>
        </p:nvSpPr>
        <p:spPr>
          <a:xfrm>
            <a:off x="6473952" y="2103120"/>
            <a:ext cx="566928" cy="566928"/>
          </a:xfrm>
          <a:prstGeom prst="ellipse">
            <a:avLst/>
          </a:prstGeom>
          <a:solidFill>
            <a:schemeClr val="accent2"/>
          </a:solidFill>
          <a:ln/>
        </p:spPr>
      </p:sp>
      <p:pic>
        <p:nvPicPr>
          <p:cNvPr id="11" name="icon" descr="preencoded.png">    </p:cNvPr>
          <p:cNvPicPr>
            <a:picLocks noChangeAspect="1"/>
          </p:cNvPicPr>
          <p:nvPr/>
        </p:nvPicPr>
        <p:blipFill>
          <a:blip r:embed="rId2"/>
          <a:stretch>
            <a:fillRect/>
          </a:stretch>
        </p:blipFill>
        <p:spPr>
          <a:xfrm>
            <a:off x="6615684" y="2244852"/>
            <a:ext cx="283464" cy="283464"/>
          </a:xfrm>
          <a:prstGeom prst="rect">
            <a:avLst/>
          </a:prstGeom>
        </p:spPr>
      </p:pic>
      <p:sp>
        <p:nvSpPr>
          <p:cNvPr id="12" name="Text 8"/>
          <p:cNvSpPr txBox="1"/>
          <p:nvPr/>
        </p:nvSpPr>
        <p:spPr>
          <a:xfrm>
            <a:off x="7251192" y="2103120"/>
            <a:ext cx="4050792" cy="411480"/>
          </a:xfrm>
          <a:prstGeom prst="rect">
            <a:avLst/>
          </a:prstGeom>
          <a:noFill/>
          <a:ln/>
        </p:spPr>
        <p:txBody>
          <a:bodyPr wrap="square" lIns="0" tIns="0" rIns="0" bIns="0" rtlCol="0" anchor="t"/>
          <a:lstStyle/>
          <a:p>
            <a:pPr indent="0" marL="0">
              <a:buNone/>
            </a:pPr>
            <a:r>
              <a:rPr lang="en-US" sz="1900" b="1" dirty="0">
                <a:solidFill>
                  <a:schemeClr val="tx1"/>
                </a:solidFill>
              </a:rPr>
              <a:t>Muse Spark</a:t>
            </a:r>
            <a:endParaRPr lang="en-US" sz="1900" dirty="0"/>
          </a:p>
        </p:txBody>
      </p:sp>
      <p:sp>
        <p:nvSpPr>
          <p:cNvPr id="13" name="Text 9"/>
          <p:cNvSpPr txBox="1"/>
          <p:nvPr/>
        </p:nvSpPr>
        <p:spPr>
          <a:xfrm>
            <a:off x="7251192" y="256032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A tool-calling agent that drives the count, decides when the stopping rule is met, reviews field quality and writes the bilingual report.</a:t>
            </a:r>
            <a:endParaRPr lang="en-US" sz="1400" dirty="0"/>
          </a:p>
        </p:txBody>
      </p:sp>
      <p:sp>
        <p:nvSpPr>
          <p:cNvPr id="14" name="tool-card"/>
          <p:cNvSpPr/>
          <p:nvPr/>
        </p:nvSpPr>
        <p:spPr>
          <a:xfrm>
            <a:off x="548640" y="3931920"/>
            <a:ext cx="5422392" cy="1920240"/>
          </a:xfrm>
          <a:prstGeom prst="roundRect">
            <a:avLst>
              <a:gd name="adj" fmla="val 4762"/>
            </a:avLst>
          </a:prstGeom>
          <a:solidFill>
            <a:schemeClr val="bg1"/>
          </a:solidFill>
          <a:ln w="12700">
            <a:solidFill>
              <a:schemeClr val="accent6"/>
            </a:solidFill>
            <a:prstDash val="solid"/>
          </a:ln>
        </p:spPr>
      </p:sp>
      <p:sp>
        <p:nvSpPr>
          <p:cNvPr id="15" name="icon-bg"/>
          <p:cNvSpPr/>
          <p:nvPr/>
        </p:nvSpPr>
        <p:spPr>
          <a:xfrm>
            <a:off x="868680" y="4251960"/>
            <a:ext cx="566928" cy="566928"/>
          </a:xfrm>
          <a:prstGeom prst="ellipse">
            <a:avLst/>
          </a:prstGeom>
          <a:solidFill>
            <a:schemeClr val="tx2"/>
          </a:solidFill>
          <a:ln/>
        </p:spPr>
      </p:sp>
      <p:pic>
        <p:nvPicPr>
          <p:cNvPr id="16" name="icon" descr="preencoded.png">    </p:cNvPr>
          <p:cNvPicPr>
            <a:picLocks noChangeAspect="1"/>
          </p:cNvPicPr>
          <p:nvPr/>
        </p:nvPicPr>
        <p:blipFill>
          <a:blip r:embed="rId3"/>
          <a:stretch>
            <a:fillRect/>
          </a:stretch>
        </p:blipFill>
        <p:spPr>
          <a:xfrm>
            <a:off x="1010412" y="4393692"/>
            <a:ext cx="283464" cy="283464"/>
          </a:xfrm>
          <a:prstGeom prst="rect">
            <a:avLst/>
          </a:prstGeom>
        </p:spPr>
      </p:pic>
      <p:sp>
        <p:nvSpPr>
          <p:cNvPr id="17" name="Text 12"/>
          <p:cNvSpPr txBox="1"/>
          <p:nvPr/>
        </p:nvSpPr>
        <p:spPr>
          <a:xfrm>
            <a:off x="1645920" y="4251960"/>
            <a:ext cx="4050792" cy="411480"/>
          </a:xfrm>
          <a:prstGeom prst="rect">
            <a:avLst/>
          </a:prstGeom>
          <a:noFill/>
          <a:ln/>
        </p:spPr>
        <p:txBody>
          <a:bodyPr wrap="square" lIns="0" tIns="0" rIns="0" bIns="0" rtlCol="0" anchor="t"/>
          <a:lstStyle/>
          <a:p>
            <a:pPr indent="0" marL="0">
              <a:buNone/>
            </a:pPr>
            <a:r>
              <a:rPr lang="en-US" sz="1900" b="1" dirty="0">
                <a:solidFill>
                  <a:schemeClr val="tx1"/>
                </a:solidFill>
              </a:rPr>
              <a:t>Open-weights models</a:t>
            </a:r>
            <a:endParaRPr lang="en-US" sz="1900" dirty="0"/>
          </a:p>
        </p:txBody>
      </p:sp>
      <p:sp>
        <p:nvSpPr>
          <p:cNvPr id="18" name="Text 13"/>
          <p:cNvSpPr txBox="1"/>
          <p:nvPr/>
        </p:nvSpPr>
        <p:spPr>
          <a:xfrm>
            <a:off x="1645920" y="470916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Draft Kiswahili reports offline through partner inference: the path to clinics with unreliable internet.</a:t>
            </a:r>
            <a:endParaRPr lang="en-US" sz="1400" dirty="0"/>
          </a:p>
        </p:txBody>
      </p:sp>
      <p:sp>
        <p:nvSpPr>
          <p:cNvPr id="19" name="tool-card"/>
          <p:cNvSpPr/>
          <p:nvPr/>
        </p:nvSpPr>
        <p:spPr>
          <a:xfrm>
            <a:off x="6153912" y="3931920"/>
            <a:ext cx="5422392" cy="1920240"/>
          </a:xfrm>
          <a:prstGeom prst="roundRect">
            <a:avLst>
              <a:gd name="adj" fmla="val 4762"/>
            </a:avLst>
          </a:prstGeom>
          <a:solidFill>
            <a:schemeClr val="bg1"/>
          </a:solidFill>
          <a:ln w="12700">
            <a:solidFill>
              <a:schemeClr val="accent6"/>
            </a:solidFill>
            <a:prstDash val="solid"/>
          </a:ln>
        </p:spPr>
      </p:sp>
      <p:sp>
        <p:nvSpPr>
          <p:cNvPr id="20" name="icon-bg"/>
          <p:cNvSpPr/>
          <p:nvPr/>
        </p:nvSpPr>
        <p:spPr>
          <a:xfrm>
            <a:off x="6473952" y="4251960"/>
            <a:ext cx="566928" cy="566928"/>
          </a:xfrm>
          <a:prstGeom prst="ellipse">
            <a:avLst/>
          </a:prstGeom>
          <a:solidFill>
            <a:schemeClr val="tx2"/>
          </a:solidFill>
          <a:ln/>
        </p:spPr>
      </p:sp>
      <p:pic>
        <p:nvPicPr>
          <p:cNvPr id="21" name="icon" descr="preencoded.png">    </p:cNvPr>
          <p:cNvPicPr>
            <a:picLocks noChangeAspect="1"/>
          </p:cNvPicPr>
          <p:nvPr/>
        </p:nvPicPr>
        <p:blipFill>
          <a:blip r:embed="rId4"/>
          <a:stretch>
            <a:fillRect/>
          </a:stretch>
        </p:blipFill>
        <p:spPr>
          <a:xfrm>
            <a:off x="6615684" y="4393692"/>
            <a:ext cx="283464" cy="283464"/>
          </a:xfrm>
          <a:prstGeom prst="rect">
            <a:avLst/>
          </a:prstGeom>
        </p:spPr>
      </p:pic>
      <p:sp>
        <p:nvSpPr>
          <p:cNvPr id="22" name="Text 16"/>
          <p:cNvSpPr txBox="1"/>
          <p:nvPr/>
        </p:nvSpPr>
        <p:spPr>
          <a:xfrm>
            <a:off x="7251192" y="4251960"/>
            <a:ext cx="4050792" cy="411480"/>
          </a:xfrm>
          <a:prstGeom prst="rect">
            <a:avLst/>
          </a:prstGeom>
          <a:noFill/>
          <a:ln/>
        </p:spPr>
        <p:txBody>
          <a:bodyPr wrap="square" lIns="0" tIns="0" rIns="0" bIns="0" rtlCol="0" anchor="t"/>
          <a:lstStyle/>
          <a:p>
            <a:pPr indent="0" marL="0">
              <a:buNone/>
            </a:pPr>
            <a:r>
              <a:rPr lang="en-US" sz="1900" b="1" dirty="0">
                <a:solidFill>
                  <a:schemeClr val="tx1"/>
                </a:solidFill>
              </a:rPr>
              <a:t>Muse Code</a:t>
            </a:r>
            <a:endParaRPr lang="en-US" sz="1900" dirty="0"/>
          </a:p>
        </p:txBody>
      </p:sp>
      <p:sp>
        <p:nvSpPr>
          <p:cNvPr id="23" name="Text 17"/>
          <p:cNvSpPr txBox="1"/>
          <p:nvPr/>
        </p:nvSpPr>
        <p:spPr>
          <a:xfrm>
            <a:off x="7251192" y="4709160"/>
            <a:ext cx="4050792" cy="1051560"/>
          </a:xfrm>
          <a:prstGeom prst="rect">
            <a:avLst/>
          </a:prstGeom>
          <a:noFill/>
          <a:ln/>
        </p:spPr>
        <p:txBody>
          <a:bodyPr wrap="square" lIns="0" tIns="0" rIns="0" bIns="0" rtlCol="0" anchor="t"/>
          <a:lstStyle/>
          <a:p>
            <a:pPr indent="0" marL="0">
              <a:buNone/>
            </a:pPr>
            <a:r>
              <a:rPr lang="en-US" sz="1400" dirty="0">
                <a:solidFill>
                  <a:schemeClr val="accent5"/>
                </a:solidFill>
              </a:rPr>
              <a:t>Build partner for test scaffolds and evaluation scripts.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DATA</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Tuned abroad, tested on Tanzanian slides it never saw</a:t>
            </a:r>
            <a:endParaRPr lang="en-US" sz="3200" dirty="0"/>
          </a:p>
        </p:txBody>
      </p:sp>
      <p:graphicFrame>
        <p:nvGraphicFramePr>
          <p:cNvPr id="7" name="datasets"/>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514600"/>
                <a:gridCol w="2057400"/>
                <a:gridCol w="2697480"/>
                <a:gridCol w="1234440"/>
                <a:gridCol w="2587752"/>
              </a:tblGrid>
              <a:tr h="502920">
                <a:tc>
                  <a:txBody>
                    <a:bodyPr/>
                    <a:lstStyle/>
                    <a:p>
                      <a:pPr indent="0" marL="0">
                        <a:buNone/>
                      </a:pPr>
                      <a:r>
                        <a:rPr lang="en-US" sz="1200" b="1" dirty="0">
                          <a:solidFill>
                            <a:schemeClr val="accent5"/>
                          </a:solidFill>
                        </a:rPr>
                        <a:t>Dataset</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Origin</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Labels</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Size</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Role</a:t>
                      </a:r>
                      <a:endParaRPr lang="en-US" sz="12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r>
              <a:tr h="502920">
                <a:tc>
                  <a:txBody>
                    <a:bodyPr/>
                    <a:lstStyle/>
                    <a:p>
                      <a:pPr indent="0" marL="0">
                        <a:buNone/>
                      </a:pPr>
                      <a:r>
                        <a:rPr lang="en-US" sz="1400" dirty="0">
                          <a:solidFill>
                            <a:schemeClr val="tx1"/>
                          </a:solidFill>
                        </a:rPr>
                        <a:t>UDOM thick smears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b="1" dirty="0">
                          <a:solidFill>
                            <a:schemeClr val="accent1"/>
                          </a:solidFill>
                        </a:rPr>
                        <a:t>Tanzania, Morogoro</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Boxes: parasites + WBC</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149 MB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Count benchmark (held out)</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NM-AIST smears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b="1" dirty="0">
                          <a:solidFill>
                            <a:schemeClr val="accent1"/>
                          </a:solidFill>
                        </a:rPr>
                        <a:t>Tanzania, Arusha</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Image-level, 3,544 images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Several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Slide-level test (held out)</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NLM thick, 150 patients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Bangladesh</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Every parasite + WBC</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3.9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Tuning and training</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NLM thick, uninfected</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Bangladesh</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WBC; negative slides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2.5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Specificity</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502920">
                <a:tc>
                  <a:txBody>
                    <a:bodyPr/>
                    <a:lstStyle/>
                    <a:p>
                      <a:pPr indent="0" marL="0">
                        <a:buNone/>
                      </a:pPr>
                      <a:r>
                        <a:rPr lang="en-US" sz="1400" dirty="0">
                          <a:solidFill>
                            <a:schemeClr val="tx1"/>
                          </a:solidFill>
                        </a:rPr>
                        <a:t>NLM Malaria Screener</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Sudan</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Expert counts, 190 patients</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49 GB</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African validation (optional)</a:t>
                      </a:r>
                      <a:endParaRPr lang="en-US" sz="1400" dirty="0"/>
                    </a:p>
                  </a:txBody>
                  <a:tcPr marL="137160" marR="137160" marT="54864" marB="54864"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5" name="Text 2"/>
          <p:cNvSpPr txBox="1"/>
          <p:nvPr/>
        </p:nvSpPr>
        <p:spPr>
          <a:xfrm>
            <a:off x="548640" y="5120640"/>
            <a:ext cx="11094415" cy="365760"/>
          </a:xfrm>
          <a:prstGeom prst="rect">
            <a:avLst/>
          </a:prstGeom>
          <a:noFill/>
          <a:ln/>
        </p:spPr>
        <p:txBody>
          <a:bodyPr wrap="square" lIns="0" tIns="0" rIns="0" bIns="0" rtlCol="0" anchor="t"/>
          <a:lstStyle/>
          <a:p>
            <a:pPr indent="0" marL="0">
              <a:buNone/>
            </a:pPr>
            <a:r>
              <a:rPr lang="en-US" sz="1500" dirty="0">
                <a:solidFill>
                  <a:schemeClr val="accent5"/>
                </a:solidFill>
              </a:rPr>
              <a:t>All public. Split by patient, never by image. One command (make data) downloads and checksum-verifies the core sets.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EVALUATION</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Each Meta capability must earn its place in the results</a:t>
            </a:r>
            <a:endParaRPr lang="en-US" sz="3200" dirty="0"/>
          </a:p>
        </p:txBody>
      </p:sp>
      <p:sp>
        <p:nvSpPr>
          <p:cNvPr id="4" name="metrics"/>
          <p:cNvSpPr/>
          <p:nvPr/>
        </p:nvSpPr>
        <p:spPr>
          <a:xfrm>
            <a:off x="548640" y="1783080"/>
            <a:ext cx="5120640" cy="4023360"/>
          </a:xfrm>
          <a:prstGeom prst="roundRect">
            <a:avLst>
              <a:gd name="adj" fmla="val 2273"/>
            </a:avLst>
          </a:prstGeom>
          <a:solidFill>
            <a:schemeClr val="bg1"/>
          </a:solidFill>
          <a:ln w="12700">
            <a:solidFill>
              <a:schemeClr val="accent6"/>
            </a:solidFill>
            <a:prstDash val="solid"/>
          </a:ln>
        </p:spPr>
      </p:sp>
      <p:sp>
        <p:nvSpPr>
          <p:cNvPr id="5" name="Text 3"/>
          <p:cNvSpPr txBox="1"/>
          <p:nvPr/>
        </p:nvSpPr>
        <p:spPr>
          <a:xfrm>
            <a:off x="868680" y="2011680"/>
            <a:ext cx="4572000" cy="365760"/>
          </a:xfrm>
          <a:prstGeom prst="rect">
            <a:avLst/>
          </a:prstGeom>
          <a:noFill/>
          <a:ln/>
        </p:spPr>
        <p:txBody>
          <a:bodyPr wrap="square" lIns="0" tIns="0" rIns="0" bIns="0" rtlCol="0" anchor="t"/>
          <a:lstStyle/>
          <a:p>
            <a:pPr indent="0" marL="0">
              <a:buNone/>
            </a:pPr>
            <a:r>
              <a:rPr lang="en-US" sz="1800" b="1" dirty="0">
                <a:solidFill>
                  <a:schemeClr val="tx1"/>
                </a:solidFill>
              </a:rPr>
              <a:t>What we measure</a:t>
            </a:r>
            <a:endParaRPr lang="en-US" sz="1800" dirty="0"/>
          </a:p>
        </p:txBody>
      </p:sp>
      <p:sp>
        <p:nvSpPr>
          <p:cNvPr id="6" name="Text 4"/>
          <p:cNvSpPr txBox="1"/>
          <p:nvPr/>
        </p:nvSpPr>
        <p:spPr>
          <a:xfrm>
            <a:off x="868680" y="2514600"/>
            <a:ext cx="448056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5"/>
                </a:solidFill>
              </a:rPr>
              <a:t>Detection precision, recall and F1 for parasites and WBC</a:t>
            </a:r>
            <a:endParaRPr lang="en-US" sz="1500" dirty="0"/>
          </a:p>
          <a:p>
            <a:pPr marL="342900" indent="-342900">
              <a:spcAft>
                <a:spcPts val="1000"/>
              </a:spcAft>
              <a:buSzPct val="100000"/>
              <a:buChar char="•"/>
            </a:pPr>
            <a:r>
              <a:rPr lang="en-US" sz="1500" dirty="0">
                <a:solidFill>
                  <a:schemeClr val="accent5"/>
                </a:solidFill>
              </a:rPr>
              <a:t>Count error, bias and correlation against expert labels</a:t>
            </a:r>
            <a:endParaRPr lang="en-US" sz="1500" dirty="0"/>
          </a:p>
          <a:p>
            <a:pPr marL="342900" indent="-342900">
              <a:spcAft>
                <a:spcPts val="1000"/>
              </a:spcAft>
              <a:buSzPct val="100000"/>
              <a:buChar char="•"/>
            </a:pPr>
            <a:r>
              <a:rPr lang="en-US" sz="1500" dirty="0">
                <a:solidFill>
                  <a:schemeClr val="accent5"/>
                </a:solidFill>
              </a:rPr>
              <a:t>Slide sensitivity and specificity on Tanzanian slides</a:t>
            </a:r>
            <a:endParaRPr lang="en-US" sz="1500" dirty="0"/>
          </a:p>
          <a:p>
            <a:pPr marL="342900" indent="-342900">
              <a:spcAft>
                <a:spcPts val="1000"/>
              </a:spcAft>
              <a:buSzPct val="100000"/>
              <a:buChar char="•"/>
            </a:pPr>
            <a:r>
              <a:rPr lang="en-US" sz="1500" dirty="0">
                <a:solidFill>
                  <a:schemeClr val="accent5"/>
                </a:solidFill>
              </a:rPr>
              <a:t>95% confidence intervals by bootstrap over patients</a:t>
            </a:r>
            <a:endParaRPr lang="en-US" sz="1500" dirty="0"/>
          </a:p>
        </p:txBody>
      </p:sp>
      <p:sp>
        <p:nvSpPr>
          <p:cNvPr id="7" name="Text 5"/>
          <p:cNvSpPr txBox="1"/>
          <p:nvPr/>
        </p:nvSpPr>
        <p:spPr>
          <a:xfrm>
            <a:off x="6172200" y="2011680"/>
            <a:ext cx="5394960" cy="365760"/>
          </a:xfrm>
          <a:prstGeom prst="rect">
            <a:avLst/>
          </a:prstGeom>
          <a:noFill/>
          <a:ln/>
        </p:spPr>
        <p:txBody>
          <a:bodyPr wrap="square" lIns="0" tIns="0" rIns="0" bIns="0" rtlCol="0" anchor="t"/>
          <a:lstStyle/>
          <a:p>
            <a:pPr indent="0" marL="0">
              <a:buNone/>
            </a:pPr>
            <a:r>
              <a:rPr lang="en-US" sz="1800" b="1" dirty="0">
                <a:solidFill>
                  <a:schemeClr val="tx1"/>
                </a:solidFill>
              </a:rPr>
              <a:t>Ablation ladder</a:t>
            </a:r>
            <a:endParaRPr lang="en-US" sz="1800" dirty="0"/>
          </a:p>
        </p:txBody>
      </p:sp>
      <p:sp>
        <p:nvSpPr>
          <p:cNvPr id="8" name="ablation-step"/>
          <p:cNvSpPr/>
          <p:nvPr/>
        </p:nvSpPr>
        <p:spPr>
          <a:xfrm>
            <a:off x="6172200" y="2514600"/>
            <a:ext cx="5440680" cy="502920"/>
          </a:xfrm>
          <a:prstGeom prst="roundRect">
            <a:avLst>
              <a:gd name="adj" fmla="val 14545"/>
            </a:avLst>
          </a:prstGeom>
          <a:solidFill>
            <a:schemeClr val="bg2"/>
          </a:solidFill>
          <a:ln/>
        </p:spPr>
      </p:sp>
      <p:sp>
        <p:nvSpPr>
          <p:cNvPr id="9" name="Text 7"/>
          <p:cNvSpPr txBox="1"/>
          <p:nvPr/>
        </p:nvSpPr>
        <p:spPr>
          <a:xfrm>
            <a:off x="6355080" y="2624328"/>
            <a:ext cx="5029200" cy="320040"/>
          </a:xfrm>
          <a:prstGeom prst="rect">
            <a:avLst/>
          </a:prstGeom>
          <a:noFill/>
          <a:ln/>
        </p:spPr>
        <p:txBody>
          <a:bodyPr wrap="square" lIns="0" tIns="0" rIns="0" bIns="0" rtlCol="0" anchor="t"/>
          <a:lstStyle/>
          <a:p>
            <a:pPr indent="0" marL="0">
              <a:buNone/>
            </a:pPr>
            <a:r>
              <a:rPr lang="en-US" sz="1400" dirty="0">
                <a:solidFill>
                  <a:schemeClr val="tx1"/>
                </a:solidFill>
              </a:rPr>
              <a:t>Baseline: stain threshold, no AI</a:t>
            </a:r>
            <a:endParaRPr lang="en-US" sz="1400" dirty="0"/>
          </a:p>
        </p:txBody>
      </p:sp>
      <p:sp>
        <p:nvSpPr>
          <p:cNvPr id="10" name="ablation-step"/>
          <p:cNvSpPr/>
          <p:nvPr/>
        </p:nvSpPr>
        <p:spPr>
          <a:xfrm>
            <a:off x="6400800" y="3154680"/>
            <a:ext cx="5212080" cy="502920"/>
          </a:xfrm>
          <a:prstGeom prst="roundRect">
            <a:avLst>
              <a:gd name="adj" fmla="val 14545"/>
            </a:avLst>
          </a:prstGeom>
          <a:solidFill>
            <a:schemeClr val="bg2"/>
          </a:solidFill>
          <a:ln/>
        </p:spPr>
      </p:sp>
      <p:sp>
        <p:nvSpPr>
          <p:cNvPr id="11" name="Text 9"/>
          <p:cNvSpPr txBox="1"/>
          <p:nvPr/>
        </p:nvSpPr>
        <p:spPr>
          <a:xfrm>
            <a:off x="6583680" y="3264408"/>
            <a:ext cx="4800600" cy="320040"/>
          </a:xfrm>
          <a:prstGeom prst="rect">
            <a:avLst/>
          </a:prstGeom>
          <a:noFill/>
          <a:ln/>
        </p:spPr>
        <p:txBody>
          <a:bodyPr wrap="square" lIns="0" tIns="0" rIns="0" bIns="0" rtlCol="0" anchor="t"/>
          <a:lstStyle/>
          <a:p>
            <a:pPr indent="0" marL="0">
              <a:buNone/>
            </a:pPr>
            <a:r>
              <a:rPr lang="en-US" sz="1400" dirty="0">
                <a:solidFill>
                  <a:schemeClr val="tx1"/>
                </a:solidFill>
              </a:rPr>
              <a:t>SAM 3, text prompt</a:t>
            </a:r>
            <a:endParaRPr lang="en-US" sz="1400" dirty="0"/>
          </a:p>
        </p:txBody>
      </p:sp>
      <p:sp>
        <p:nvSpPr>
          <p:cNvPr id="12" name="ablation-step"/>
          <p:cNvSpPr/>
          <p:nvPr/>
        </p:nvSpPr>
        <p:spPr>
          <a:xfrm>
            <a:off x="6629400" y="3794760"/>
            <a:ext cx="4983480" cy="502920"/>
          </a:xfrm>
          <a:prstGeom prst="roundRect">
            <a:avLst>
              <a:gd name="adj" fmla="val 14545"/>
            </a:avLst>
          </a:prstGeom>
          <a:solidFill>
            <a:schemeClr val="bg2"/>
          </a:solidFill>
          <a:ln/>
        </p:spPr>
      </p:sp>
      <p:sp>
        <p:nvSpPr>
          <p:cNvPr id="13" name="Text 11"/>
          <p:cNvSpPr txBox="1"/>
          <p:nvPr/>
        </p:nvSpPr>
        <p:spPr>
          <a:xfrm>
            <a:off x="6812280" y="3904488"/>
            <a:ext cx="4572000" cy="320040"/>
          </a:xfrm>
          <a:prstGeom prst="rect">
            <a:avLst/>
          </a:prstGeom>
          <a:noFill/>
          <a:ln/>
        </p:spPr>
        <p:txBody>
          <a:bodyPr wrap="square" lIns="0" tIns="0" rIns="0" bIns="0" rtlCol="0" anchor="t"/>
          <a:lstStyle/>
          <a:p>
            <a:pPr indent="0" marL="0">
              <a:buNone/>
            </a:pPr>
            <a:r>
              <a:rPr lang="en-US" sz="1400" dirty="0">
                <a:solidFill>
                  <a:schemeClr val="tx1"/>
                </a:solidFill>
              </a:rPr>
              <a:t>SAM 3, best text prompt</a:t>
            </a:r>
            <a:endParaRPr lang="en-US" sz="1400" dirty="0"/>
          </a:p>
        </p:txBody>
      </p:sp>
      <p:sp>
        <p:nvSpPr>
          <p:cNvPr id="14" name="ablation-step"/>
          <p:cNvSpPr/>
          <p:nvPr/>
        </p:nvSpPr>
        <p:spPr>
          <a:xfrm>
            <a:off x="6858000" y="4434840"/>
            <a:ext cx="4754880" cy="502920"/>
          </a:xfrm>
          <a:prstGeom prst="roundRect">
            <a:avLst>
              <a:gd name="adj" fmla="val 14545"/>
            </a:avLst>
          </a:prstGeom>
          <a:solidFill>
            <a:schemeClr val="bg2"/>
          </a:solidFill>
          <a:ln/>
        </p:spPr>
      </p:sp>
      <p:sp>
        <p:nvSpPr>
          <p:cNvPr id="15" name="Text 13"/>
          <p:cNvSpPr txBox="1"/>
          <p:nvPr/>
        </p:nvSpPr>
        <p:spPr>
          <a:xfrm>
            <a:off x="7040880" y="4544568"/>
            <a:ext cx="4343400" cy="320040"/>
          </a:xfrm>
          <a:prstGeom prst="rect">
            <a:avLst/>
          </a:prstGeom>
          <a:noFill/>
          <a:ln/>
        </p:spPr>
        <p:txBody>
          <a:bodyPr wrap="square" lIns="0" tIns="0" rIns="0" bIns="0" rtlCol="0" anchor="t"/>
          <a:lstStyle/>
          <a:p>
            <a:pPr indent="0" marL="0">
              <a:buNone/>
            </a:pPr>
            <a:r>
              <a:rPr lang="en-US" sz="1400" dirty="0">
                <a:solidFill>
                  <a:schemeClr val="tx1"/>
                </a:solidFill>
              </a:rPr>
              <a:t>SAM 3, text + exemplars</a:t>
            </a:r>
            <a:endParaRPr lang="en-US" sz="1400" dirty="0"/>
          </a:p>
        </p:txBody>
      </p:sp>
      <p:sp>
        <p:nvSpPr>
          <p:cNvPr id="16" name="ablation-step"/>
          <p:cNvSpPr/>
          <p:nvPr/>
        </p:nvSpPr>
        <p:spPr>
          <a:xfrm>
            <a:off x="7086600" y="5074920"/>
            <a:ext cx="4526280" cy="502920"/>
          </a:xfrm>
          <a:prstGeom prst="roundRect">
            <a:avLst>
              <a:gd name="adj" fmla="val 14545"/>
            </a:avLst>
          </a:prstGeom>
          <a:solidFill>
            <a:schemeClr val="accent1"/>
          </a:solidFill>
          <a:ln/>
        </p:spPr>
      </p:sp>
      <p:sp>
        <p:nvSpPr>
          <p:cNvPr id="17" name="Text 15"/>
          <p:cNvSpPr txBox="1"/>
          <p:nvPr/>
        </p:nvSpPr>
        <p:spPr>
          <a:xfrm>
            <a:off x="7269480" y="5184648"/>
            <a:ext cx="4114800" cy="320040"/>
          </a:xfrm>
          <a:prstGeom prst="rect">
            <a:avLst/>
          </a:prstGeom>
          <a:noFill/>
          <a:ln/>
        </p:spPr>
        <p:txBody>
          <a:bodyPr wrap="square" lIns="0" tIns="0" rIns="0" bIns="0" rtlCol="0" anchor="t"/>
          <a:lstStyle/>
          <a:p>
            <a:pPr indent="0" marL="0">
              <a:buNone/>
            </a:pPr>
            <a:r>
              <a:rPr lang="en-US" sz="1400" b="1" dirty="0">
                <a:solidFill>
                  <a:schemeClr val="bg1"/>
                </a:solidFill>
              </a:rPr>
              <a:t>+ Muse Spark quality review</a:t>
            </a:r>
            <a:endParaRPr lang="en-US" sz="1400" dirty="0"/>
          </a:p>
        </p:txBody>
      </p:sp>
      <p:sp>
        <p:nvSpPr>
          <p:cNvPr id="18" name="Text 16"/>
          <p:cNvSpPr txBox="1"/>
          <p:nvPr/>
        </p:nvSpPr>
        <p:spPr>
          <a:xfrm>
            <a:off x="6172200" y="5760720"/>
            <a:ext cx="5486400" cy="274320"/>
          </a:xfrm>
          <a:prstGeom prst="rect">
            <a:avLst/>
          </a:prstGeom>
          <a:noFill/>
          <a:ln/>
        </p:spPr>
        <p:txBody>
          <a:bodyPr wrap="square" lIns="0" tIns="0" rIns="0" bIns="0" rtlCol="0" anchor="t"/>
          <a:lstStyle/>
          <a:p>
            <a:pPr indent="0" marL="0">
              <a:buNone/>
            </a:pPr>
            <a:r>
              <a:rPr lang="en-US" sz="1100" dirty="0">
                <a:solidFill>
                  <a:schemeClr val="accent5"/>
                </a:solidFill>
              </a:rPr>
              <a:t>Protocol fixed before results; Tanzanian sets are never used for tuning.</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BUILT FOR THE RUBRIC</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Darubini earns each point</a:t>
            </a:r>
            <a:endParaRPr lang="en-US" sz="3200" dirty="0"/>
          </a:p>
        </p:txBody>
      </p:sp>
      <p:graphicFrame>
        <p:nvGraphicFramePr>
          <p:cNvPr id="4" name="weights-chart" descr=""/>
          <p:cNvGraphicFramePr/>
          <p:nvPr/>
        </p:nvGraphicFramePr>
        <p:xfrm>
          <a:off x="548640" y="1737360"/>
          <a:ext cx="493776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943600" y="1783080"/>
            <a:ext cx="5669280" cy="347472"/>
          </a:xfrm>
          <a:prstGeom prst="rect">
            <a:avLst/>
          </a:prstGeom>
          <a:noFill/>
          <a:ln/>
        </p:spPr>
        <p:txBody>
          <a:bodyPr wrap="square" lIns="0" tIns="0" rIns="0" bIns="0" rtlCol="0" anchor="t"/>
          <a:lstStyle/>
          <a:p>
            <a:pPr indent="0" marL="0">
              <a:buNone/>
            </a:pPr>
            <a:r>
              <a:rPr lang="en-US" sz="1700" b="1" dirty="0">
                <a:solidFill>
                  <a:schemeClr val="tx1"/>
                </a:solidFill>
              </a:rPr>
              <a:t>Impact · 30%</a:t>
            </a:r>
            <a:endParaRPr lang="en-US" sz="1700" dirty="0"/>
          </a:p>
        </p:txBody>
      </p:sp>
      <p:sp>
        <p:nvSpPr>
          <p:cNvPr id="6" name="Text 3"/>
          <p:cNvSpPr txBox="1"/>
          <p:nvPr/>
        </p:nvSpPr>
        <p:spPr>
          <a:xfrm>
            <a:off x="5943600" y="2148840"/>
            <a:ext cx="5669280" cy="548640"/>
          </a:xfrm>
          <a:prstGeom prst="rect">
            <a:avLst/>
          </a:prstGeom>
          <a:noFill/>
          <a:ln/>
        </p:spPr>
        <p:txBody>
          <a:bodyPr wrap="square" lIns="0" tIns="0" rIns="0" bIns="0" rtlCol="0" anchor="t"/>
          <a:lstStyle/>
          <a:p>
            <a:pPr indent="0" marL="0">
              <a:buNone/>
            </a:pPr>
            <a:r>
              <a:rPr lang="en-US" sz="1400" dirty="0">
                <a:solidFill>
                  <a:schemeClr val="accent5"/>
                </a:solidFill>
              </a:rPr>
              <a:t>A leading killer in Tanzania, existing microscopes, a Kiswahili report, results on local slides.</a:t>
            </a:r>
            <a:endParaRPr lang="en-US" sz="1400" dirty="0"/>
          </a:p>
        </p:txBody>
      </p:sp>
      <p:sp>
        <p:nvSpPr>
          <p:cNvPr id="7" name="Text 4"/>
          <p:cNvSpPr txBox="1"/>
          <p:nvPr/>
        </p:nvSpPr>
        <p:spPr>
          <a:xfrm>
            <a:off x="5943600" y="2807208"/>
            <a:ext cx="5669280" cy="347472"/>
          </a:xfrm>
          <a:prstGeom prst="rect">
            <a:avLst/>
          </a:prstGeom>
          <a:noFill/>
          <a:ln/>
        </p:spPr>
        <p:txBody>
          <a:bodyPr wrap="square" lIns="0" tIns="0" rIns="0" bIns="0" rtlCol="0" anchor="t"/>
          <a:lstStyle/>
          <a:p>
            <a:pPr indent="0" marL="0">
              <a:buNone/>
            </a:pPr>
            <a:r>
              <a:rPr lang="en-US" sz="1700" b="1" dirty="0">
                <a:solidFill>
                  <a:schemeClr val="tx1"/>
                </a:solidFill>
              </a:rPr>
              <a:t>Meta tooling · 25%</a:t>
            </a:r>
            <a:endParaRPr lang="en-US" sz="1700" dirty="0"/>
          </a:p>
        </p:txBody>
      </p:sp>
      <p:sp>
        <p:nvSpPr>
          <p:cNvPr id="8" name="Text 5"/>
          <p:cNvSpPr txBox="1"/>
          <p:nvPr/>
        </p:nvSpPr>
        <p:spPr>
          <a:xfrm>
            <a:off x="5943600" y="3172968"/>
            <a:ext cx="5669280" cy="548640"/>
          </a:xfrm>
          <a:prstGeom prst="rect">
            <a:avLst/>
          </a:prstGeom>
          <a:noFill/>
          <a:ln/>
        </p:spPr>
        <p:txBody>
          <a:bodyPr wrap="square" lIns="0" tIns="0" rIns="0" bIns="0" rtlCol="0" anchor="t"/>
          <a:lstStyle/>
          <a:p>
            <a:pPr indent="0" marL="0">
              <a:buNone/>
            </a:pPr>
            <a:r>
              <a:rPr lang="en-US" sz="1400" dirty="0">
                <a:solidFill>
                  <a:schemeClr val="accent5"/>
                </a:solidFill>
              </a:rPr>
              <a:t>Exemplar prompting, video tracking, Muse Spark as a tool-calling agent.</a:t>
            </a:r>
            <a:endParaRPr lang="en-US" sz="1400" dirty="0"/>
          </a:p>
        </p:txBody>
      </p:sp>
      <p:sp>
        <p:nvSpPr>
          <p:cNvPr id="9" name="Text 6"/>
          <p:cNvSpPr txBox="1"/>
          <p:nvPr/>
        </p:nvSpPr>
        <p:spPr>
          <a:xfrm>
            <a:off x="5943600" y="3831336"/>
            <a:ext cx="5669280" cy="347472"/>
          </a:xfrm>
          <a:prstGeom prst="rect">
            <a:avLst/>
          </a:prstGeom>
          <a:noFill/>
          <a:ln/>
        </p:spPr>
        <p:txBody>
          <a:bodyPr wrap="square" lIns="0" tIns="0" rIns="0" bIns="0" rtlCol="0" anchor="t"/>
          <a:lstStyle/>
          <a:p>
            <a:pPr indent="0" marL="0">
              <a:buNone/>
            </a:pPr>
            <a:r>
              <a:rPr lang="en-US" sz="1700" b="1" dirty="0">
                <a:solidFill>
                  <a:schemeClr val="tx1"/>
                </a:solidFill>
              </a:rPr>
              <a:t>Demo · 25%</a:t>
            </a:r>
            <a:endParaRPr lang="en-US" sz="1700" dirty="0"/>
          </a:p>
        </p:txBody>
      </p:sp>
      <p:sp>
        <p:nvSpPr>
          <p:cNvPr id="10" name="Text 7"/>
          <p:cNvSpPr txBox="1"/>
          <p:nvPr/>
        </p:nvSpPr>
        <p:spPr>
          <a:xfrm>
            <a:off x="5943600" y="4197096"/>
            <a:ext cx="5669280" cy="548640"/>
          </a:xfrm>
          <a:prstGeom prst="rect">
            <a:avLst/>
          </a:prstGeom>
          <a:noFill/>
          <a:ln/>
        </p:spPr>
        <p:txBody>
          <a:bodyPr wrap="square" lIns="0" tIns="0" rIns="0" bIns="0" rtlCol="0" anchor="t"/>
          <a:lstStyle/>
          <a:p>
            <a:pPr indent="0" marL="0">
              <a:buNone/>
            </a:pPr>
            <a:r>
              <a:rPr lang="en-US" sz="1400" dirty="0">
                <a:solidFill>
                  <a:schemeClr val="accent5"/>
                </a:solidFill>
              </a:rPr>
              <a:t>Live on a real microscope, beside a microscopist's manual count.</a:t>
            </a:r>
            <a:endParaRPr lang="en-US" sz="1400" dirty="0"/>
          </a:p>
        </p:txBody>
      </p:sp>
      <p:sp>
        <p:nvSpPr>
          <p:cNvPr id="11" name="Text 8"/>
          <p:cNvSpPr txBox="1"/>
          <p:nvPr/>
        </p:nvSpPr>
        <p:spPr>
          <a:xfrm>
            <a:off x="5943600" y="4855464"/>
            <a:ext cx="5669280" cy="347472"/>
          </a:xfrm>
          <a:prstGeom prst="rect">
            <a:avLst/>
          </a:prstGeom>
          <a:noFill/>
          <a:ln/>
        </p:spPr>
        <p:txBody>
          <a:bodyPr wrap="square" lIns="0" tIns="0" rIns="0" bIns="0" rtlCol="0" anchor="t"/>
          <a:lstStyle/>
          <a:p>
            <a:pPr indent="0" marL="0">
              <a:buNone/>
            </a:pPr>
            <a:r>
              <a:rPr lang="en-US" sz="1700" b="1" dirty="0">
                <a:solidFill>
                  <a:schemeClr val="tx1"/>
                </a:solidFill>
              </a:rPr>
              <a:t>Technical depth · 20%</a:t>
            </a:r>
            <a:endParaRPr lang="en-US" sz="1700" dirty="0"/>
          </a:p>
        </p:txBody>
      </p:sp>
      <p:sp>
        <p:nvSpPr>
          <p:cNvPr id="12" name="Text 9"/>
          <p:cNvSpPr txBox="1"/>
          <p:nvPr/>
        </p:nvSpPr>
        <p:spPr>
          <a:xfrm>
            <a:off x="5943600" y="5221224"/>
            <a:ext cx="5669280" cy="548640"/>
          </a:xfrm>
          <a:prstGeom prst="rect">
            <a:avLst/>
          </a:prstGeom>
          <a:noFill/>
          <a:ln/>
        </p:spPr>
        <p:txBody>
          <a:bodyPr wrap="square" lIns="0" tIns="0" rIns="0" bIns="0" rtlCol="0" anchor="t"/>
          <a:lstStyle/>
          <a:p>
            <a:pPr indent="0" marL="0">
              <a:buNone/>
            </a:pPr>
            <a:r>
              <a:rPr lang="en-US" sz="1400" dirty="0">
                <a:solidFill>
                  <a:schemeClr val="accent5"/>
                </a:solidFill>
              </a:rPr>
              <a:t>Strict typing, 96% test coverage, security scans, patient-level splits, ablations.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IMPLEMENTATION PLAN</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Ten days, feature freeze on day 8, submit 11 hours early</a:t>
            </a:r>
            <a:endParaRPr lang="en-US" sz="3200" dirty="0"/>
          </a:p>
        </p:txBody>
      </p:sp>
      <p:sp>
        <p:nvSpPr>
          <p:cNvPr id="4" name="timeline"/>
          <p:cNvSpPr/>
          <p:nvPr/>
        </p:nvSpPr>
        <p:spPr>
          <a:xfrm>
            <a:off x="1416025" y="2148840"/>
            <a:ext cx="9359646" cy="0"/>
          </a:xfrm>
          <a:prstGeom prst="line">
            <a:avLst/>
          </a:prstGeom>
          <a:noFill/>
          <a:ln w="25400">
            <a:solidFill>
              <a:schemeClr val="accent6"/>
            </a:solidFill>
            <a:prstDash val="solid"/>
          </a:ln>
        </p:spPr>
      </p:sp>
      <p:sp>
        <p:nvSpPr>
          <p:cNvPr id="5" name="milestone"/>
          <p:cNvSpPr/>
          <p:nvPr/>
        </p:nvSpPr>
        <p:spPr>
          <a:xfrm>
            <a:off x="1269721" y="2002536"/>
            <a:ext cx="292608" cy="292608"/>
          </a:xfrm>
          <a:prstGeom prst="ellipse">
            <a:avLst/>
          </a:prstGeom>
          <a:solidFill>
            <a:schemeClr val="bg1"/>
          </a:solidFill>
          <a:ln w="25400">
            <a:solidFill>
              <a:schemeClr val="accent1"/>
            </a:solidFill>
            <a:prstDash val="solid"/>
          </a:ln>
        </p:spPr>
      </p:sp>
      <p:sp>
        <p:nvSpPr>
          <p:cNvPr id="6" name="Text 4"/>
          <p:cNvSpPr txBox="1"/>
          <p:nvPr/>
        </p:nvSpPr>
        <p:spPr>
          <a:xfrm>
            <a:off x="548640"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24–25 Oct</a:t>
            </a:r>
            <a:endParaRPr lang="en-US" sz="1200" dirty="0"/>
          </a:p>
        </p:txBody>
      </p:sp>
      <p:sp>
        <p:nvSpPr>
          <p:cNvPr id="7" name="phase"/>
          <p:cNvSpPr/>
          <p:nvPr/>
        </p:nvSpPr>
        <p:spPr>
          <a:xfrm>
            <a:off x="548640" y="2560320"/>
            <a:ext cx="1734769" cy="2514600"/>
          </a:xfrm>
          <a:prstGeom prst="roundRect">
            <a:avLst>
              <a:gd name="adj" fmla="val 5271"/>
            </a:avLst>
          </a:prstGeom>
          <a:solidFill>
            <a:schemeClr val="bg1"/>
          </a:solidFill>
          <a:ln w="12700">
            <a:solidFill>
              <a:schemeClr val="accent6"/>
            </a:solidFill>
            <a:prstDash val="solid"/>
          </a:ln>
        </p:spPr>
      </p:sp>
      <p:sp>
        <p:nvSpPr>
          <p:cNvPr id="8" name="Text 6"/>
          <p:cNvSpPr txBox="1"/>
          <p:nvPr/>
        </p:nvSpPr>
        <p:spPr>
          <a:xfrm>
            <a:off x="749808"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Ready</a:t>
            </a:r>
            <a:endParaRPr lang="en-US" sz="1800" dirty="0"/>
          </a:p>
        </p:txBody>
      </p:sp>
      <p:sp>
        <p:nvSpPr>
          <p:cNvPr id="9" name="Text 7"/>
          <p:cNvSpPr txBox="1"/>
          <p:nvPr/>
        </p:nvSpPr>
        <p:spPr>
          <a:xfrm>
            <a:off x="749808"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Repo and CI live; data downloaded; microscope booked</a:t>
            </a:r>
            <a:endParaRPr lang="en-US" sz="1400" dirty="0"/>
          </a:p>
        </p:txBody>
      </p:sp>
      <p:sp>
        <p:nvSpPr>
          <p:cNvPr id="10" name="milestone"/>
          <p:cNvSpPr/>
          <p:nvPr/>
        </p:nvSpPr>
        <p:spPr>
          <a:xfrm>
            <a:off x="3141650" y="2002536"/>
            <a:ext cx="292608" cy="292608"/>
          </a:xfrm>
          <a:prstGeom prst="ellipse">
            <a:avLst/>
          </a:prstGeom>
          <a:solidFill>
            <a:schemeClr val="bg1"/>
          </a:solidFill>
          <a:ln w="25400">
            <a:solidFill>
              <a:schemeClr val="accent1"/>
            </a:solidFill>
            <a:prstDash val="solid"/>
          </a:ln>
        </p:spPr>
      </p:sp>
      <p:sp>
        <p:nvSpPr>
          <p:cNvPr id="11" name="Text 9"/>
          <p:cNvSpPr txBox="1"/>
          <p:nvPr/>
        </p:nvSpPr>
        <p:spPr>
          <a:xfrm>
            <a:off x="2420569"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26–28 Oct</a:t>
            </a:r>
            <a:endParaRPr lang="en-US" sz="1200" dirty="0"/>
          </a:p>
        </p:txBody>
      </p:sp>
      <p:sp>
        <p:nvSpPr>
          <p:cNvPr id="12" name="phase"/>
          <p:cNvSpPr/>
          <p:nvPr/>
        </p:nvSpPr>
        <p:spPr>
          <a:xfrm>
            <a:off x="2420569" y="2560320"/>
            <a:ext cx="1734769" cy="2514600"/>
          </a:xfrm>
          <a:prstGeom prst="roundRect">
            <a:avLst>
              <a:gd name="adj" fmla="val 5271"/>
            </a:avLst>
          </a:prstGeom>
          <a:solidFill>
            <a:schemeClr val="bg1"/>
          </a:solidFill>
          <a:ln w="12700">
            <a:solidFill>
              <a:schemeClr val="accent6"/>
            </a:solidFill>
            <a:prstDash val="solid"/>
          </a:ln>
        </p:spPr>
      </p:sp>
      <p:sp>
        <p:nvSpPr>
          <p:cNvPr id="13" name="Text 11"/>
          <p:cNvSpPr txBox="1"/>
          <p:nvPr/>
        </p:nvSpPr>
        <p:spPr>
          <a:xfrm>
            <a:off x="2621737"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SAM 3</a:t>
            </a:r>
            <a:endParaRPr lang="en-US" sz="1800" dirty="0"/>
          </a:p>
        </p:txBody>
      </p:sp>
      <p:sp>
        <p:nvSpPr>
          <p:cNvPr id="14" name="Text 12"/>
          <p:cNvSpPr txBox="1"/>
          <p:nvPr/>
        </p:nvSpPr>
        <p:spPr>
          <a:xfrm>
            <a:off x="2621737"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Wire the API; scale runs; exemplar prompting</a:t>
            </a:r>
            <a:endParaRPr lang="en-US" sz="1400" dirty="0"/>
          </a:p>
        </p:txBody>
      </p:sp>
      <p:sp>
        <p:nvSpPr>
          <p:cNvPr id="15" name="milestone"/>
          <p:cNvSpPr/>
          <p:nvPr/>
        </p:nvSpPr>
        <p:spPr>
          <a:xfrm>
            <a:off x="5013579" y="2002536"/>
            <a:ext cx="292608" cy="292608"/>
          </a:xfrm>
          <a:prstGeom prst="ellipse">
            <a:avLst/>
          </a:prstGeom>
          <a:solidFill>
            <a:schemeClr val="bg1"/>
          </a:solidFill>
          <a:ln w="25400">
            <a:solidFill>
              <a:schemeClr val="accent1"/>
            </a:solidFill>
            <a:prstDash val="solid"/>
          </a:ln>
        </p:spPr>
      </p:sp>
      <p:sp>
        <p:nvSpPr>
          <p:cNvPr id="16" name="Text 14"/>
          <p:cNvSpPr txBox="1"/>
          <p:nvPr/>
        </p:nvSpPr>
        <p:spPr>
          <a:xfrm>
            <a:off x="4292498"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29–30 Oct</a:t>
            </a:r>
            <a:endParaRPr lang="en-US" sz="1200" dirty="0"/>
          </a:p>
        </p:txBody>
      </p:sp>
      <p:sp>
        <p:nvSpPr>
          <p:cNvPr id="17" name="phase"/>
          <p:cNvSpPr/>
          <p:nvPr/>
        </p:nvSpPr>
        <p:spPr>
          <a:xfrm>
            <a:off x="4292498" y="2560320"/>
            <a:ext cx="1734769" cy="2514600"/>
          </a:xfrm>
          <a:prstGeom prst="roundRect">
            <a:avLst>
              <a:gd name="adj" fmla="val 5271"/>
            </a:avLst>
          </a:prstGeom>
          <a:solidFill>
            <a:schemeClr val="bg1"/>
          </a:solidFill>
          <a:ln w="12700">
            <a:solidFill>
              <a:schemeClr val="accent6"/>
            </a:solidFill>
            <a:prstDash val="solid"/>
          </a:ln>
        </p:spPr>
      </p:sp>
      <p:sp>
        <p:nvSpPr>
          <p:cNvPr id="18" name="Text 16"/>
          <p:cNvSpPr txBox="1"/>
          <p:nvPr/>
        </p:nvSpPr>
        <p:spPr>
          <a:xfrm>
            <a:off x="4493666"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Prove it</a:t>
            </a:r>
            <a:endParaRPr lang="en-US" sz="1800" dirty="0"/>
          </a:p>
        </p:txBody>
      </p:sp>
      <p:sp>
        <p:nvSpPr>
          <p:cNvPr id="19" name="Text 17"/>
          <p:cNvSpPr txBox="1"/>
          <p:nvPr/>
        </p:nvSpPr>
        <p:spPr>
          <a:xfrm>
            <a:off x="4493666"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Tanzanian evaluation; Muse Spark agent</a:t>
            </a:r>
            <a:endParaRPr lang="en-US" sz="1400" dirty="0"/>
          </a:p>
        </p:txBody>
      </p:sp>
      <p:sp>
        <p:nvSpPr>
          <p:cNvPr id="20" name="milestone"/>
          <p:cNvSpPr/>
          <p:nvPr/>
        </p:nvSpPr>
        <p:spPr>
          <a:xfrm>
            <a:off x="6885508" y="2002536"/>
            <a:ext cx="292608" cy="292608"/>
          </a:xfrm>
          <a:prstGeom prst="ellipse">
            <a:avLst/>
          </a:prstGeom>
          <a:solidFill>
            <a:schemeClr val="bg1"/>
          </a:solidFill>
          <a:ln w="25400">
            <a:solidFill>
              <a:schemeClr val="accent1"/>
            </a:solidFill>
            <a:prstDash val="solid"/>
          </a:ln>
        </p:spPr>
      </p:sp>
      <p:sp>
        <p:nvSpPr>
          <p:cNvPr id="21" name="Text 19"/>
          <p:cNvSpPr txBox="1"/>
          <p:nvPr/>
        </p:nvSpPr>
        <p:spPr>
          <a:xfrm>
            <a:off x="6164428" y="1600200"/>
            <a:ext cx="1734769" cy="274320"/>
          </a:xfrm>
          <a:prstGeom prst="rect">
            <a:avLst/>
          </a:prstGeom>
          <a:noFill/>
          <a:ln/>
        </p:spPr>
        <p:txBody>
          <a:bodyPr wrap="square" lIns="0" tIns="0" rIns="0" bIns="0" rtlCol="0" anchor="t"/>
          <a:lstStyle/>
          <a:p>
            <a:pPr algn="ctr" indent="0" marL="0">
              <a:buNone/>
            </a:pPr>
            <a:r>
              <a:rPr lang="en-US" sz="1200" b="1" dirty="0">
                <a:solidFill>
                  <a:schemeClr val="accent5"/>
                </a:solidFill>
              </a:rPr>
              <a:t>31 Oct–1 Nov</a:t>
            </a:r>
            <a:endParaRPr lang="en-US" sz="1200" dirty="0"/>
          </a:p>
        </p:txBody>
      </p:sp>
      <p:sp>
        <p:nvSpPr>
          <p:cNvPr id="22" name="phase"/>
          <p:cNvSpPr/>
          <p:nvPr/>
        </p:nvSpPr>
        <p:spPr>
          <a:xfrm>
            <a:off x="6164428" y="2560320"/>
            <a:ext cx="1734769" cy="2514600"/>
          </a:xfrm>
          <a:prstGeom prst="roundRect">
            <a:avLst>
              <a:gd name="adj" fmla="val 5271"/>
            </a:avLst>
          </a:prstGeom>
          <a:solidFill>
            <a:schemeClr val="bg1"/>
          </a:solidFill>
          <a:ln w="12700">
            <a:solidFill>
              <a:schemeClr val="accent6"/>
            </a:solidFill>
            <a:prstDash val="solid"/>
          </a:ln>
        </p:spPr>
      </p:sp>
      <p:sp>
        <p:nvSpPr>
          <p:cNvPr id="23" name="Text 21"/>
          <p:cNvSpPr txBox="1"/>
          <p:nvPr/>
        </p:nvSpPr>
        <p:spPr>
          <a:xfrm>
            <a:off x="6365596"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Product</a:t>
            </a:r>
            <a:endParaRPr lang="en-US" sz="1800" dirty="0"/>
          </a:p>
        </p:txBody>
      </p:sp>
      <p:sp>
        <p:nvSpPr>
          <p:cNvPr id="24" name="Text 22"/>
          <p:cNvSpPr txBox="1"/>
          <p:nvPr/>
        </p:nvSpPr>
        <p:spPr>
          <a:xfrm>
            <a:off x="6365596"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Phone capture app; video tracking</a:t>
            </a:r>
            <a:endParaRPr lang="en-US" sz="1400" dirty="0"/>
          </a:p>
        </p:txBody>
      </p:sp>
      <p:sp>
        <p:nvSpPr>
          <p:cNvPr id="25" name="milestone"/>
          <p:cNvSpPr/>
          <p:nvPr/>
        </p:nvSpPr>
        <p:spPr>
          <a:xfrm>
            <a:off x="8757437" y="2002536"/>
            <a:ext cx="292608" cy="292608"/>
          </a:xfrm>
          <a:prstGeom prst="ellipse">
            <a:avLst/>
          </a:prstGeom>
          <a:solidFill>
            <a:schemeClr val="accent1"/>
          </a:solidFill>
          <a:ln w="25400">
            <a:solidFill>
              <a:schemeClr val="accent1"/>
            </a:solidFill>
            <a:prstDash val="solid"/>
          </a:ln>
        </p:spPr>
      </p:sp>
      <p:sp>
        <p:nvSpPr>
          <p:cNvPr id="26" name="Text 24"/>
          <p:cNvSpPr txBox="1"/>
          <p:nvPr/>
        </p:nvSpPr>
        <p:spPr>
          <a:xfrm>
            <a:off x="8036357" y="1600200"/>
            <a:ext cx="1734769" cy="274320"/>
          </a:xfrm>
          <a:prstGeom prst="rect">
            <a:avLst/>
          </a:prstGeom>
          <a:noFill/>
          <a:ln/>
        </p:spPr>
        <p:txBody>
          <a:bodyPr wrap="square" lIns="0" tIns="0" rIns="0" bIns="0" rtlCol="0" anchor="t"/>
          <a:lstStyle/>
          <a:p>
            <a:pPr algn="ctr" indent="0" marL="0">
              <a:buNone/>
            </a:pPr>
            <a:r>
              <a:rPr lang="en-US" sz="1200" b="1" dirty="0">
                <a:solidFill>
                  <a:schemeClr val="accent1"/>
                </a:solidFill>
              </a:rPr>
              <a:t>2 Nov</a:t>
            </a:r>
            <a:endParaRPr lang="en-US" sz="1200" dirty="0"/>
          </a:p>
        </p:txBody>
      </p:sp>
      <p:sp>
        <p:nvSpPr>
          <p:cNvPr id="27" name="phase"/>
          <p:cNvSpPr/>
          <p:nvPr/>
        </p:nvSpPr>
        <p:spPr>
          <a:xfrm>
            <a:off x="8036357" y="2560320"/>
            <a:ext cx="1734769" cy="2514600"/>
          </a:xfrm>
          <a:prstGeom prst="roundRect">
            <a:avLst>
              <a:gd name="adj" fmla="val 5271"/>
            </a:avLst>
          </a:prstGeom>
          <a:solidFill>
            <a:schemeClr val="bg2"/>
          </a:solidFill>
          <a:ln w="12700">
            <a:solidFill>
              <a:schemeClr val="bg2"/>
            </a:solidFill>
            <a:prstDash val="solid"/>
          </a:ln>
        </p:spPr>
      </p:sp>
      <p:sp>
        <p:nvSpPr>
          <p:cNvPr id="28" name="Text 26"/>
          <p:cNvSpPr txBox="1"/>
          <p:nvPr/>
        </p:nvSpPr>
        <p:spPr>
          <a:xfrm>
            <a:off x="8237525"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Live lab</a:t>
            </a:r>
            <a:endParaRPr lang="en-US" sz="1800" dirty="0"/>
          </a:p>
        </p:txBody>
      </p:sp>
      <p:sp>
        <p:nvSpPr>
          <p:cNvPr id="29" name="Text 27"/>
          <p:cNvSpPr txBox="1"/>
          <p:nvPr/>
        </p:nvSpPr>
        <p:spPr>
          <a:xfrm>
            <a:off x="8237525"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Real microscope session; feature freeze</a:t>
            </a:r>
            <a:endParaRPr lang="en-US" sz="1400" dirty="0"/>
          </a:p>
        </p:txBody>
      </p:sp>
      <p:sp>
        <p:nvSpPr>
          <p:cNvPr id="30" name="milestone"/>
          <p:cNvSpPr/>
          <p:nvPr/>
        </p:nvSpPr>
        <p:spPr>
          <a:xfrm>
            <a:off x="10629367" y="2002536"/>
            <a:ext cx="292608" cy="292608"/>
          </a:xfrm>
          <a:prstGeom prst="ellipse">
            <a:avLst/>
          </a:prstGeom>
          <a:solidFill>
            <a:schemeClr val="accent1"/>
          </a:solidFill>
          <a:ln w="25400">
            <a:solidFill>
              <a:schemeClr val="accent1"/>
            </a:solidFill>
            <a:prstDash val="solid"/>
          </a:ln>
        </p:spPr>
      </p:sp>
      <p:sp>
        <p:nvSpPr>
          <p:cNvPr id="31" name="Text 29"/>
          <p:cNvSpPr txBox="1"/>
          <p:nvPr/>
        </p:nvSpPr>
        <p:spPr>
          <a:xfrm>
            <a:off x="9908286" y="1600200"/>
            <a:ext cx="1734769" cy="274320"/>
          </a:xfrm>
          <a:prstGeom prst="rect">
            <a:avLst/>
          </a:prstGeom>
          <a:noFill/>
          <a:ln/>
        </p:spPr>
        <p:txBody>
          <a:bodyPr wrap="square" lIns="0" tIns="0" rIns="0" bIns="0" rtlCol="0" anchor="t"/>
          <a:lstStyle/>
          <a:p>
            <a:pPr algn="ctr" indent="0" marL="0">
              <a:buNone/>
            </a:pPr>
            <a:r>
              <a:rPr lang="en-US" sz="1200" b="1" dirty="0">
                <a:solidFill>
                  <a:schemeClr val="accent1"/>
                </a:solidFill>
              </a:rPr>
              <a:t>3–4 Nov</a:t>
            </a:r>
            <a:endParaRPr lang="en-US" sz="1200" dirty="0"/>
          </a:p>
        </p:txBody>
      </p:sp>
      <p:sp>
        <p:nvSpPr>
          <p:cNvPr id="32" name="phase"/>
          <p:cNvSpPr/>
          <p:nvPr/>
        </p:nvSpPr>
        <p:spPr>
          <a:xfrm>
            <a:off x="9908286" y="2560320"/>
            <a:ext cx="1734769" cy="2514600"/>
          </a:xfrm>
          <a:prstGeom prst="roundRect">
            <a:avLst>
              <a:gd name="adj" fmla="val 5271"/>
            </a:avLst>
          </a:prstGeom>
          <a:solidFill>
            <a:schemeClr val="bg2"/>
          </a:solidFill>
          <a:ln w="12700">
            <a:solidFill>
              <a:schemeClr val="bg2"/>
            </a:solidFill>
            <a:prstDash val="solid"/>
          </a:ln>
        </p:spPr>
      </p:sp>
      <p:sp>
        <p:nvSpPr>
          <p:cNvPr id="33" name="Text 31"/>
          <p:cNvSpPr txBox="1"/>
          <p:nvPr/>
        </p:nvSpPr>
        <p:spPr>
          <a:xfrm>
            <a:off x="10109454" y="2761488"/>
            <a:ext cx="1369009" cy="384048"/>
          </a:xfrm>
          <a:prstGeom prst="rect">
            <a:avLst/>
          </a:prstGeom>
          <a:noFill/>
          <a:ln/>
        </p:spPr>
        <p:txBody>
          <a:bodyPr wrap="square" lIns="0" tIns="0" rIns="0" bIns="0" rtlCol="0" anchor="t"/>
          <a:lstStyle/>
          <a:p>
            <a:pPr indent="0" marL="0">
              <a:buNone/>
            </a:pPr>
            <a:r>
              <a:rPr lang="en-US" sz="1800" b="1" dirty="0">
                <a:solidFill>
                  <a:schemeClr val="tx1"/>
                </a:solidFill>
              </a:rPr>
              <a:t>Ship</a:t>
            </a:r>
            <a:endParaRPr lang="en-US" sz="1800" dirty="0"/>
          </a:p>
        </p:txBody>
      </p:sp>
      <p:sp>
        <p:nvSpPr>
          <p:cNvPr id="34" name="Text 32"/>
          <p:cNvSpPr txBox="1"/>
          <p:nvPr/>
        </p:nvSpPr>
        <p:spPr>
          <a:xfrm>
            <a:off x="10109454" y="3200400"/>
            <a:ext cx="1369009" cy="1737360"/>
          </a:xfrm>
          <a:prstGeom prst="rect">
            <a:avLst/>
          </a:prstGeom>
          <a:noFill/>
          <a:ln/>
        </p:spPr>
        <p:txBody>
          <a:bodyPr wrap="square" lIns="0" tIns="0" rIns="0" bIns="0" rtlCol="0" anchor="t"/>
          <a:lstStyle/>
          <a:p>
            <a:pPr indent="0" marL="0">
              <a:buNone/>
            </a:pPr>
            <a:r>
              <a:rPr lang="en-US" sz="1400" dirty="0">
                <a:solidFill>
                  <a:schemeClr val="accent5"/>
                </a:solidFill>
              </a:rPr>
              <a:t>Video, results, model card; submit by 18:00</a:t>
            </a:r>
            <a:endParaRPr lang="en-US" sz="1400" dirty="0"/>
          </a:p>
        </p:txBody>
      </p:sp>
      <p:sp>
        <p:nvSpPr>
          <p:cNvPr id="35" name="Text 33"/>
          <p:cNvSpPr txBox="1"/>
          <p:nvPr/>
        </p:nvSpPr>
        <p:spPr>
          <a:xfrm>
            <a:off x="548640" y="5349240"/>
            <a:ext cx="11094415" cy="320040"/>
          </a:xfrm>
          <a:prstGeom prst="rect">
            <a:avLst/>
          </a:prstGeom>
          <a:noFill/>
          <a:ln/>
        </p:spPr>
        <p:txBody>
          <a:bodyPr wrap="square" lIns="0" tIns="0" rIns="0" bIns="0" rtlCol="0" anchor="t"/>
          <a:lstStyle/>
          <a:p>
            <a:pPr indent="0" marL="0">
              <a:buNone/>
            </a:pPr>
            <a:r>
              <a:rPr lang="en-US" sz="1400" dirty="0">
                <a:solidFill>
                  <a:schemeClr val="accent5"/>
                </a:solidFill>
              </a:rPr>
              <a:t>All dates East Africa Time. Submission closes Thursday 5 November at 05:00.</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ENGINEERING</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Clean DevOps from the first commit</a:t>
            </a:r>
            <a:endParaRPr lang="en-US" sz="3200" dirty="0"/>
          </a:p>
        </p:txBody>
      </p:sp>
      <p:sp>
        <p:nvSpPr>
          <p:cNvPr id="4" name="gate"/>
          <p:cNvSpPr/>
          <p:nvPr/>
        </p:nvSpPr>
        <p:spPr>
          <a:xfrm>
            <a:off x="548640" y="1783080"/>
            <a:ext cx="3545738" cy="1783080"/>
          </a:xfrm>
          <a:prstGeom prst="roundRect">
            <a:avLst>
              <a:gd name="adj" fmla="val 5128"/>
            </a:avLst>
          </a:prstGeom>
          <a:solidFill>
            <a:schemeClr val="bg1"/>
          </a:solidFill>
          <a:ln w="12700">
            <a:solidFill>
              <a:schemeClr val="accent6"/>
            </a:solidFill>
            <a:prstDash val="solid"/>
          </a:ln>
        </p:spPr>
      </p:sp>
      <p:sp>
        <p:nvSpPr>
          <p:cNvPr id="5" name="icon-bg"/>
          <p:cNvSpPr/>
          <p:nvPr/>
        </p:nvSpPr>
        <p:spPr>
          <a:xfrm>
            <a:off x="822960" y="2103120"/>
            <a:ext cx="502920" cy="50292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948690" y="2228850"/>
            <a:ext cx="251460" cy="251460"/>
          </a:xfrm>
          <a:prstGeom prst="rect">
            <a:avLst/>
          </a:prstGeom>
        </p:spPr>
      </p:pic>
      <p:sp>
        <p:nvSpPr>
          <p:cNvPr id="7" name="Text 4"/>
          <p:cNvSpPr txBox="1"/>
          <p:nvPr/>
        </p:nvSpPr>
        <p:spPr>
          <a:xfrm>
            <a:off x="1508760" y="2130552"/>
            <a:ext cx="2357018" cy="384048"/>
          </a:xfrm>
          <a:prstGeom prst="rect">
            <a:avLst/>
          </a:prstGeom>
          <a:noFill/>
          <a:ln/>
        </p:spPr>
        <p:txBody>
          <a:bodyPr wrap="square" lIns="0" tIns="0" rIns="0" bIns="0" rtlCol="0" anchor="t"/>
          <a:lstStyle/>
          <a:p>
            <a:pPr indent="0" marL="0">
              <a:buNone/>
            </a:pPr>
            <a:r>
              <a:rPr lang="en-US" sz="1800" b="1" dirty="0">
                <a:solidFill>
                  <a:schemeClr val="tx1"/>
                </a:solidFill>
              </a:rPr>
              <a:t>Lint and format</a:t>
            </a:r>
            <a:endParaRPr lang="en-US" sz="1800" dirty="0"/>
          </a:p>
        </p:txBody>
      </p:sp>
      <p:sp>
        <p:nvSpPr>
          <p:cNvPr id="8" name="Text 5"/>
          <p:cNvSpPr txBox="1"/>
          <p:nvPr/>
        </p:nvSpPr>
        <p:spPr>
          <a:xfrm>
            <a:off x="1508760" y="256032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Ruff with security, docstring and import rules</a:t>
            </a:r>
            <a:endParaRPr lang="en-US" sz="1400" dirty="0"/>
          </a:p>
        </p:txBody>
      </p:sp>
      <p:sp>
        <p:nvSpPr>
          <p:cNvPr id="9" name="gate"/>
          <p:cNvSpPr/>
          <p:nvPr/>
        </p:nvSpPr>
        <p:spPr>
          <a:xfrm>
            <a:off x="4322978" y="1783080"/>
            <a:ext cx="3545738" cy="1783080"/>
          </a:xfrm>
          <a:prstGeom prst="roundRect">
            <a:avLst>
              <a:gd name="adj" fmla="val 5128"/>
            </a:avLst>
          </a:prstGeom>
          <a:solidFill>
            <a:schemeClr val="bg1"/>
          </a:solidFill>
          <a:ln w="12700">
            <a:solidFill>
              <a:schemeClr val="accent6"/>
            </a:solidFill>
            <a:prstDash val="solid"/>
          </a:ln>
        </p:spPr>
      </p:sp>
      <p:sp>
        <p:nvSpPr>
          <p:cNvPr id="10" name="icon-bg"/>
          <p:cNvSpPr/>
          <p:nvPr/>
        </p:nvSpPr>
        <p:spPr>
          <a:xfrm>
            <a:off x="4597298" y="2103120"/>
            <a:ext cx="502920" cy="502920"/>
          </a:xfrm>
          <a:prstGeom prst="ellipse">
            <a:avLst/>
          </a:prstGeom>
          <a:solidFill>
            <a:schemeClr val="accent1"/>
          </a:solidFill>
          <a:ln/>
        </p:spPr>
      </p:sp>
      <p:pic>
        <p:nvPicPr>
          <p:cNvPr id="11" name="icon" descr="preencoded.png">    </p:cNvPr>
          <p:cNvPicPr>
            <a:picLocks noChangeAspect="1"/>
          </p:cNvPicPr>
          <p:nvPr/>
        </p:nvPicPr>
        <p:blipFill>
          <a:blip r:embed="rId2"/>
          <a:stretch>
            <a:fillRect/>
          </a:stretch>
        </p:blipFill>
        <p:spPr>
          <a:xfrm>
            <a:off x="4723028" y="2228850"/>
            <a:ext cx="251460" cy="251460"/>
          </a:xfrm>
          <a:prstGeom prst="rect">
            <a:avLst/>
          </a:prstGeom>
        </p:spPr>
      </p:pic>
      <p:sp>
        <p:nvSpPr>
          <p:cNvPr id="12" name="Text 8"/>
          <p:cNvSpPr txBox="1"/>
          <p:nvPr/>
        </p:nvSpPr>
        <p:spPr>
          <a:xfrm>
            <a:off x="5283098" y="2130552"/>
            <a:ext cx="2357018" cy="384048"/>
          </a:xfrm>
          <a:prstGeom prst="rect">
            <a:avLst/>
          </a:prstGeom>
          <a:noFill/>
          <a:ln/>
        </p:spPr>
        <p:txBody>
          <a:bodyPr wrap="square" lIns="0" tIns="0" rIns="0" bIns="0" rtlCol="0" anchor="t"/>
          <a:lstStyle/>
          <a:p>
            <a:pPr indent="0" marL="0">
              <a:buNone/>
            </a:pPr>
            <a:r>
              <a:rPr lang="en-US" sz="1800" b="1" dirty="0">
                <a:solidFill>
                  <a:schemeClr val="tx1"/>
                </a:solidFill>
              </a:rPr>
              <a:t>Strict types</a:t>
            </a:r>
            <a:endParaRPr lang="en-US" sz="1800" dirty="0"/>
          </a:p>
        </p:txBody>
      </p:sp>
      <p:sp>
        <p:nvSpPr>
          <p:cNvPr id="13" name="Text 9"/>
          <p:cNvSpPr txBox="1"/>
          <p:nvPr/>
        </p:nvSpPr>
        <p:spPr>
          <a:xfrm>
            <a:off x="5283098" y="256032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mypy --strict across the package</a:t>
            </a:r>
            <a:endParaRPr lang="en-US" sz="1400" dirty="0"/>
          </a:p>
        </p:txBody>
      </p:sp>
      <p:sp>
        <p:nvSpPr>
          <p:cNvPr id="14" name="gate"/>
          <p:cNvSpPr/>
          <p:nvPr/>
        </p:nvSpPr>
        <p:spPr>
          <a:xfrm>
            <a:off x="8097317" y="1783080"/>
            <a:ext cx="3545738" cy="1783080"/>
          </a:xfrm>
          <a:prstGeom prst="roundRect">
            <a:avLst>
              <a:gd name="adj" fmla="val 5128"/>
            </a:avLst>
          </a:prstGeom>
          <a:solidFill>
            <a:schemeClr val="bg1"/>
          </a:solidFill>
          <a:ln w="12700">
            <a:solidFill>
              <a:schemeClr val="accent6"/>
            </a:solidFill>
            <a:prstDash val="solid"/>
          </a:ln>
        </p:spPr>
      </p:sp>
      <p:sp>
        <p:nvSpPr>
          <p:cNvPr id="15" name="icon-bg"/>
          <p:cNvSpPr/>
          <p:nvPr/>
        </p:nvSpPr>
        <p:spPr>
          <a:xfrm>
            <a:off x="8371637" y="2103120"/>
            <a:ext cx="502920" cy="502920"/>
          </a:xfrm>
          <a:prstGeom prst="ellipse">
            <a:avLst/>
          </a:prstGeom>
          <a:solidFill>
            <a:schemeClr val="accent1"/>
          </a:solidFill>
          <a:ln/>
        </p:spPr>
      </p:sp>
      <p:pic>
        <p:nvPicPr>
          <p:cNvPr id="16" name="icon" descr="preencoded.png">    </p:cNvPr>
          <p:cNvPicPr>
            <a:picLocks noChangeAspect="1"/>
          </p:cNvPicPr>
          <p:nvPr/>
        </p:nvPicPr>
        <p:blipFill>
          <a:blip r:embed="rId3"/>
          <a:stretch>
            <a:fillRect/>
          </a:stretch>
        </p:blipFill>
        <p:spPr>
          <a:xfrm>
            <a:off x="8497367" y="2228850"/>
            <a:ext cx="251460" cy="251460"/>
          </a:xfrm>
          <a:prstGeom prst="rect">
            <a:avLst/>
          </a:prstGeom>
        </p:spPr>
      </p:pic>
      <p:sp>
        <p:nvSpPr>
          <p:cNvPr id="17" name="Text 12"/>
          <p:cNvSpPr txBox="1"/>
          <p:nvPr/>
        </p:nvSpPr>
        <p:spPr>
          <a:xfrm>
            <a:off x="9057437" y="2130552"/>
            <a:ext cx="2357018" cy="384048"/>
          </a:xfrm>
          <a:prstGeom prst="rect">
            <a:avLst/>
          </a:prstGeom>
          <a:noFill/>
          <a:ln/>
        </p:spPr>
        <p:txBody>
          <a:bodyPr wrap="square" lIns="0" tIns="0" rIns="0" bIns="0" rtlCol="0" anchor="t"/>
          <a:lstStyle/>
          <a:p>
            <a:pPr indent="0" marL="0">
              <a:buNone/>
            </a:pPr>
            <a:r>
              <a:rPr lang="en-US" sz="1800" b="1" dirty="0">
                <a:solidFill>
                  <a:schemeClr val="tx1"/>
                </a:solidFill>
              </a:rPr>
              <a:t>Tests</a:t>
            </a:r>
            <a:endParaRPr lang="en-US" sz="1800" dirty="0"/>
          </a:p>
        </p:txBody>
      </p:sp>
      <p:sp>
        <p:nvSpPr>
          <p:cNvPr id="18" name="Text 13"/>
          <p:cNvSpPr txBox="1"/>
          <p:nvPr/>
        </p:nvSpPr>
        <p:spPr>
          <a:xfrm>
            <a:off x="9057437" y="256032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72 tests, 96% coverage, 80% gate, Python 3.10–3.12</a:t>
            </a:r>
            <a:endParaRPr lang="en-US" sz="1400" dirty="0"/>
          </a:p>
        </p:txBody>
      </p:sp>
      <p:sp>
        <p:nvSpPr>
          <p:cNvPr id="19" name="gate"/>
          <p:cNvSpPr/>
          <p:nvPr/>
        </p:nvSpPr>
        <p:spPr>
          <a:xfrm>
            <a:off x="548640" y="3794760"/>
            <a:ext cx="3545738" cy="1783080"/>
          </a:xfrm>
          <a:prstGeom prst="roundRect">
            <a:avLst>
              <a:gd name="adj" fmla="val 5128"/>
            </a:avLst>
          </a:prstGeom>
          <a:solidFill>
            <a:schemeClr val="bg1"/>
          </a:solidFill>
          <a:ln w="12700">
            <a:solidFill>
              <a:schemeClr val="accent6"/>
            </a:solidFill>
            <a:prstDash val="solid"/>
          </a:ln>
        </p:spPr>
      </p:sp>
      <p:sp>
        <p:nvSpPr>
          <p:cNvPr id="20" name="icon-bg"/>
          <p:cNvSpPr/>
          <p:nvPr/>
        </p:nvSpPr>
        <p:spPr>
          <a:xfrm>
            <a:off x="822960" y="4114800"/>
            <a:ext cx="502920" cy="502920"/>
          </a:xfrm>
          <a:prstGeom prst="ellipse">
            <a:avLst/>
          </a:prstGeom>
          <a:solidFill>
            <a:schemeClr val="accent1"/>
          </a:solidFill>
          <a:ln/>
        </p:spPr>
      </p:sp>
      <p:pic>
        <p:nvPicPr>
          <p:cNvPr id="21" name="icon" descr="preencoded.png">    </p:cNvPr>
          <p:cNvPicPr>
            <a:picLocks noChangeAspect="1"/>
          </p:cNvPicPr>
          <p:nvPr/>
        </p:nvPicPr>
        <p:blipFill>
          <a:blip r:embed="rId4"/>
          <a:stretch>
            <a:fillRect/>
          </a:stretch>
        </p:blipFill>
        <p:spPr>
          <a:xfrm>
            <a:off x="948690" y="4240530"/>
            <a:ext cx="251460" cy="251460"/>
          </a:xfrm>
          <a:prstGeom prst="rect">
            <a:avLst/>
          </a:prstGeom>
        </p:spPr>
      </p:pic>
      <p:sp>
        <p:nvSpPr>
          <p:cNvPr id="22" name="Text 16"/>
          <p:cNvSpPr txBox="1"/>
          <p:nvPr/>
        </p:nvSpPr>
        <p:spPr>
          <a:xfrm>
            <a:off x="1508760" y="4142232"/>
            <a:ext cx="2357018" cy="384048"/>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23" name="Text 17"/>
          <p:cNvSpPr txBox="1"/>
          <p:nvPr/>
        </p:nvSpPr>
        <p:spPr>
          <a:xfrm>
            <a:off x="1508760" y="457200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Bandit, pip-audit and CodeQL on every push</a:t>
            </a:r>
            <a:endParaRPr lang="en-US" sz="1400" dirty="0"/>
          </a:p>
        </p:txBody>
      </p:sp>
      <p:sp>
        <p:nvSpPr>
          <p:cNvPr id="24" name="gate"/>
          <p:cNvSpPr/>
          <p:nvPr/>
        </p:nvSpPr>
        <p:spPr>
          <a:xfrm>
            <a:off x="4322978" y="3794760"/>
            <a:ext cx="3545738" cy="1783080"/>
          </a:xfrm>
          <a:prstGeom prst="roundRect">
            <a:avLst>
              <a:gd name="adj" fmla="val 5128"/>
            </a:avLst>
          </a:prstGeom>
          <a:solidFill>
            <a:schemeClr val="bg1"/>
          </a:solidFill>
          <a:ln w="12700">
            <a:solidFill>
              <a:schemeClr val="accent6"/>
            </a:solidFill>
            <a:prstDash val="solid"/>
          </a:ln>
        </p:spPr>
      </p:sp>
      <p:sp>
        <p:nvSpPr>
          <p:cNvPr id="25" name="icon-bg"/>
          <p:cNvSpPr/>
          <p:nvPr/>
        </p:nvSpPr>
        <p:spPr>
          <a:xfrm>
            <a:off x="4597298" y="4114800"/>
            <a:ext cx="502920" cy="502920"/>
          </a:xfrm>
          <a:prstGeom prst="ellipse">
            <a:avLst/>
          </a:prstGeom>
          <a:solidFill>
            <a:schemeClr val="accent1"/>
          </a:solidFill>
          <a:ln/>
        </p:spPr>
      </p:sp>
      <p:pic>
        <p:nvPicPr>
          <p:cNvPr id="26" name="icon" descr="preencoded.png">    </p:cNvPr>
          <p:cNvPicPr>
            <a:picLocks noChangeAspect="1"/>
          </p:cNvPicPr>
          <p:nvPr/>
        </p:nvPicPr>
        <p:blipFill>
          <a:blip r:embed="rId5"/>
          <a:stretch>
            <a:fillRect/>
          </a:stretch>
        </p:blipFill>
        <p:spPr>
          <a:xfrm>
            <a:off x="4723028" y="4240530"/>
            <a:ext cx="251460" cy="251460"/>
          </a:xfrm>
          <a:prstGeom prst="rect">
            <a:avLst/>
          </a:prstGeom>
        </p:spPr>
      </p:pic>
      <p:sp>
        <p:nvSpPr>
          <p:cNvPr id="27" name="Text 20"/>
          <p:cNvSpPr txBox="1"/>
          <p:nvPr/>
        </p:nvSpPr>
        <p:spPr>
          <a:xfrm>
            <a:off x="5283098" y="4142232"/>
            <a:ext cx="2357018" cy="384048"/>
          </a:xfrm>
          <a:prstGeom prst="rect">
            <a:avLst/>
          </a:prstGeom>
          <a:noFill/>
          <a:ln/>
        </p:spPr>
        <p:txBody>
          <a:bodyPr wrap="square" lIns="0" tIns="0" rIns="0" bIns="0" rtlCol="0" anchor="t"/>
          <a:lstStyle/>
          <a:p>
            <a:pPr indent="0" marL="0">
              <a:buNone/>
            </a:pPr>
            <a:r>
              <a:rPr lang="en-US" sz="1800" b="1" dirty="0">
                <a:solidFill>
                  <a:schemeClr val="tx1"/>
                </a:solidFill>
              </a:rPr>
              <a:t>Container</a:t>
            </a:r>
            <a:endParaRPr lang="en-US" sz="1800" dirty="0"/>
          </a:p>
        </p:txBody>
      </p:sp>
      <p:sp>
        <p:nvSpPr>
          <p:cNvPr id="28" name="Text 21"/>
          <p:cNvSpPr txBox="1"/>
          <p:nvPr/>
        </p:nvSpPr>
        <p:spPr>
          <a:xfrm>
            <a:off x="5283098" y="457200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Multi-stage Docker image, non-root, health check</a:t>
            </a:r>
            <a:endParaRPr lang="en-US" sz="1400" dirty="0"/>
          </a:p>
        </p:txBody>
      </p:sp>
      <p:sp>
        <p:nvSpPr>
          <p:cNvPr id="29" name="gate"/>
          <p:cNvSpPr/>
          <p:nvPr/>
        </p:nvSpPr>
        <p:spPr>
          <a:xfrm>
            <a:off x="8097317" y="3794760"/>
            <a:ext cx="3545738" cy="1783080"/>
          </a:xfrm>
          <a:prstGeom prst="roundRect">
            <a:avLst>
              <a:gd name="adj" fmla="val 5128"/>
            </a:avLst>
          </a:prstGeom>
          <a:solidFill>
            <a:schemeClr val="bg1"/>
          </a:solidFill>
          <a:ln w="12700">
            <a:solidFill>
              <a:schemeClr val="accent6"/>
            </a:solidFill>
            <a:prstDash val="solid"/>
          </a:ln>
        </p:spPr>
      </p:sp>
      <p:sp>
        <p:nvSpPr>
          <p:cNvPr id="30" name="icon-bg"/>
          <p:cNvSpPr/>
          <p:nvPr/>
        </p:nvSpPr>
        <p:spPr>
          <a:xfrm>
            <a:off x="8371637" y="4114800"/>
            <a:ext cx="502920" cy="502920"/>
          </a:xfrm>
          <a:prstGeom prst="ellipse">
            <a:avLst/>
          </a:prstGeom>
          <a:solidFill>
            <a:schemeClr val="accent1"/>
          </a:solidFill>
          <a:ln/>
        </p:spPr>
      </p:sp>
      <p:pic>
        <p:nvPicPr>
          <p:cNvPr id="31" name="icon" descr="preencoded.png">    </p:cNvPr>
          <p:cNvPicPr>
            <a:picLocks noChangeAspect="1"/>
          </p:cNvPicPr>
          <p:nvPr/>
        </p:nvPicPr>
        <p:blipFill>
          <a:blip r:embed="rId6"/>
          <a:stretch>
            <a:fillRect/>
          </a:stretch>
        </p:blipFill>
        <p:spPr>
          <a:xfrm>
            <a:off x="8497367" y="4240530"/>
            <a:ext cx="251460" cy="251460"/>
          </a:xfrm>
          <a:prstGeom prst="rect">
            <a:avLst/>
          </a:prstGeom>
        </p:spPr>
      </p:pic>
      <p:sp>
        <p:nvSpPr>
          <p:cNvPr id="32" name="Text 24"/>
          <p:cNvSpPr txBox="1"/>
          <p:nvPr/>
        </p:nvSpPr>
        <p:spPr>
          <a:xfrm>
            <a:off x="9057437" y="4142232"/>
            <a:ext cx="2357018" cy="384048"/>
          </a:xfrm>
          <a:prstGeom prst="rect">
            <a:avLst/>
          </a:prstGeom>
          <a:noFill/>
          <a:ln/>
        </p:spPr>
        <p:txBody>
          <a:bodyPr wrap="square" lIns="0" tIns="0" rIns="0" bIns="0" rtlCol="0" anchor="t"/>
          <a:lstStyle/>
          <a:p>
            <a:pPr indent="0" marL="0">
              <a:buNone/>
            </a:pPr>
            <a:r>
              <a:rPr lang="en-US" sz="1800" b="1" dirty="0">
                <a:solidFill>
                  <a:schemeClr val="tx1"/>
                </a:solidFill>
              </a:rPr>
              <a:t>Upkeep</a:t>
            </a:r>
            <a:endParaRPr lang="en-US" sz="1800" dirty="0"/>
          </a:p>
        </p:txBody>
      </p:sp>
      <p:sp>
        <p:nvSpPr>
          <p:cNvPr id="33" name="Text 25"/>
          <p:cNvSpPr txBox="1"/>
          <p:nvPr/>
        </p:nvSpPr>
        <p:spPr>
          <a:xfrm>
            <a:off x="9057437" y="4572000"/>
            <a:ext cx="2357018" cy="868680"/>
          </a:xfrm>
          <a:prstGeom prst="rect">
            <a:avLst/>
          </a:prstGeom>
          <a:noFill/>
          <a:ln/>
        </p:spPr>
        <p:txBody>
          <a:bodyPr wrap="square" lIns="0" tIns="0" rIns="0" bIns="0" rtlCol="0" anchor="t"/>
          <a:lstStyle/>
          <a:p>
            <a:pPr indent="0" marL="0">
              <a:buNone/>
            </a:pPr>
            <a:r>
              <a:rPr lang="en-US" sz="1400" dirty="0">
                <a:solidFill>
                  <a:schemeClr val="accent5"/>
                </a:solidFill>
              </a:rPr>
              <a:t>Dependabot for pip, Actions and Docker</a:t>
            </a:r>
            <a:endParaRPr lang="en-US" sz="1400" dirty="0"/>
          </a:p>
        </p:txBody>
      </p:sp>
      <p:sp>
        <p:nvSpPr>
          <p:cNvPr id="34" name="Text 26"/>
          <p:cNvSpPr txBox="1"/>
          <p:nvPr/>
        </p:nvSpPr>
        <p:spPr>
          <a:xfrm>
            <a:off x="548640" y="5852160"/>
            <a:ext cx="5486400" cy="320040"/>
          </a:xfrm>
          <a:prstGeom prst="rect">
            <a:avLst/>
          </a:prstGeom>
          <a:noFill/>
          <a:ln/>
        </p:spPr>
        <p:txBody>
          <a:bodyPr wrap="square" lIns="0" tIns="0" rIns="0" bIns="0" rtlCol="0" anchor="t"/>
          <a:lstStyle/>
          <a:p>
            <a:pPr indent="0" marL="0">
              <a:buNone/>
            </a:pPr>
            <a:r>
              <a:rPr lang="en-US" sz="1400" b="1" dirty="0">
                <a:solidFill>
                  <a:schemeClr val="accent1"/>
                </a:solidFill>
              </a:rPr>
              <a:t>github.com/albertmwangwa/darubini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SAFETY AND RISKS</a:t>
            </a:r>
            <a:endParaRPr lang="en-US" sz="1200" dirty="0"/>
          </a:p>
        </p:txBody>
      </p:sp>
      <p:sp>
        <p:nvSpPr>
          <p:cNvPr id="3" name="Text 0"/>
          <p:cNvSpPr/>
          <p:nvPr>
            <p:ph idx="101" type="title" hasCustomPrompt="1"/>
          </p:nvPr>
        </p:nvSpPr>
        <p:spPr>
          <a:xfrm>
            <a:off x="548640" y="676656"/>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Decision support, with a fallback for every risk</a:t>
            </a:r>
            <a:endParaRPr lang="en-US" sz="3200" dirty="0"/>
          </a:p>
        </p:txBody>
      </p:sp>
      <p:sp>
        <p:nvSpPr>
          <p:cNvPr id="4" name="safety"/>
          <p:cNvSpPr/>
          <p:nvPr/>
        </p:nvSpPr>
        <p:spPr>
          <a:xfrm>
            <a:off x="548640" y="1783080"/>
            <a:ext cx="4754880" cy="3429000"/>
          </a:xfrm>
          <a:prstGeom prst="roundRect">
            <a:avLst>
              <a:gd name="adj" fmla="val 2667"/>
            </a:avLst>
          </a:prstGeom>
          <a:solidFill>
            <a:schemeClr val="bg2"/>
          </a:solidFill>
          <a:ln w="12700">
            <a:solidFill>
              <a:schemeClr val="bg2"/>
            </a:solidFill>
            <a:prstDash val="solid"/>
          </a:ln>
        </p:spPr>
      </p:sp>
      <p:sp>
        <p:nvSpPr>
          <p:cNvPr id="5" name="Text 3"/>
          <p:cNvSpPr txBox="1"/>
          <p:nvPr/>
        </p:nvSpPr>
        <p:spPr>
          <a:xfrm>
            <a:off x="868680" y="2011680"/>
            <a:ext cx="4206240" cy="365760"/>
          </a:xfrm>
          <a:prstGeom prst="rect">
            <a:avLst/>
          </a:prstGeom>
          <a:noFill/>
          <a:ln/>
        </p:spPr>
        <p:txBody>
          <a:bodyPr wrap="square" lIns="0" tIns="0" rIns="0" bIns="0" rtlCol="0" anchor="t"/>
          <a:lstStyle/>
          <a:p>
            <a:pPr indent="0" marL="0">
              <a:buNone/>
            </a:pPr>
            <a:r>
              <a:rPr lang="en-US" sz="1800" b="1" dirty="0">
                <a:solidFill>
                  <a:schemeClr val="tx1"/>
                </a:solidFill>
              </a:rPr>
              <a:t>Responsible by design</a:t>
            </a:r>
            <a:endParaRPr lang="en-US" sz="1800" dirty="0"/>
          </a:p>
        </p:txBody>
      </p:sp>
      <p:sp>
        <p:nvSpPr>
          <p:cNvPr id="6" name="Text 4"/>
          <p:cNvSpPr txBox="1"/>
          <p:nvPr/>
        </p:nvSpPr>
        <p:spPr>
          <a:xfrm>
            <a:off x="868680" y="2514600"/>
            <a:ext cx="4206240"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tx1"/>
                </a:solidFill>
              </a:rPr>
              <a:t>A microscopist confirms every result</a:t>
            </a:r>
            <a:endParaRPr lang="en-US" sz="1500" dirty="0"/>
          </a:p>
          <a:p>
            <a:pPr marL="342900" indent="-342900">
              <a:spcAft>
                <a:spcPts val="900"/>
              </a:spcAft>
              <a:buSzPct val="100000"/>
              <a:buChar char="•"/>
            </a:pPr>
            <a:r>
              <a:rPr lang="en-US" sz="1500" dirty="0">
                <a:solidFill>
                  <a:schemeClr val="tx1"/>
                </a:solidFill>
              </a:rPr>
              <a:t>Numbers come from code, never the language model</a:t>
            </a:r>
            <a:endParaRPr lang="en-US" sz="1500" dirty="0"/>
          </a:p>
          <a:p>
            <a:pPr marL="342900" indent="-342900">
              <a:spcAft>
                <a:spcPts val="900"/>
              </a:spcAft>
              <a:buSzPct val="100000"/>
              <a:buChar char="•"/>
            </a:pPr>
            <a:r>
              <a:rPr lang="en-US" sz="1500" dirty="0">
                <a:solidFill>
                  <a:schemeClr val="tx1"/>
                </a:solidFill>
              </a:rPr>
              <a:t>Doubtful fields are flagged, not hidden</a:t>
            </a:r>
            <a:endParaRPr lang="en-US" sz="1500" dirty="0"/>
          </a:p>
          <a:p>
            <a:pPr marL="342900" indent="-342900">
              <a:spcAft>
                <a:spcPts val="900"/>
              </a:spcAft>
              <a:buSzPct val="100000"/>
              <a:buChar char="•"/>
            </a:pPr>
            <a:r>
              <a:rPr lang="en-US" sz="1500" dirty="0">
                <a:solidFill>
                  <a:schemeClr val="tx1"/>
                </a:solidFill>
              </a:rPr>
              <a:t>Limits published in a model card</a:t>
            </a:r>
            <a:endParaRPr lang="en-US" sz="1500" dirty="0"/>
          </a:p>
          <a:p>
            <a:pPr marL="342900" indent="-342900">
              <a:spcAft>
                <a:spcPts val="900"/>
              </a:spcAft>
              <a:buSzPct val="100000"/>
              <a:buChar char="•"/>
            </a:pPr>
            <a:r>
              <a:rPr lang="en-US" sz="1500" dirty="0">
                <a:solidFill>
                  <a:schemeClr val="tx1"/>
                </a:solidFill>
              </a:rPr>
              <a:t>No patient identifiers stored</a:t>
            </a:r>
            <a:endParaRPr lang="en-US" sz="1500" dirty="0"/>
          </a:p>
        </p:txBody>
      </p:sp>
      <p:graphicFrame>
        <p:nvGraphicFramePr>
          <p:cNvPr id="12" name="risks"/>
          <p:cNvGraphicFramePr>
            <a:graphicFrameLocks noGrp="1"/>
          </p:cNvGraphicFramePr>
          <p:nvPr>
            <p:extLst>
              <p:ext uri="{D42A27DB-BD31-4B8C-83A1-F6EECF244321}">
                <p14:modId xmlns:p14="http://schemas.microsoft.com/office/powerpoint/2010/main" val="1579011935"/>
              </p:ext>
            </p:extLst>
          </p:nvPr>
        </p:nvGraphicFramePr>
        <p:xfrm>
          <a:off x="5532120" y="1783080"/>
          <a:ext cx="6108192" cy="914400"/>
        </p:xfrm>
        <a:graphic>
          <a:graphicData uri="http://schemas.openxmlformats.org/drawingml/2006/table">
            <a:tbl>
              <a:tblPr/>
              <a:tblGrid>
                <a:gridCol w="2514600"/>
                <a:gridCol w="3593592"/>
              </a:tblGrid>
              <a:tr h="0">
                <a:tc>
                  <a:txBody>
                    <a:bodyPr/>
                    <a:lstStyle/>
                    <a:p>
                      <a:pPr indent="0" marL="0">
                        <a:buNone/>
                      </a:pPr>
                      <a:r>
                        <a:rPr lang="en-US" sz="1200" b="1" dirty="0">
                          <a:solidFill>
                            <a:schemeClr val="accent5"/>
                          </a:solidFill>
                        </a:rPr>
                        <a:t>Risk</a:t>
                      </a:r>
                      <a:endParaRPr lang="en-US" sz="12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5"/>
                          </a:solidFill>
                        </a:rPr>
                        <a:t>Fallback</a:t>
                      </a:r>
                      <a:endParaRPr lang="en-US" sz="12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rPr>
                        <a:t>SAM 3 misses tiny ring forms</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Exemplars, tiled crops, baseline candidates checked by SAM 3</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0">
                <a:tc>
                  <a:txBody>
                    <a:bodyPr/>
                    <a:lstStyle/>
                    <a:p>
                      <a:pPr indent="0" marL="0">
                        <a:buNone/>
                      </a:pPr>
                      <a:r>
                        <a:rPr lang="en-US" sz="1400" dirty="0">
                          <a:solidFill>
                            <a:schemeClr val="tx1"/>
                          </a:solidFill>
                        </a:rPr>
                        <a:t>US$150 of API credits runs out</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Cache every response; fixed 300-image ablation subset</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0">
                <a:tc>
                  <a:txBody>
                    <a:bodyPr/>
                    <a:lstStyle/>
                    <a:p>
                      <a:pPr indent="0" marL="0">
                        <a:buNone/>
                      </a:pPr>
                      <a:r>
                        <a:rPr lang="en-US" sz="1400" dirty="0">
                          <a:solidFill>
                            <a:schemeClr val="tx1"/>
                          </a:solidFill>
                        </a:rPr>
                        <a:t>API shape differs from assumptions</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One adapter file changes; the rest is tested on mocks</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0">
                <a:tc>
                  <a:txBody>
                    <a:bodyPr/>
                    <a:lstStyle/>
                    <a:p>
                      <a:pPr indent="0" marL="0">
                        <a:buNone/>
                      </a:pPr>
                      <a:r>
                        <a:rPr lang="en-US" sz="1400" dirty="0">
                          <a:solidFill>
                            <a:schemeClr val="tx1"/>
                          </a:solidFill>
                        </a:rPr>
                        <a:t>Power or network cut in Dar</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400" dirty="0">
                          <a:solidFill>
                            <a:schemeClr val="tx1"/>
                          </a:solidFill>
                        </a:rPr>
                        <a:t>UPS, mobile data, cloud workspace; video recorded by day 9</a:t>
                      </a:r>
                      <a:endParaRPr lang="en-US" sz="1400" dirty="0"/>
                    </a:p>
                  </a:txBody>
                  <a:tcPr marL="137160" marR="137160" marT="73152" marB="73152"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64008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Ten days from repository to live microscope</a:t>
            </a:r>
            <a:endParaRPr lang="en-US" sz="3600" dirty="0"/>
          </a:p>
        </p:txBody>
      </p:sp>
      <p:sp>
        <p:nvSpPr>
          <p:cNvPr id="3" name="Text 1"/>
          <p:cNvSpPr txBox="1"/>
          <p:nvPr/>
        </p:nvSpPr>
        <p:spPr>
          <a:xfrm>
            <a:off x="548640" y="182880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Mon 26 Oct</a:t>
            </a:r>
            <a:endParaRPr lang="en-US" sz="1800" dirty="0"/>
          </a:p>
        </p:txBody>
      </p:sp>
      <p:sp>
        <p:nvSpPr>
          <p:cNvPr id="4" name="Text 2"/>
          <p:cNvSpPr txBox="1"/>
          <p:nvPr/>
        </p:nvSpPr>
        <p:spPr>
          <a:xfrm>
            <a:off x="2926080" y="1828800"/>
            <a:ext cx="8595360" cy="457200"/>
          </a:xfrm>
          <a:prstGeom prst="rect">
            <a:avLst/>
          </a:prstGeom>
          <a:noFill/>
          <a:ln/>
        </p:spPr>
        <p:txBody>
          <a:bodyPr wrap="square" lIns="0" tIns="0" rIns="0" bIns="0" rtlCol="0" anchor="t"/>
          <a:lstStyle/>
          <a:p>
            <a:pPr indent="0" marL="0">
              <a:buNone/>
            </a:pPr>
            <a:r>
              <a:rPr lang="en-US" sz="2000" dirty="0">
                <a:solidFill>
                  <a:schemeClr val="bg1"/>
                </a:solidFill>
              </a:rPr>
              <a:t>Kickoff: wire SAM 3 and Muse Spark into the adapter</a:t>
            </a:r>
            <a:endParaRPr lang="en-US" sz="2000" dirty="0"/>
          </a:p>
        </p:txBody>
      </p:sp>
      <p:sp>
        <p:nvSpPr>
          <p:cNvPr id="5" name="Text 3"/>
          <p:cNvSpPr txBox="1"/>
          <p:nvPr/>
        </p:nvSpPr>
        <p:spPr>
          <a:xfrm>
            <a:off x="548640" y="269748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Thu 29 Oct</a:t>
            </a:r>
            <a:endParaRPr lang="en-US" sz="1800" dirty="0"/>
          </a:p>
        </p:txBody>
      </p:sp>
      <p:sp>
        <p:nvSpPr>
          <p:cNvPr id="6" name="Text 4"/>
          <p:cNvSpPr txBox="1"/>
          <p:nvPr/>
        </p:nvSpPr>
        <p:spPr>
          <a:xfrm>
            <a:off x="2926080" y="2697480"/>
            <a:ext cx="8595360" cy="457200"/>
          </a:xfrm>
          <a:prstGeom prst="rect">
            <a:avLst/>
          </a:prstGeom>
          <a:noFill/>
          <a:ln/>
        </p:spPr>
        <p:txBody>
          <a:bodyPr wrap="square" lIns="0" tIns="0" rIns="0" bIns="0" rtlCol="0" anchor="t"/>
          <a:lstStyle/>
          <a:p>
            <a:pPr indent="0" marL="0">
              <a:buNone/>
            </a:pPr>
            <a:r>
              <a:rPr lang="en-US" sz="2000" dirty="0">
                <a:solidFill>
                  <a:schemeClr val="bg1"/>
                </a:solidFill>
              </a:rPr>
              <a:t>First results on Tanzanian slides</a:t>
            </a:r>
            <a:endParaRPr lang="en-US" sz="2000" dirty="0"/>
          </a:p>
        </p:txBody>
      </p:sp>
      <p:sp>
        <p:nvSpPr>
          <p:cNvPr id="7" name="Text 5"/>
          <p:cNvSpPr txBox="1"/>
          <p:nvPr/>
        </p:nvSpPr>
        <p:spPr>
          <a:xfrm>
            <a:off x="548640" y="356616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Mon 2 Nov</a:t>
            </a:r>
            <a:endParaRPr lang="en-US" sz="1800" dirty="0"/>
          </a:p>
        </p:txBody>
      </p:sp>
      <p:sp>
        <p:nvSpPr>
          <p:cNvPr id="8" name="Text 6"/>
          <p:cNvSpPr txBox="1"/>
          <p:nvPr/>
        </p:nvSpPr>
        <p:spPr>
          <a:xfrm>
            <a:off x="2926080" y="3566160"/>
            <a:ext cx="8595360" cy="457200"/>
          </a:xfrm>
          <a:prstGeom prst="rect">
            <a:avLst/>
          </a:prstGeom>
          <a:noFill/>
          <a:ln/>
        </p:spPr>
        <p:txBody>
          <a:bodyPr wrap="square" lIns="0" tIns="0" rIns="0" bIns="0" rtlCol="0" anchor="t"/>
          <a:lstStyle/>
          <a:p>
            <a:pPr indent="0" marL="0">
              <a:buNone/>
            </a:pPr>
            <a:r>
              <a:rPr lang="en-US" sz="2000" dirty="0">
                <a:solidFill>
                  <a:schemeClr val="bg1"/>
                </a:solidFill>
              </a:rPr>
              <a:t>Live lab session in Dar es Salaam; feature freeze</a:t>
            </a:r>
            <a:endParaRPr lang="en-US" sz="2000" dirty="0"/>
          </a:p>
        </p:txBody>
      </p:sp>
      <p:sp>
        <p:nvSpPr>
          <p:cNvPr id="9" name="Text 7"/>
          <p:cNvSpPr txBox="1"/>
          <p:nvPr/>
        </p:nvSpPr>
        <p:spPr>
          <a:xfrm>
            <a:off x="548640" y="4434840"/>
            <a:ext cx="2194560" cy="457200"/>
          </a:xfrm>
          <a:prstGeom prst="rect">
            <a:avLst/>
          </a:prstGeom>
          <a:noFill/>
          <a:ln/>
        </p:spPr>
        <p:txBody>
          <a:bodyPr wrap="square" lIns="0" tIns="0" rIns="0" bIns="0" rtlCol="0" anchor="t"/>
          <a:lstStyle/>
          <a:p>
            <a:pPr indent="0" marL="0">
              <a:buNone/>
            </a:pPr>
            <a:r>
              <a:rPr lang="en-US" sz="1800" b="1" dirty="0">
                <a:solidFill>
                  <a:srgbClr val="93C5FD"/>
                </a:solidFill>
              </a:rPr>
              <a:t>Wed 4 Nov</a:t>
            </a:r>
            <a:endParaRPr lang="en-US" sz="1800" dirty="0"/>
          </a:p>
        </p:txBody>
      </p:sp>
      <p:sp>
        <p:nvSpPr>
          <p:cNvPr id="10" name="Text 8"/>
          <p:cNvSpPr txBox="1"/>
          <p:nvPr/>
        </p:nvSpPr>
        <p:spPr>
          <a:xfrm>
            <a:off x="2926080" y="4434840"/>
            <a:ext cx="8595360" cy="457200"/>
          </a:xfrm>
          <a:prstGeom prst="rect">
            <a:avLst/>
          </a:prstGeom>
          <a:noFill/>
          <a:ln/>
        </p:spPr>
        <p:txBody>
          <a:bodyPr wrap="square" lIns="0" tIns="0" rIns="0" bIns="0" rtlCol="0" anchor="t"/>
          <a:lstStyle/>
          <a:p>
            <a:pPr indent="0" marL="0">
              <a:buNone/>
            </a:pPr>
            <a:r>
              <a:rPr lang="en-US" sz="2000" dirty="0">
                <a:solidFill>
                  <a:schemeClr val="bg1"/>
                </a:solidFill>
              </a:rPr>
              <a:t>Submit, 11 hours before the deadline</a:t>
            </a:r>
            <a:endParaRPr lang="en-US" sz="2000" dirty="0"/>
          </a:p>
        </p:txBody>
      </p:sp>
      <p:sp>
        <p:nvSpPr>
          <p:cNvPr id="11" name="Text 9"/>
          <p:cNvSpPr txBox="1"/>
          <p:nvPr/>
        </p:nvSpPr>
        <p:spPr>
          <a:xfrm>
            <a:off x="548640" y="5532120"/>
            <a:ext cx="11094415" cy="365760"/>
          </a:xfrm>
          <a:prstGeom prst="rect">
            <a:avLst/>
          </a:prstGeom>
          <a:noFill/>
          <a:ln/>
        </p:spPr>
        <p:txBody>
          <a:bodyPr wrap="square" lIns="0" tIns="0" rIns="0" bIns="0" rtlCol="0" anchor="t"/>
          <a:lstStyle/>
          <a:p>
            <a:pPr indent="0" marL="0">
              <a:buNone/>
            </a:pPr>
            <a:r>
              <a:rPr lang="en-US" sz="1400" i="1" dirty="0">
                <a:solidFill>
                  <a:srgbClr val="BFDBFE"/>
                </a:solidFill>
              </a:rPr>
              <a:t>Darubini is decision support, not a diagnostic device. A qualified microscopist confirms every result.</a:t>
            </a:r>
            <a:endParaRPr lang="en-US" sz="1400" dirty="0"/>
          </a:p>
        </p:txBody>
      </p:sp>
      <p:sp>
        <p:nvSpPr>
          <p:cNvPr id="12" name="Text 10"/>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400" b="1" dirty="0">
                <a:solidFill>
                  <a:srgbClr val="93C5FD"/>
                </a:solidFill>
              </a:rPr>
              <a:t>github.com/albertmwangwa/darubini  ·  Albert William Mwangwa</a:t>
            </a:r>
            <a:endParaRPr lang="en-US" sz="1400" dirty="0"/>
          </a:p>
        </p:txBody>
      </p:sp>
    </p:spTree>
  </p:cSld>
  <p:clrMapOvr>
    <a:masterClrMapping/>
  </p:clrMapOvr>
</p:sld>
</file>

<file path=ppt/theme/theme1.xml><?xml version="1.0" encoding="utf-8"?>
<a:theme xmlns:a="http://schemas.openxmlformats.org/drawingml/2006/main" name="Darubini Blue">
  <a:themeElements>
    <a:clrScheme name="Darubini Blue">
      <a:dk1>
        <a:srgbClr val="0F172A"/>
      </a:dk1>
      <a:lt1>
        <a:srgbClr val="FFFFFF"/>
      </a:lt1>
      <a:dk2>
        <a:srgbClr val="0B1B3F"/>
      </a:dk2>
      <a:lt2>
        <a:srgbClr val="EFF6FF"/>
      </a:lt2>
      <a:accent1>
        <a:srgbClr val="2563EB"/>
      </a:accent1>
      <a:accent2>
        <a:srgbClr val="6D3FA0"/>
      </a:accent2>
      <a:accent3>
        <a:srgbClr val="16A34A"/>
      </a:accent3>
      <a:accent4>
        <a:srgbClr val="D97706"/>
      </a:accent4>
      <a:accent5>
        <a:srgbClr val="64748B"/>
      </a:accent5>
      <a:accent6>
        <a:srgbClr val="E2E8F0"/>
      </a:accent6>
      <a:hlink>
        <a:srgbClr val="2563EB"/>
      </a:hlink>
      <a:folHlink>
        <a:srgbClr val="1E40AF"/>
      </a:folHlink>
    </a:clrScheme>
    <a:fontScheme name="Darubini Blue">
      <a:majorFont>
        <a:latin typeface="Plus Jakarta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lus Jakarta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Darubini: malaria microscopy copilot</dc:title>
  <dc:subject>PptxGenJS Presentation</dc:subject>
  <dc:creator>Albert William Mwangwa</dc:creator>
  <cp:lastModifiedBy>Albert William Mwangwa</cp:lastModifiedBy>
  <cp:revision>1</cp:revision>
  <dcterms:created xsi:type="dcterms:W3CDTF">2026-10-24T04:02:24Z</dcterms:created>
  <dcterms:modified xsi:type="dcterms:W3CDTF">2026-10-24T04:02:24Z</dcterms:modified>
</cp:coreProperties>
</file>