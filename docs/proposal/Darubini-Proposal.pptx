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1bd92d7b-1b50-aab6-644b-4eb8d7c8970e}">
          <p14:sldIdLst>
            <p14:sldId id="256"/>
          </p14:sldIdLst>
        </p14:section>
        <p14:section name="Problem" id="{b581d66b-50cf-5a7b-41d6-841416278be2}">
          <p14:sldIdLst>
            <p14:sldId id="257"/>
          </p14:sldIdLst>
        </p14:section>
        <p14:section name="Solution" id="{3a51df01-9791-377c-4a7f-4d4f36a960f5}">
          <p14:sldIdLst>
            <p14:sldId id="258"/>
            <p14:sldId id="259"/>
          </p14:sldIdLst>
        </p14:section>
        <p14:section name="Meta AI" id="{816ba1e3-bc84-7fba-2693-9a0aa95fd578}">
          <p14:sldIdLst>
            <p14:sldId id="260"/>
          </p14:sldIdLst>
        </p14:section>
        <p14:section name="Data and evaluation" id="{b727fa07-f8af-8bca-980a-c4cb707b41c9}">
          <p14:sldIdLst>
            <p14:sldId id="261"/>
            <p14:sldId id="262"/>
          </p14:sldIdLst>
        </p14:section>
        <p14:section name="Strategy" id="{9b2b3787-06ad-fba0-11fa-af7a42d68faa}">
          <p14:sldIdLst>
            <p14:sldId id="263"/>
            <p14:sldId id="264"/>
            <p14:sldId id="265"/>
            <p14:sldId id="266"/>
          </p14:sldIdLst>
        </p14:section>
        <p14:section name="Close" id="{a009ba9f-ceae-b08a-1c84-1e821ba9040c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920240"/>
            <a:ext cx="603504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6600" b="1" dirty="0">
                <a:solidFill>
                  <a:schemeClr val="tx1"/>
                </a:solidFill>
              </a:rPr>
              <a:t>Title</a:t>
            </a:r>
            <a:endParaRPr lang="en-US" sz="6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Eyebrow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49808"/>
            <a:ext cx="10911535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Title</a:t>
            </a: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640080" y="6382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Darubini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14630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Meta Global AI Developer Hackathon 2026 · Indie track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8251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8251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640080" y="1234440"/>
            <a:ext cx="1922069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239012"/>
            <a:ext cx="192206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Indie Developer track</a:t>
            </a:r>
            <a:endParaRPr lang="en-US" sz="1050" dirty="0"/>
          </a:p>
        </p:txBody>
      </p:sp>
      <p:sp>
        <p:nvSpPr>
          <p:cNvPr id="4" name="badge"/>
          <p:cNvSpPr/>
          <p:nvPr/>
        </p:nvSpPr>
        <p:spPr>
          <a:xfrm>
            <a:off x="2671877" y="1234440"/>
            <a:ext cx="3271723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EFF6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671877" y="1239012"/>
            <a:ext cx="3271723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</a:rPr>
              <a:t>Meta Global AI Developer Hackathon 2026</a:t>
            </a:r>
            <a:endParaRPr lang="en-US" sz="105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640080" y="1920240"/>
            <a:ext cx="6035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600" b="1" dirty="0">
                <a:solidFill>
                  <a:schemeClr val="tx1"/>
                </a:solidFill>
              </a:rPr>
              <a:t>Darubini</a:t>
            </a:r>
            <a:endParaRPr lang="en-US" sz="6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46120"/>
            <a:ext cx="5943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4748B"/>
                </a:solidFill>
              </a:rPr>
              <a:t>A malaria microscopy copilot. A phone on the eyepiece, SAM 3 finds every parasite and white blood cell, the count follows the WHO thick-film rule, and the report arrives in Kiswahili or English for the microscopist to confirm.</a:t>
            </a:r>
            <a:endParaRPr lang="en-US" sz="1600" dirty="0"/>
          </a:p>
        </p:txBody>
      </p:sp>
      <p:sp>
        <p:nvSpPr>
          <p:cNvPr id="8" name="button-primary"/>
          <p:cNvSpPr/>
          <p:nvPr/>
        </p:nvSpPr>
        <p:spPr>
          <a:xfrm>
            <a:off x="640080" y="475488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4754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github.com/albertmwangwa/darubini</a:t>
            </a:r>
            <a:endParaRPr lang="en-US" sz="1200" dirty="0"/>
          </a:p>
        </p:txBody>
      </p:sp>
      <p:sp>
        <p:nvSpPr>
          <p:cNvPr id="10" name="button-outline"/>
          <p:cNvSpPr/>
          <p:nvPr/>
        </p:nvSpPr>
        <p:spPr>
          <a:xfrm>
            <a:off x="3840480" y="475488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40480" y="4754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Implementation plan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486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Albert William Mwangwa · MSc Data Science, University of Dar es Salaam · Dar es Salaam, Tanzania</a:t>
            </a:r>
            <a:endParaRPr lang="en-US" sz="1100" dirty="0"/>
          </a:p>
        </p:txBody>
      </p:sp>
      <p:sp>
        <p:nvSpPr>
          <p:cNvPr id="13" name="hero-card"/>
          <p:cNvSpPr/>
          <p:nvPr/>
        </p:nvSpPr>
        <p:spPr>
          <a:xfrm>
            <a:off x="7360920" y="914400"/>
            <a:ext cx="4190695" cy="5120640"/>
          </a:xfrm>
          <a:prstGeom prst="roundRect">
            <a:avLst>
              <a:gd name="adj" fmla="val 305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6000"/>
              </a:srgbClr>
            </a:outerShdw>
          </a:effectLst>
        </p:spPr>
      </p:sp>
      <p:sp>
        <p:nvSpPr>
          <p:cNvPr id="14" name="field"/>
          <p:cNvSpPr/>
          <p:nvPr/>
        </p:nvSpPr>
        <p:spPr>
          <a:xfrm>
            <a:off x="7810348" y="1188720"/>
            <a:ext cx="3291840" cy="3291840"/>
          </a:xfrm>
          <a:prstGeom prst="ellipse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wbc"/>
          <p:cNvSpPr/>
          <p:nvPr/>
        </p:nvSpPr>
        <p:spPr>
          <a:xfrm>
            <a:off x="8483679" y="1862051"/>
            <a:ext cx="561109" cy="561109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wbc-box"/>
          <p:cNvSpPr/>
          <p:nvPr/>
        </p:nvSpPr>
        <p:spPr>
          <a:xfrm>
            <a:off x="8393901" y="1772273"/>
            <a:ext cx="740664" cy="740664"/>
          </a:xfrm>
          <a:prstGeom prst="roundRect">
            <a:avLst>
              <a:gd name="adj" fmla="val 7407"/>
            </a:avLst>
          </a:prstGeom>
          <a:solidFill>
            <a:srgbClr val="FFFFFF">
              <a:alpha val="0"/>
            </a:srgbClr>
          </a:solidFill>
          <a:ln w="12700">
            <a:solidFill>
              <a:srgbClr val="64748B"/>
            </a:solidFill>
            <a:prstDash val="dash"/>
          </a:ln>
        </p:spPr>
      </p:sp>
      <p:sp>
        <p:nvSpPr>
          <p:cNvPr id="17" name="wbc"/>
          <p:cNvSpPr/>
          <p:nvPr/>
        </p:nvSpPr>
        <p:spPr>
          <a:xfrm>
            <a:off x="9830340" y="3133898"/>
            <a:ext cx="598516" cy="59851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wbc-box"/>
          <p:cNvSpPr/>
          <p:nvPr/>
        </p:nvSpPr>
        <p:spPr>
          <a:xfrm>
            <a:off x="9740563" y="3044121"/>
            <a:ext cx="778071" cy="778071"/>
          </a:xfrm>
          <a:prstGeom prst="roundRect">
            <a:avLst>
              <a:gd name="adj" fmla="val 7051"/>
            </a:avLst>
          </a:prstGeom>
          <a:solidFill>
            <a:srgbClr val="FFFFFF">
              <a:alpha val="0"/>
            </a:srgbClr>
          </a:solidFill>
          <a:ln w="12700">
            <a:solidFill>
              <a:srgbClr val="64748B"/>
            </a:solidFill>
            <a:prstDash val="dash"/>
          </a:ln>
        </p:spPr>
      </p:sp>
      <p:sp>
        <p:nvSpPr>
          <p:cNvPr id="19" name="wbc"/>
          <p:cNvSpPr/>
          <p:nvPr/>
        </p:nvSpPr>
        <p:spPr>
          <a:xfrm>
            <a:off x="8932566" y="3507971"/>
            <a:ext cx="486295" cy="486295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0" name="wbc-box"/>
          <p:cNvSpPr/>
          <p:nvPr/>
        </p:nvSpPr>
        <p:spPr>
          <a:xfrm>
            <a:off x="8842788" y="3418193"/>
            <a:ext cx="665849" cy="665849"/>
          </a:xfrm>
          <a:prstGeom prst="roundRect">
            <a:avLst>
              <a:gd name="adj" fmla="val 8240"/>
            </a:avLst>
          </a:prstGeom>
          <a:solidFill>
            <a:srgbClr val="FFFFFF">
              <a:alpha val="0"/>
            </a:srgbClr>
          </a:solidFill>
          <a:ln w="12700">
            <a:solidFill>
              <a:srgbClr val="64748B"/>
            </a:solidFill>
            <a:prstDash val="dash"/>
          </a:ln>
        </p:spPr>
      </p:sp>
      <p:sp>
        <p:nvSpPr>
          <p:cNvPr id="21" name="parasite"/>
          <p:cNvSpPr/>
          <p:nvPr/>
        </p:nvSpPr>
        <p:spPr>
          <a:xfrm>
            <a:off x="9531082" y="1862051"/>
            <a:ext cx="112222" cy="11222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2" name="parasite-box"/>
          <p:cNvSpPr/>
          <p:nvPr/>
        </p:nvSpPr>
        <p:spPr>
          <a:xfrm>
            <a:off x="9441305" y="1772273"/>
            <a:ext cx="291777" cy="291777"/>
          </a:xfrm>
          <a:prstGeom prst="roundRect">
            <a:avLst>
              <a:gd name="adj" fmla="val 12536"/>
            </a:avLst>
          </a:prstGeom>
          <a:solidFill>
            <a:srgbClr val="FFFFFF">
              <a:alpha val="0"/>
            </a:srgbClr>
          </a:solidFill>
          <a:ln w="22225">
            <a:solidFill>
              <a:srgbClr val="2563EB"/>
            </a:solidFill>
            <a:prstDash val="solid"/>
          </a:ln>
        </p:spPr>
      </p:sp>
      <p:sp>
        <p:nvSpPr>
          <p:cNvPr id="23" name="parasite"/>
          <p:cNvSpPr/>
          <p:nvPr/>
        </p:nvSpPr>
        <p:spPr>
          <a:xfrm>
            <a:off x="8782937" y="2834640"/>
            <a:ext cx="112222" cy="11222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4" name="parasite-box"/>
          <p:cNvSpPr/>
          <p:nvPr/>
        </p:nvSpPr>
        <p:spPr>
          <a:xfrm>
            <a:off x="8693159" y="2744863"/>
            <a:ext cx="291777" cy="291777"/>
          </a:xfrm>
          <a:prstGeom prst="roundRect">
            <a:avLst>
              <a:gd name="adj" fmla="val 12536"/>
            </a:avLst>
          </a:prstGeom>
          <a:solidFill>
            <a:srgbClr val="FFFFFF">
              <a:alpha val="0"/>
            </a:srgbClr>
          </a:solidFill>
          <a:ln w="22225">
            <a:solidFill>
              <a:srgbClr val="2563EB"/>
            </a:solidFill>
            <a:prstDash val="solid"/>
          </a:ln>
        </p:spPr>
      </p:sp>
      <p:sp>
        <p:nvSpPr>
          <p:cNvPr id="25" name="parasite"/>
          <p:cNvSpPr/>
          <p:nvPr/>
        </p:nvSpPr>
        <p:spPr>
          <a:xfrm>
            <a:off x="10054784" y="2385753"/>
            <a:ext cx="112222" cy="11222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6" name="parasite-box"/>
          <p:cNvSpPr/>
          <p:nvPr/>
        </p:nvSpPr>
        <p:spPr>
          <a:xfrm>
            <a:off x="9965007" y="2295975"/>
            <a:ext cx="291777" cy="291777"/>
          </a:xfrm>
          <a:prstGeom prst="roundRect">
            <a:avLst>
              <a:gd name="adj" fmla="val 12536"/>
            </a:avLst>
          </a:prstGeom>
          <a:solidFill>
            <a:srgbClr val="FFFFFF">
              <a:alpha val="0"/>
            </a:srgbClr>
          </a:solidFill>
          <a:ln w="22225">
            <a:solidFill>
              <a:srgbClr val="2563EB"/>
            </a:solidFill>
            <a:prstDash val="solid"/>
          </a:ln>
        </p:spPr>
      </p:sp>
      <p:sp>
        <p:nvSpPr>
          <p:cNvPr id="27" name="parasite"/>
          <p:cNvSpPr/>
          <p:nvPr/>
        </p:nvSpPr>
        <p:spPr>
          <a:xfrm>
            <a:off x="8371457" y="3096491"/>
            <a:ext cx="112222" cy="11222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8" name="parasite-box"/>
          <p:cNvSpPr/>
          <p:nvPr/>
        </p:nvSpPr>
        <p:spPr>
          <a:xfrm>
            <a:off x="8281679" y="3006713"/>
            <a:ext cx="291777" cy="291777"/>
          </a:xfrm>
          <a:prstGeom prst="roundRect">
            <a:avLst>
              <a:gd name="adj" fmla="val 12536"/>
            </a:avLst>
          </a:prstGeom>
          <a:solidFill>
            <a:srgbClr val="FFFFFF">
              <a:alpha val="0"/>
            </a:srgbClr>
          </a:solidFill>
          <a:ln w="22225">
            <a:solidFill>
              <a:srgbClr val="2563EB"/>
            </a:solidFill>
            <a:prstDash val="solid"/>
          </a:ln>
        </p:spPr>
      </p:sp>
      <p:sp>
        <p:nvSpPr>
          <p:cNvPr id="29" name="parasite"/>
          <p:cNvSpPr/>
          <p:nvPr/>
        </p:nvSpPr>
        <p:spPr>
          <a:xfrm>
            <a:off x="10316635" y="1974273"/>
            <a:ext cx="112222" cy="11222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0" name="parasite-box"/>
          <p:cNvSpPr/>
          <p:nvPr/>
        </p:nvSpPr>
        <p:spPr>
          <a:xfrm>
            <a:off x="10226857" y="1884495"/>
            <a:ext cx="291777" cy="291777"/>
          </a:xfrm>
          <a:prstGeom prst="roundRect">
            <a:avLst>
              <a:gd name="adj" fmla="val 12536"/>
            </a:avLst>
          </a:prstGeom>
          <a:solidFill>
            <a:srgbClr val="FFFFFF">
              <a:alpha val="0"/>
            </a:srgbClr>
          </a:solidFill>
          <a:ln w="22225">
            <a:solidFill>
              <a:srgbClr val="2563EB"/>
            </a:solidFill>
            <a:prstDash val="solid"/>
          </a:ln>
        </p:spPr>
      </p:sp>
      <p:sp>
        <p:nvSpPr>
          <p:cNvPr id="31" name="tally"/>
          <p:cNvSpPr/>
          <p:nvPr/>
        </p:nvSpPr>
        <p:spPr>
          <a:xfrm>
            <a:off x="7635240" y="4617720"/>
            <a:ext cx="1128674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781544" y="4709160"/>
            <a:ext cx="9000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31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7781544" y="5093208"/>
            <a:ext cx="9000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parasites</a:t>
            </a:r>
            <a:endParaRPr lang="en-US" sz="1000" dirty="0"/>
          </a:p>
        </p:txBody>
      </p:sp>
      <p:sp>
        <p:nvSpPr>
          <p:cNvPr id="34" name="tally"/>
          <p:cNvSpPr/>
          <p:nvPr/>
        </p:nvSpPr>
        <p:spPr>
          <a:xfrm>
            <a:off x="8891930" y="4617720"/>
            <a:ext cx="1128674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038234" y="4709160"/>
            <a:ext cx="9000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206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9038234" y="5093208"/>
            <a:ext cx="9000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WBC</a:t>
            </a:r>
            <a:endParaRPr lang="en-US" sz="1000" dirty="0"/>
          </a:p>
        </p:txBody>
      </p:sp>
      <p:sp>
        <p:nvSpPr>
          <p:cNvPr id="37" name="tally"/>
          <p:cNvSpPr/>
          <p:nvPr/>
        </p:nvSpPr>
        <p:spPr>
          <a:xfrm>
            <a:off x="10148621" y="4617720"/>
            <a:ext cx="1128674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10294925" y="4709160"/>
            <a:ext cx="9000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</a:rPr>
              <a:t>1,204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10294925" y="5093208"/>
            <a:ext cx="9000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parasites/µL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7635240" y="5532120"/>
            <a:ext cx="36420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Illustration. 31 × 8,000 ÷ 206 ≈ 1,204 parasites/µL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4980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Counting malaria parasites is slow, skilled work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4416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And the burden is heaviest where trained microscopists are scarcest.</a:t>
            </a:r>
            <a:endParaRPr lang="en-US" sz="1400" dirty="0"/>
          </a:p>
        </p:txBody>
      </p:sp>
      <p:sp>
        <p:nvSpPr>
          <p:cNvPr id="5" name="stat-card"/>
          <p:cNvSpPr/>
          <p:nvPr/>
        </p:nvSpPr>
        <p:spPr>
          <a:xfrm>
            <a:off x="640080" y="1965960"/>
            <a:ext cx="3484778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6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60120" y="2258568"/>
            <a:ext cx="2387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Cases, 2024</a:t>
            </a:r>
            <a:endParaRPr lang="en-US" sz="1200" dirty="0"/>
          </a:p>
        </p:txBody>
      </p:sp>
      <p:sp>
        <p:nvSpPr>
          <p:cNvPr id="7" name="icon-tile"/>
          <p:cNvSpPr/>
          <p:nvPr/>
        </p:nvSpPr>
        <p:spPr>
          <a:xfrm>
            <a:off x="3393338" y="2194560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FF6FF"/>
          </a:solidFill>
          <a:ln/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02701" y="2303922"/>
            <a:ext cx="201900" cy="2019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60120" y="2697480"/>
            <a:ext cx="29361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0F172A"/>
                </a:solidFill>
              </a:rPr>
              <a:t>282M</a:t>
            </a:r>
            <a:endParaRPr lang="en-US" sz="420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3474720"/>
            <a:ext cx="2890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estimated malaria cases worldwide in 2024</a:t>
            </a:r>
            <a:endParaRPr lang="en-US" sz="1300" dirty="0"/>
          </a:p>
        </p:txBody>
      </p:sp>
      <p:sp>
        <p:nvSpPr>
          <p:cNvPr id="11" name="stat-card"/>
          <p:cNvSpPr/>
          <p:nvPr/>
        </p:nvSpPr>
        <p:spPr>
          <a:xfrm>
            <a:off x="4353458" y="1965960"/>
            <a:ext cx="3484778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6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4673498" y="2258568"/>
            <a:ext cx="2387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Deaths, 2024</a:t>
            </a:r>
            <a:endParaRPr lang="en-US" sz="1200" dirty="0"/>
          </a:p>
        </p:txBody>
      </p:sp>
      <p:sp>
        <p:nvSpPr>
          <p:cNvPr id="13" name="icon-tile"/>
          <p:cNvSpPr/>
          <p:nvPr/>
        </p:nvSpPr>
        <p:spPr>
          <a:xfrm>
            <a:off x="7106717" y="2194560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FF6FF"/>
          </a:solidFill>
          <a:ln/>
        </p:spPr>
      </p:sp>
      <p:pic>
        <p:nvPicPr>
          <p:cNvPr id="14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6079" y="2303922"/>
            <a:ext cx="201900" cy="2019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673498" y="2697480"/>
            <a:ext cx="29361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0F172A"/>
                </a:solidFill>
              </a:rPr>
              <a:t>610,000</a:t>
            </a:r>
            <a:endParaRPr lang="en-US" sz="4200" dirty="0"/>
          </a:p>
        </p:txBody>
      </p:sp>
      <p:sp>
        <p:nvSpPr>
          <p:cNvPr id="16" name="Text 12"/>
          <p:cNvSpPr txBox="1"/>
          <p:nvPr/>
        </p:nvSpPr>
        <p:spPr>
          <a:xfrm>
            <a:off x="4673498" y="3474720"/>
            <a:ext cx="2890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estimated malaria deaths in 2024; 11 African countries carry about two-thirds</a:t>
            </a:r>
            <a:endParaRPr lang="en-US" sz="1300" dirty="0"/>
          </a:p>
        </p:txBody>
      </p:sp>
      <p:sp>
        <p:nvSpPr>
          <p:cNvPr id="17" name="stat-card"/>
          <p:cNvSpPr/>
          <p:nvPr/>
        </p:nvSpPr>
        <p:spPr>
          <a:xfrm>
            <a:off x="8066837" y="1965960"/>
            <a:ext cx="3484778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6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8386877" y="2258568"/>
            <a:ext cx="2387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Tanzania</a:t>
            </a:r>
            <a:endParaRPr lang="en-US" sz="1200" dirty="0"/>
          </a:p>
        </p:txBody>
      </p:sp>
      <p:sp>
        <p:nvSpPr>
          <p:cNvPr id="19" name="icon-tile"/>
          <p:cNvSpPr/>
          <p:nvPr/>
        </p:nvSpPr>
        <p:spPr>
          <a:xfrm>
            <a:off x="10820095" y="2194560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FF6FF"/>
          </a:solidFill>
          <a:ln/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9457" y="2303922"/>
            <a:ext cx="201900" cy="2019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386877" y="2697480"/>
            <a:ext cx="29361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2563EB"/>
                </a:solidFill>
              </a:rPr>
              <a:t>4.3%</a:t>
            </a:r>
            <a:endParaRPr lang="en-US" sz="4200" dirty="0"/>
          </a:p>
        </p:txBody>
      </p:sp>
      <p:sp>
        <p:nvSpPr>
          <p:cNvPr id="22" name="Text 17"/>
          <p:cNvSpPr txBox="1"/>
          <p:nvPr/>
        </p:nvSpPr>
        <p:spPr>
          <a:xfrm>
            <a:off x="8386877" y="3474720"/>
            <a:ext cx="2890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of global malaria deaths were in Tanzania, the fourth highest worldwide</a:t>
            </a:r>
            <a:endParaRPr lang="en-US" sz="1300" dirty="0"/>
          </a:p>
        </p:txBody>
      </p:sp>
      <p:sp>
        <p:nvSpPr>
          <p:cNvPr id="23" name="context"/>
          <p:cNvSpPr/>
          <p:nvPr/>
        </p:nvSpPr>
        <p:spPr>
          <a:xfrm>
            <a:off x="640080" y="4526280"/>
            <a:ext cx="10911535" cy="1417320"/>
          </a:xfrm>
          <a:prstGeom prst="roundRect">
            <a:avLst>
              <a:gd name="adj" fmla="val 9032"/>
            </a:avLst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960120" y="4727448"/>
            <a:ext cx="10271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Light microscopy of Giemsa-stained thick films is the reference method for confirming malaria and measuring parasite density. Technicians count parasites against 200 to 500 white blood cells, field by field; fatigue, stain quality and smear thickness all erode accuracy.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960120" y="55595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Sources: WHO World Malaria Report 2025; The Citizen (Tanzania), citing the same report.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8251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4980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Six steps from eyepiece to a confirmed count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4416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The microscopist stays in charge; Darubini takes the tedious counting off their hands.</a:t>
            </a:r>
            <a:endParaRPr lang="en-US" sz="1400" dirty="0"/>
          </a:p>
        </p:txBody>
      </p:sp>
      <p:sp>
        <p:nvSpPr>
          <p:cNvPr id="5" name="step-card"/>
          <p:cNvSpPr/>
          <p:nvPr/>
        </p:nvSpPr>
        <p:spPr>
          <a:xfrm>
            <a:off x="640080" y="1965960"/>
            <a:ext cx="1681429" cy="3154680"/>
          </a:xfrm>
          <a:prstGeom prst="roundRect">
            <a:avLst>
              <a:gd name="adj" fmla="val 76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6000"/>
              </a:srgbClr>
            </a:outerShdw>
          </a:effectLst>
        </p:spPr>
      </p:sp>
      <p:sp>
        <p:nvSpPr>
          <p:cNvPr id="6" name="icon-tile"/>
          <p:cNvSpPr/>
          <p:nvPr/>
        </p:nvSpPr>
        <p:spPr>
          <a:xfrm>
            <a:off x="896112" y="2240280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EFF6FF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249" y="2373417"/>
            <a:ext cx="245791" cy="245791"/>
          </a:xfrm>
          <a:prstGeom prst="rect">
            <a:avLst/>
          </a:prstGeom>
        </p:spPr>
      </p:pic>
      <p:sp>
        <p:nvSpPr>
          <p:cNvPr id="8" name="badge"/>
          <p:cNvSpPr/>
          <p:nvPr/>
        </p:nvSpPr>
        <p:spPr>
          <a:xfrm>
            <a:off x="1663141" y="2350008"/>
            <a:ext cx="438912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663141" y="2354580"/>
            <a:ext cx="4389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</a:rPr>
              <a:t>01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96112" y="2971800"/>
            <a:ext cx="12699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Capture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96112" y="3410712"/>
            <a:ext cx="1242517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Phone on the eyepiece photographs one field at a time</a:t>
            </a:r>
            <a:endParaRPr lang="en-US" sz="1300" dirty="0"/>
          </a:p>
        </p:txBody>
      </p:sp>
      <p:sp>
        <p:nvSpPr>
          <p:cNvPr id="12" name="step-card"/>
          <p:cNvSpPr/>
          <p:nvPr/>
        </p:nvSpPr>
        <p:spPr>
          <a:xfrm>
            <a:off x="2486101" y="1965960"/>
            <a:ext cx="1681429" cy="3154680"/>
          </a:xfrm>
          <a:prstGeom prst="roundRect">
            <a:avLst>
              <a:gd name="adj" fmla="val 76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6000"/>
              </a:srgbClr>
            </a:outerShdw>
          </a:effectLst>
        </p:spPr>
      </p:sp>
      <p:sp>
        <p:nvSpPr>
          <p:cNvPr id="13" name="icon-tile"/>
          <p:cNvSpPr/>
          <p:nvPr/>
        </p:nvSpPr>
        <p:spPr>
          <a:xfrm>
            <a:off x="2742133" y="2240280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EFF6FF"/>
          </a:solidFill>
          <a:ln/>
        </p:spPr>
      </p:sp>
      <p:pic>
        <p:nvPicPr>
          <p:cNvPr id="14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270" y="2373417"/>
            <a:ext cx="245791" cy="245791"/>
          </a:xfrm>
          <a:prstGeom prst="rect">
            <a:avLst/>
          </a:prstGeom>
        </p:spPr>
      </p:pic>
      <p:sp>
        <p:nvSpPr>
          <p:cNvPr id="15" name="badge"/>
          <p:cNvSpPr/>
          <p:nvPr/>
        </p:nvSpPr>
        <p:spPr>
          <a:xfrm>
            <a:off x="3509162" y="2350008"/>
            <a:ext cx="438912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3509162" y="2354580"/>
            <a:ext cx="4389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</a:rPr>
              <a:t>02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2742133" y="2971800"/>
            <a:ext cx="12699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Check</a:t>
            </a:r>
            <a:endParaRPr lang="en-US" sz="1700" dirty="0"/>
          </a:p>
        </p:txBody>
      </p:sp>
      <p:sp>
        <p:nvSpPr>
          <p:cNvPr id="18" name="Text 14"/>
          <p:cNvSpPr txBox="1"/>
          <p:nvPr/>
        </p:nvSpPr>
        <p:spPr>
          <a:xfrm>
            <a:off x="2742133" y="3410712"/>
            <a:ext cx="1242517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Focus, exposure and stain checks reject unusable fields</a:t>
            </a:r>
            <a:endParaRPr lang="en-US" sz="1300" dirty="0"/>
          </a:p>
        </p:txBody>
      </p:sp>
      <p:sp>
        <p:nvSpPr>
          <p:cNvPr id="19" name="step-card"/>
          <p:cNvSpPr/>
          <p:nvPr/>
        </p:nvSpPr>
        <p:spPr>
          <a:xfrm>
            <a:off x="4332122" y="1965960"/>
            <a:ext cx="1681429" cy="3154680"/>
          </a:xfrm>
          <a:prstGeom prst="roundRect">
            <a:avLst>
              <a:gd name="adj" fmla="val 7614"/>
            </a:avLst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6000"/>
              </a:srgbClr>
            </a:outerShdw>
          </a:effectLst>
        </p:spPr>
      </p:sp>
      <p:sp>
        <p:nvSpPr>
          <p:cNvPr id="20" name="icon-tile"/>
          <p:cNvSpPr/>
          <p:nvPr/>
        </p:nvSpPr>
        <p:spPr>
          <a:xfrm>
            <a:off x="4588154" y="2240280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2563EB"/>
          </a:solidFill>
          <a:ln/>
        </p:spPr>
      </p:sp>
      <p:pic>
        <p:nvPicPr>
          <p:cNvPr id="2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1291" y="2373417"/>
            <a:ext cx="245791" cy="245791"/>
          </a:xfrm>
          <a:prstGeom prst="rect">
            <a:avLst/>
          </a:prstGeom>
        </p:spPr>
      </p:pic>
      <p:sp>
        <p:nvSpPr>
          <p:cNvPr id="22" name="badge"/>
          <p:cNvSpPr/>
          <p:nvPr/>
        </p:nvSpPr>
        <p:spPr>
          <a:xfrm>
            <a:off x="5355184" y="2350008"/>
            <a:ext cx="438912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5355184" y="2354580"/>
            <a:ext cx="4389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</a:rPr>
              <a:t>03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4588154" y="2971800"/>
            <a:ext cx="12699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Segment</a:t>
            </a:r>
            <a:endParaRPr lang="en-US" sz="1700" dirty="0"/>
          </a:p>
        </p:txBody>
      </p:sp>
      <p:sp>
        <p:nvSpPr>
          <p:cNvPr id="25" name="Text 20"/>
          <p:cNvSpPr txBox="1"/>
          <p:nvPr/>
        </p:nvSpPr>
        <p:spPr>
          <a:xfrm>
            <a:off x="4588154" y="3410712"/>
            <a:ext cx="1242517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SAM 3 finds parasites and WBC from concept prompts</a:t>
            </a:r>
            <a:endParaRPr lang="en-US" sz="1300" dirty="0"/>
          </a:p>
        </p:txBody>
      </p:sp>
      <p:sp>
        <p:nvSpPr>
          <p:cNvPr id="26" name="step-card"/>
          <p:cNvSpPr/>
          <p:nvPr/>
        </p:nvSpPr>
        <p:spPr>
          <a:xfrm>
            <a:off x="6178144" y="1965960"/>
            <a:ext cx="1681429" cy="3154680"/>
          </a:xfrm>
          <a:prstGeom prst="roundRect">
            <a:avLst>
              <a:gd name="adj" fmla="val 76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6000"/>
              </a:srgbClr>
            </a:outerShdw>
          </a:effectLst>
        </p:spPr>
      </p:sp>
      <p:sp>
        <p:nvSpPr>
          <p:cNvPr id="27" name="icon-tile"/>
          <p:cNvSpPr/>
          <p:nvPr/>
        </p:nvSpPr>
        <p:spPr>
          <a:xfrm>
            <a:off x="6434176" y="2240280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EFF6FF"/>
          </a:solidFill>
          <a:ln/>
        </p:spPr>
      </p:sp>
      <p:pic>
        <p:nvPicPr>
          <p:cNvPr id="28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7312" y="2373417"/>
            <a:ext cx="245791" cy="245791"/>
          </a:xfrm>
          <a:prstGeom prst="rect">
            <a:avLst/>
          </a:prstGeom>
        </p:spPr>
      </p:pic>
      <p:sp>
        <p:nvSpPr>
          <p:cNvPr id="29" name="badge"/>
          <p:cNvSpPr/>
          <p:nvPr/>
        </p:nvSpPr>
        <p:spPr>
          <a:xfrm>
            <a:off x="7201205" y="2350008"/>
            <a:ext cx="438912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7201205" y="2354580"/>
            <a:ext cx="4389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</a:rPr>
              <a:t>04</a:t>
            </a:r>
            <a:endParaRPr lang="en-US" sz="1050" dirty="0"/>
          </a:p>
        </p:txBody>
      </p:sp>
      <p:sp>
        <p:nvSpPr>
          <p:cNvPr id="31" name="Text 25"/>
          <p:cNvSpPr txBox="1"/>
          <p:nvPr/>
        </p:nvSpPr>
        <p:spPr>
          <a:xfrm>
            <a:off x="6434176" y="2971800"/>
            <a:ext cx="12699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Count</a:t>
            </a:r>
            <a:endParaRPr lang="en-US" sz="1700" dirty="0"/>
          </a:p>
        </p:txBody>
      </p:sp>
      <p:sp>
        <p:nvSpPr>
          <p:cNvPr id="32" name="Text 26"/>
          <p:cNvSpPr txBox="1"/>
          <p:nvPr/>
        </p:nvSpPr>
        <p:spPr>
          <a:xfrm>
            <a:off x="6434176" y="3410712"/>
            <a:ext cx="1242517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WHO rule: 200 WBC, extend to 500 if few parasites</a:t>
            </a:r>
            <a:endParaRPr lang="en-US" sz="1300" dirty="0"/>
          </a:p>
        </p:txBody>
      </p:sp>
      <p:sp>
        <p:nvSpPr>
          <p:cNvPr id="33" name="step-card"/>
          <p:cNvSpPr/>
          <p:nvPr/>
        </p:nvSpPr>
        <p:spPr>
          <a:xfrm>
            <a:off x="8024165" y="1965960"/>
            <a:ext cx="1681429" cy="3154680"/>
          </a:xfrm>
          <a:prstGeom prst="roundRect">
            <a:avLst>
              <a:gd name="adj" fmla="val 76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6000"/>
              </a:srgbClr>
            </a:outerShdw>
          </a:effectLst>
        </p:spPr>
      </p:sp>
      <p:sp>
        <p:nvSpPr>
          <p:cNvPr id="34" name="icon-tile"/>
          <p:cNvSpPr/>
          <p:nvPr/>
        </p:nvSpPr>
        <p:spPr>
          <a:xfrm>
            <a:off x="8280197" y="2240280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EFF6FF"/>
          </a:solidFill>
          <a:ln/>
        </p:spPr>
      </p:sp>
      <p:pic>
        <p:nvPicPr>
          <p:cNvPr id="35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3333" y="2373417"/>
            <a:ext cx="245791" cy="245791"/>
          </a:xfrm>
          <a:prstGeom prst="rect">
            <a:avLst/>
          </a:prstGeom>
        </p:spPr>
      </p:pic>
      <p:sp>
        <p:nvSpPr>
          <p:cNvPr id="36" name="badge"/>
          <p:cNvSpPr/>
          <p:nvPr/>
        </p:nvSpPr>
        <p:spPr>
          <a:xfrm>
            <a:off x="9047226" y="2350008"/>
            <a:ext cx="438912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9047226" y="2354580"/>
            <a:ext cx="4389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</a:rPr>
              <a:t>05</a:t>
            </a:r>
            <a:endParaRPr lang="en-US" sz="1050" dirty="0"/>
          </a:p>
        </p:txBody>
      </p:sp>
      <p:sp>
        <p:nvSpPr>
          <p:cNvPr id="38" name="Text 31"/>
          <p:cNvSpPr txBox="1"/>
          <p:nvPr/>
        </p:nvSpPr>
        <p:spPr>
          <a:xfrm>
            <a:off x="8280197" y="2971800"/>
            <a:ext cx="12699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Report</a:t>
            </a:r>
            <a:endParaRPr lang="en-US" sz="1700" dirty="0"/>
          </a:p>
        </p:txBody>
      </p:sp>
      <p:sp>
        <p:nvSpPr>
          <p:cNvPr id="39" name="Text 32"/>
          <p:cNvSpPr txBox="1"/>
          <p:nvPr/>
        </p:nvSpPr>
        <p:spPr>
          <a:xfrm>
            <a:off x="8280197" y="3410712"/>
            <a:ext cx="1242517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Muse Spark reviews and writes in Kiswahili or English</a:t>
            </a:r>
            <a:endParaRPr lang="en-US" sz="1300" dirty="0"/>
          </a:p>
        </p:txBody>
      </p:sp>
      <p:sp>
        <p:nvSpPr>
          <p:cNvPr id="40" name="step-card"/>
          <p:cNvSpPr/>
          <p:nvPr/>
        </p:nvSpPr>
        <p:spPr>
          <a:xfrm>
            <a:off x="9870186" y="1965960"/>
            <a:ext cx="1681429" cy="3154680"/>
          </a:xfrm>
          <a:prstGeom prst="roundRect">
            <a:avLst>
              <a:gd name="adj" fmla="val 76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6000"/>
              </a:srgbClr>
            </a:outerShdw>
          </a:effectLst>
        </p:spPr>
      </p:sp>
      <p:sp>
        <p:nvSpPr>
          <p:cNvPr id="41" name="icon-tile"/>
          <p:cNvSpPr/>
          <p:nvPr/>
        </p:nvSpPr>
        <p:spPr>
          <a:xfrm>
            <a:off x="10126218" y="2240280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EFF6FF"/>
          </a:solidFill>
          <a:ln/>
        </p:spPr>
      </p:sp>
      <p:pic>
        <p:nvPicPr>
          <p:cNvPr id="42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59355" y="2373417"/>
            <a:ext cx="245791" cy="245791"/>
          </a:xfrm>
          <a:prstGeom prst="rect">
            <a:avLst/>
          </a:prstGeom>
        </p:spPr>
      </p:pic>
      <p:sp>
        <p:nvSpPr>
          <p:cNvPr id="43" name="badge"/>
          <p:cNvSpPr/>
          <p:nvPr/>
        </p:nvSpPr>
        <p:spPr>
          <a:xfrm>
            <a:off x="10893247" y="2350008"/>
            <a:ext cx="438912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44" name="Text 36"/>
          <p:cNvSpPr txBox="1"/>
          <p:nvPr/>
        </p:nvSpPr>
        <p:spPr>
          <a:xfrm>
            <a:off x="10893247" y="2354580"/>
            <a:ext cx="4389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</a:rPr>
              <a:t>06</a:t>
            </a:r>
            <a:endParaRPr lang="en-US" sz="1050" dirty="0"/>
          </a:p>
        </p:txBody>
      </p:sp>
      <p:sp>
        <p:nvSpPr>
          <p:cNvPr id="45" name="Text 37"/>
          <p:cNvSpPr txBox="1"/>
          <p:nvPr/>
        </p:nvSpPr>
        <p:spPr>
          <a:xfrm>
            <a:off x="10126218" y="2971800"/>
            <a:ext cx="12699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Confirm</a:t>
            </a:r>
            <a:endParaRPr lang="en-US" sz="1700" dirty="0"/>
          </a:p>
        </p:txBody>
      </p:sp>
      <p:sp>
        <p:nvSpPr>
          <p:cNvPr id="46" name="Text 38"/>
          <p:cNvSpPr txBox="1"/>
          <p:nvPr/>
        </p:nvSpPr>
        <p:spPr>
          <a:xfrm>
            <a:off x="10126218" y="3410712"/>
            <a:ext cx="1242517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The microscopist checks flagged fields and signs off</a:t>
            </a:r>
            <a:endParaRPr lang="en-US" sz="1300" dirty="0"/>
          </a:p>
        </p:txBody>
      </p:sp>
      <p:sp>
        <p:nvSpPr>
          <p:cNvPr id="47" name="callout"/>
          <p:cNvSpPr/>
          <p:nvPr/>
        </p:nvSpPr>
        <p:spPr>
          <a:xfrm>
            <a:off x="640080" y="5349240"/>
            <a:ext cx="10911535" cy="566928"/>
          </a:xfrm>
          <a:prstGeom prst="roundRect">
            <a:avLst>
              <a:gd name="adj" fmla="val 16129"/>
            </a:avLst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</p:spPr>
      </p:sp>
      <p:sp>
        <p:nvSpPr>
          <p:cNvPr id="48" name="icon-tile"/>
          <p:cNvSpPr/>
          <p:nvPr/>
        </p:nvSpPr>
        <p:spPr>
          <a:xfrm>
            <a:off x="768096" y="5431536"/>
            <a:ext cx="402336" cy="402336"/>
          </a:xfrm>
          <a:prstGeom prst="roundRect">
            <a:avLst>
              <a:gd name="adj" fmla="val 27273"/>
            </a:avLst>
          </a:prstGeom>
          <a:solidFill>
            <a:srgbClr val="2563EB"/>
          </a:solidFill>
          <a:ln/>
        </p:spPr>
      </p:sp>
      <p:pic>
        <p:nvPicPr>
          <p:cNvPr id="49" name="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2703" y="5536143"/>
            <a:ext cx="193121" cy="193121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1325880" y="5349240"/>
            <a:ext cx="99971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</a:rPr>
              <a:t>Numbers come from deterministic code. The language model reviews and narrates; it never changes a count.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8251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THE DEMO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4980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Live on a real microscope in Dar es Salaam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4416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What the judges see, in one continuous take.</a:t>
            </a:r>
            <a:endParaRPr lang="en-US" sz="1400" dirty="0"/>
          </a:p>
        </p:txBody>
      </p:sp>
      <p:sp>
        <p:nvSpPr>
          <p:cNvPr id="5" name="field-card"/>
          <p:cNvSpPr/>
          <p:nvPr/>
        </p:nvSpPr>
        <p:spPr>
          <a:xfrm>
            <a:off x="640080" y="1828800"/>
            <a:ext cx="4754880" cy="420624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6000"/>
              </a:srgbClr>
            </a:outerShdw>
          </a:effectLst>
        </p:spPr>
      </p:sp>
      <p:sp>
        <p:nvSpPr>
          <p:cNvPr id="6" name="field"/>
          <p:cNvSpPr/>
          <p:nvPr/>
        </p:nvSpPr>
        <p:spPr>
          <a:xfrm>
            <a:off x="1097280" y="2057400"/>
            <a:ext cx="3337560" cy="3337560"/>
          </a:xfrm>
          <a:prstGeom prst="ellipse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wbc"/>
          <p:cNvSpPr/>
          <p:nvPr/>
        </p:nvSpPr>
        <p:spPr>
          <a:xfrm>
            <a:off x="1779963" y="2740083"/>
            <a:ext cx="568902" cy="56890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wbc-box"/>
          <p:cNvSpPr/>
          <p:nvPr/>
        </p:nvSpPr>
        <p:spPr>
          <a:xfrm>
            <a:off x="1688938" y="2649058"/>
            <a:ext cx="750951" cy="750951"/>
          </a:xfrm>
          <a:prstGeom prst="roundRect">
            <a:avLst>
              <a:gd name="adj" fmla="val 7306"/>
            </a:avLst>
          </a:prstGeom>
          <a:solidFill>
            <a:srgbClr val="FFFFFF">
              <a:alpha val="0"/>
            </a:srgbClr>
          </a:solidFill>
          <a:ln w="12700">
            <a:solidFill>
              <a:srgbClr val="64748B"/>
            </a:solidFill>
            <a:prstDash val="dash"/>
          </a:ln>
        </p:spPr>
      </p:sp>
      <p:sp>
        <p:nvSpPr>
          <p:cNvPr id="9" name="wbc"/>
          <p:cNvSpPr/>
          <p:nvPr/>
        </p:nvSpPr>
        <p:spPr>
          <a:xfrm>
            <a:off x="3145328" y="4029595"/>
            <a:ext cx="606829" cy="606829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wbc-box"/>
          <p:cNvSpPr/>
          <p:nvPr/>
        </p:nvSpPr>
        <p:spPr>
          <a:xfrm>
            <a:off x="3054304" y="3938570"/>
            <a:ext cx="788878" cy="788878"/>
          </a:xfrm>
          <a:prstGeom prst="roundRect">
            <a:avLst>
              <a:gd name="adj" fmla="val 6955"/>
            </a:avLst>
          </a:prstGeom>
          <a:solidFill>
            <a:srgbClr val="FFFFFF">
              <a:alpha val="0"/>
            </a:srgbClr>
          </a:solidFill>
          <a:ln w="12700">
            <a:solidFill>
              <a:srgbClr val="64748B"/>
            </a:solidFill>
            <a:prstDash val="dash"/>
          </a:ln>
        </p:spPr>
      </p:sp>
      <p:sp>
        <p:nvSpPr>
          <p:cNvPr id="11" name="wbc"/>
          <p:cNvSpPr/>
          <p:nvPr/>
        </p:nvSpPr>
        <p:spPr>
          <a:xfrm>
            <a:off x="2235085" y="4408863"/>
            <a:ext cx="493049" cy="493049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wbc-box"/>
          <p:cNvSpPr/>
          <p:nvPr/>
        </p:nvSpPr>
        <p:spPr>
          <a:xfrm>
            <a:off x="2144060" y="4317838"/>
            <a:ext cx="675097" cy="675097"/>
          </a:xfrm>
          <a:prstGeom prst="roundRect">
            <a:avLst>
              <a:gd name="adj" fmla="val 8127"/>
            </a:avLst>
          </a:prstGeom>
          <a:solidFill>
            <a:srgbClr val="FFFFFF">
              <a:alpha val="0"/>
            </a:srgbClr>
          </a:solidFill>
          <a:ln w="12700">
            <a:solidFill>
              <a:srgbClr val="64748B"/>
            </a:solidFill>
            <a:prstDash val="dash"/>
          </a:ln>
        </p:spPr>
      </p:sp>
      <p:sp>
        <p:nvSpPr>
          <p:cNvPr id="13" name="parasite"/>
          <p:cNvSpPr/>
          <p:nvPr/>
        </p:nvSpPr>
        <p:spPr>
          <a:xfrm>
            <a:off x="2841914" y="2740083"/>
            <a:ext cx="113780" cy="1137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parasite-box"/>
          <p:cNvSpPr/>
          <p:nvPr/>
        </p:nvSpPr>
        <p:spPr>
          <a:xfrm>
            <a:off x="2750889" y="2649058"/>
            <a:ext cx="295829" cy="295829"/>
          </a:xfrm>
          <a:prstGeom prst="roundRect">
            <a:avLst>
              <a:gd name="adj" fmla="val 12364"/>
            </a:avLst>
          </a:prstGeom>
          <a:solidFill>
            <a:srgbClr val="FFFFFF">
              <a:alpha val="0"/>
            </a:srgbClr>
          </a:solidFill>
          <a:ln w="22225">
            <a:solidFill>
              <a:srgbClr val="2563EB"/>
            </a:solidFill>
            <a:prstDash val="solid"/>
          </a:ln>
        </p:spPr>
      </p:sp>
      <p:sp>
        <p:nvSpPr>
          <p:cNvPr id="15" name="parasite"/>
          <p:cNvSpPr/>
          <p:nvPr/>
        </p:nvSpPr>
        <p:spPr>
          <a:xfrm>
            <a:off x="2083377" y="3726180"/>
            <a:ext cx="113780" cy="1137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parasite-box"/>
          <p:cNvSpPr/>
          <p:nvPr/>
        </p:nvSpPr>
        <p:spPr>
          <a:xfrm>
            <a:off x="1992353" y="3635156"/>
            <a:ext cx="295829" cy="295829"/>
          </a:xfrm>
          <a:prstGeom prst="roundRect">
            <a:avLst>
              <a:gd name="adj" fmla="val 12364"/>
            </a:avLst>
          </a:prstGeom>
          <a:solidFill>
            <a:srgbClr val="FFFFFF">
              <a:alpha val="0"/>
            </a:srgbClr>
          </a:solidFill>
          <a:ln w="22225">
            <a:solidFill>
              <a:srgbClr val="2563EB"/>
            </a:solidFill>
            <a:prstDash val="solid"/>
          </a:ln>
        </p:spPr>
      </p:sp>
      <p:sp>
        <p:nvSpPr>
          <p:cNvPr id="17" name="parasite"/>
          <p:cNvSpPr/>
          <p:nvPr/>
        </p:nvSpPr>
        <p:spPr>
          <a:xfrm>
            <a:off x="3372889" y="3271058"/>
            <a:ext cx="113780" cy="1137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parasite-box"/>
          <p:cNvSpPr/>
          <p:nvPr/>
        </p:nvSpPr>
        <p:spPr>
          <a:xfrm>
            <a:off x="3281865" y="3180034"/>
            <a:ext cx="295829" cy="295829"/>
          </a:xfrm>
          <a:prstGeom prst="roundRect">
            <a:avLst>
              <a:gd name="adj" fmla="val 12364"/>
            </a:avLst>
          </a:prstGeom>
          <a:solidFill>
            <a:srgbClr val="FFFFFF">
              <a:alpha val="0"/>
            </a:srgbClr>
          </a:solidFill>
          <a:ln w="22225">
            <a:solidFill>
              <a:srgbClr val="2563EB"/>
            </a:solidFill>
            <a:prstDash val="solid"/>
          </a:ln>
        </p:spPr>
      </p:sp>
      <p:sp>
        <p:nvSpPr>
          <p:cNvPr id="19" name="parasite"/>
          <p:cNvSpPr/>
          <p:nvPr/>
        </p:nvSpPr>
        <p:spPr>
          <a:xfrm>
            <a:off x="1666182" y="3991668"/>
            <a:ext cx="113780" cy="1137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0" name="parasite-box"/>
          <p:cNvSpPr/>
          <p:nvPr/>
        </p:nvSpPr>
        <p:spPr>
          <a:xfrm>
            <a:off x="1575158" y="3900643"/>
            <a:ext cx="295829" cy="295829"/>
          </a:xfrm>
          <a:prstGeom prst="roundRect">
            <a:avLst>
              <a:gd name="adj" fmla="val 12364"/>
            </a:avLst>
          </a:prstGeom>
          <a:solidFill>
            <a:srgbClr val="FFFFFF">
              <a:alpha val="0"/>
            </a:srgbClr>
          </a:solidFill>
          <a:ln w="22225">
            <a:solidFill>
              <a:srgbClr val="2563EB"/>
            </a:solidFill>
            <a:prstDash val="solid"/>
          </a:ln>
        </p:spPr>
      </p:sp>
      <p:sp>
        <p:nvSpPr>
          <p:cNvPr id="21" name="parasite"/>
          <p:cNvSpPr/>
          <p:nvPr/>
        </p:nvSpPr>
        <p:spPr>
          <a:xfrm>
            <a:off x="3638377" y="2853863"/>
            <a:ext cx="113780" cy="1137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2" name="parasite-box"/>
          <p:cNvSpPr/>
          <p:nvPr/>
        </p:nvSpPr>
        <p:spPr>
          <a:xfrm>
            <a:off x="3547352" y="2762839"/>
            <a:ext cx="295829" cy="295829"/>
          </a:xfrm>
          <a:prstGeom prst="roundRect">
            <a:avLst>
              <a:gd name="adj" fmla="val 12364"/>
            </a:avLst>
          </a:prstGeom>
          <a:solidFill>
            <a:srgbClr val="FFFFFF">
              <a:alpha val="0"/>
            </a:srgbClr>
          </a:solidFill>
          <a:ln w="22225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206240" y="21031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Live view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56235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Blue: parasites · Dashed: white blood cells</a:t>
            </a:r>
            <a:endParaRPr lang="en-US" sz="1000" dirty="0"/>
          </a:p>
        </p:txBody>
      </p:sp>
      <p:sp>
        <p:nvSpPr>
          <p:cNvPr id="25" name="run-card"/>
          <p:cNvSpPr/>
          <p:nvPr/>
        </p:nvSpPr>
        <p:spPr>
          <a:xfrm>
            <a:off x="5623560" y="1828800"/>
            <a:ext cx="5928055" cy="420624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6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594360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Slide run</a:t>
            </a:r>
            <a:endParaRPr lang="en-US" sz="1600" dirty="0"/>
          </a:p>
        </p:txBody>
      </p:sp>
      <p:sp>
        <p:nvSpPr>
          <p:cNvPr id="27" name="badge"/>
          <p:cNvSpPr/>
          <p:nvPr/>
        </p:nvSpPr>
        <p:spPr>
          <a:xfrm>
            <a:off x="9859975" y="20574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EFF6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859975" y="2061972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</a:rPr>
              <a:t>Count complete</a:t>
            </a:r>
            <a:endParaRPr lang="en-US" sz="1050" dirty="0"/>
          </a:p>
        </p:txBody>
      </p:sp>
      <p:sp>
        <p:nvSpPr>
          <p:cNvPr id="29" name="tally"/>
          <p:cNvSpPr/>
          <p:nvPr/>
        </p:nvSpPr>
        <p:spPr>
          <a:xfrm>
            <a:off x="5943600" y="2560320"/>
            <a:ext cx="1677314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089904" y="2651760"/>
            <a:ext cx="14487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31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6089904" y="3035808"/>
            <a:ext cx="14487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parasites</a:t>
            </a:r>
            <a:endParaRPr lang="en-US" sz="1000" dirty="0"/>
          </a:p>
        </p:txBody>
      </p:sp>
      <p:sp>
        <p:nvSpPr>
          <p:cNvPr id="32" name="tally"/>
          <p:cNvSpPr/>
          <p:nvPr/>
        </p:nvSpPr>
        <p:spPr>
          <a:xfrm>
            <a:off x="7748930" y="2560320"/>
            <a:ext cx="1677314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895234" y="2651760"/>
            <a:ext cx="14487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206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7895234" y="3035808"/>
            <a:ext cx="14487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white blood cells</a:t>
            </a:r>
            <a:endParaRPr lang="en-US" sz="1000" dirty="0"/>
          </a:p>
        </p:txBody>
      </p:sp>
      <p:sp>
        <p:nvSpPr>
          <p:cNvPr id="35" name="tally"/>
          <p:cNvSpPr/>
          <p:nvPr/>
        </p:nvSpPr>
        <p:spPr>
          <a:xfrm>
            <a:off x="9554261" y="2560320"/>
            <a:ext cx="1677314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700565" y="2651760"/>
            <a:ext cx="14487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</a:rPr>
              <a:t>1,204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9700565" y="3035808"/>
            <a:ext cx="14487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parasites per µL</a:t>
            </a:r>
            <a:endParaRPr lang="en-US" sz="1000" dirty="0"/>
          </a:p>
        </p:txBody>
      </p:sp>
      <p:pic>
        <p:nvPicPr>
          <p:cNvPr id="38" name="che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3648456"/>
            <a:ext cx="219456" cy="219456"/>
          </a:xfrm>
          <a:prstGeom prst="rect">
            <a:avLst/>
          </a:prstGeom>
        </p:spPr>
      </p:pic>
      <p:sp>
        <p:nvSpPr>
          <p:cNvPr id="39" name="Text 36"/>
          <p:cNvSpPr txBox="1"/>
          <p:nvPr/>
        </p:nvSpPr>
        <p:spPr>
          <a:xfrm>
            <a:off x="6291072" y="3611880"/>
            <a:ext cx="49405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A blurry field is rejected; the app asks for another</a:t>
            </a:r>
            <a:endParaRPr lang="en-US" sz="1400" dirty="0"/>
          </a:p>
        </p:txBody>
      </p:sp>
      <p:pic>
        <p:nvPicPr>
          <p:cNvPr id="40" name="che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4151376"/>
            <a:ext cx="219456" cy="219456"/>
          </a:xfrm>
          <a:prstGeom prst="rect">
            <a:avLst/>
          </a:prstGeom>
        </p:spPr>
      </p:pic>
      <p:sp>
        <p:nvSpPr>
          <p:cNvPr id="41" name="Text 37"/>
          <p:cNvSpPr txBox="1"/>
          <p:nvPr/>
        </p:nvSpPr>
        <p:spPr>
          <a:xfrm>
            <a:off x="6291072" y="4114800"/>
            <a:ext cx="49405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SAM 3 masks appear and the count climbs field by field</a:t>
            </a:r>
            <a:endParaRPr lang="en-US" sz="1400" dirty="0"/>
          </a:p>
        </p:txBody>
      </p:sp>
      <p:pic>
        <p:nvPicPr>
          <p:cNvPr id="42" name="che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4654296"/>
            <a:ext cx="219456" cy="219456"/>
          </a:xfrm>
          <a:prstGeom prst="rect">
            <a:avLst/>
          </a:prstGeom>
        </p:spPr>
      </p:pic>
      <p:sp>
        <p:nvSpPr>
          <p:cNvPr id="43" name="Text 38"/>
          <p:cNvSpPr txBox="1"/>
          <p:nvPr/>
        </p:nvSpPr>
        <p:spPr>
          <a:xfrm>
            <a:off x="6291072" y="4617720"/>
            <a:ext cx="49405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The stopping rule fires at 200 white blood cells</a:t>
            </a:r>
            <a:endParaRPr lang="en-US" sz="1400" dirty="0"/>
          </a:p>
        </p:txBody>
      </p:sp>
      <p:pic>
        <p:nvPicPr>
          <p:cNvPr id="44" name="che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5157216"/>
            <a:ext cx="219456" cy="219456"/>
          </a:xfrm>
          <a:prstGeom prst="rect">
            <a:avLst/>
          </a:prstGeom>
        </p:spPr>
      </p:pic>
      <p:sp>
        <p:nvSpPr>
          <p:cNvPr id="45" name="Text 39"/>
          <p:cNvSpPr txBox="1"/>
          <p:nvPr/>
        </p:nvSpPr>
        <p:spPr>
          <a:xfrm>
            <a:off x="6291072" y="5120640"/>
            <a:ext cx="49405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The report prints in Kiswahili, beside a manual count</a:t>
            </a:r>
            <a:endParaRPr lang="en-US" sz="1400" dirty="0"/>
          </a:p>
        </p:txBody>
      </p:sp>
      <p:sp>
        <p:nvSpPr>
          <p:cNvPr id="46" name="Text 40"/>
          <p:cNvSpPr txBox="1"/>
          <p:nvPr/>
        </p:nvSpPr>
        <p:spPr>
          <a:xfrm>
            <a:off x="5943600" y="56509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Density = parasites × 8,000 ÷ WBC (assumed 8,000 WBC/µL)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8251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USE OF META AI TOOLING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4980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Going well past a single API call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4416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25% of the score rewards creative use. Each tool does work nothing else in the pipeline can.</a:t>
            </a:r>
            <a:endParaRPr lang="en-US" sz="1400" dirty="0"/>
          </a:p>
        </p:txBody>
      </p:sp>
      <p:sp>
        <p:nvSpPr>
          <p:cNvPr id="5" name="tools-card"/>
          <p:cNvSpPr/>
          <p:nvPr/>
        </p:nvSpPr>
        <p:spPr>
          <a:xfrm>
            <a:off x="640080" y="1828800"/>
            <a:ext cx="10911535" cy="420624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6000"/>
              </a:srgbClr>
            </a:outerShdw>
          </a:effectLst>
        </p:spPr>
      </p:sp>
      <p:sp>
        <p:nvSpPr>
          <p:cNvPr id="6" name="icon-tile"/>
          <p:cNvSpPr/>
          <p:nvPr/>
        </p:nvSpPr>
        <p:spPr>
          <a:xfrm>
            <a:off x="960120" y="210312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2563EB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" y="2233879"/>
            <a:ext cx="241402" cy="2414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91640" y="208483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SAM 3</a:t>
            </a:r>
            <a:endParaRPr lang="en-US" sz="1700" dirty="0"/>
          </a:p>
        </p:txBody>
      </p:sp>
      <p:sp>
        <p:nvSpPr>
          <p:cNvPr id="9" name="badge"/>
          <p:cNvSpPr/>
          <p:nvPr/>
        </p:nvSpPr>
        <p:spPr>
          <a:xfrm>
            <a:off x="1691640" y="2450592"/>
            <a:ext cx="1247242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691640" y="2455164"/>
            <a:ext cx="124724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</a:rPr>
              <a:t>Segmentation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4114800" y="2048256"/>
            <a:ext cx="70710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Exemplar prompts from 3 to 5 confirmed parasites adapt it to each lab's stain without retraining; video tracking stops double counts.</a:t>
            </a:r>
            <a:endParaRPr lang="en-US" sz="1400" dirty="0"/>
          </a:p>
        </p:txBody>
      </p:sp>
      <p:sp>
        <p:nvSpPr>
          <p:cNvPr id="12" name="divider"/>
          <p:cNvSpPr/>
          <p:nvPr/>
        </p:nvSpPr>
        <p:spPr>
          <a:xfrm>
            <a:off x="914400" y="2880360"/>
            <a:ext cx="103628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3" name="icon-tile"/>
          <p:cNvSpPr/>
          <p:nvPr/>
        </p:nvSpPr>
        <p:spPr>
          <a:xfrm>
            <a:off x="960120" y="315468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2563EB"/>
          </a:solidFill>
          <a:ln/>
        </p:spPr>
      </p:sp>
      <p:pic>
        <p:nvPicPr>
          <p:cNvPr id="14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" y="3285439"/>
            <a:ext cx="241402" cy="24140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691640" y="313639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Muse Spark</a:t>
            </a:r>
            <a:endParaRPr lang="en-US" sz="1700" dirty="0"/>
          </a:p>
        </p:txBody>
      </p:sp>
      <p:sp>
        <p:nvSpPr>
          <p:cNvPr id="16" name="badge"/>
          <p:cNvSpPr/>
          <p:nvPr/>
        </p:nvSpPr>
        <p:spPr>
          <a:xfrm>
            <a:off x="1691640" y="3502152"/>
            <a:ext cx="1472184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1691640" y="3506724"/>
            <a:ext cx="14721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</a:rPr>
              <a:t>Agent + reports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4114800" y="3099816"/>
            <a:ext cx="70710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A tool-calling agent that drives the count, decides when the stopping rule is met, reviews quality and writes in two languages.</a:t>
            </a:r>
            <a:endParaRPr lang="en-US" sz="1400" dirty="0"/>
          </a:p>
        </p:txBody>
      </p:sp>
      <p:sp>
        <p:nvSpPr>
          <p:cNvPr id="19" name="divider"/>
          <p:cNvSpPr/>
          <p:nvPr/>
        </p:nvSpPr>
        <p:spPr>
          <a:xfrm>
            <a:off x="914400" y="3931920"/>
            <a:ext cx="103628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0" name="icon-tile"/>
          <p:cNvSpPr/>
          <p:nvPr/>
        </p:nvSpPr>
        <p:spPr>
          <a:xfrm>
            <a:off x="960120" y="42062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EFF6FF"/>
          </a:solidFill>
          <a:ln/>
        </p:spPr>
      </p:sp>
      <p:pic>
        <p:nvPicPr>
          <p:cNvPr id="2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879" y="4336999"/>
            <a:ext cx="241402" cy="24140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691640" y="418795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Open weights</a:t>
            </a:r>
            <a:endParaRPr lang="en-US" sz="1700" dirty="0"/>
          </a:p>
        </p:txBody>
      </p:sp>
      <p:sp>
        <p:nvSpPr>
          <p:cNvPr id="23" name="badge"/>
          <p:cNvSpPr/>
          <p:nvPr/>
        </p:nvSpPr>
        <p:spPr>
          <a:xfrm>
            <a:off x="1691640" y="4553712"/>
            <a:ext cx="647395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1691640" y="4558284"/>
            <a:ext cx="64739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</a:rPr>
              <a:t>Edge</a:t>
            </a:r>
            <a:endParaRPr lang="en-US" sz="1050" dirty="0"/>
          </a:p>
        </p:txBody>
      </p:sp>
      <p:sp>
        <p:nvSpPr>
          <p:cNvPr id="25" name="Text 20"/>
          <p:cNvSpPr txBox="1"/>
          <p:nvPr/>
        </p:nvSpPr>
        <p:spPr>
          <a:xfrm>
            <a:off x="4114800" y="4151376"/>
            <a:ext cx="70710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Drafts Kiswahili reports offline through partner inference: the path to clinics with unreliable internet.</a:t>
            </a:r>
            <a:endParaRPr lang="en-US" sz="1400" dirty="0"/>
          </a:p>
        </p:txBody>
      </p:sp>
      <p:sp>
        <p:nvSpPr>
          <p:cNvPr id="26" name="divider"/>
          <p:cNvSpPr/>
          <p:nvPr/>
        </p:nvSpPr>
        <p:spPr>
          <a:xfrm>
            <a:off x="914400" y="4983480"/>
            <a:ext cx="103628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7" name="icon-tile"/>
          <p:cNvSpPr/>
          <p:nvPr/>
        </p:nvSpPr>
        <p:spPr>
          <a:xfrm>
            <a:off x="960120" y="525780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EFF6FF"/>
          </a:solidFill>
          <a:ln/>
        </p:spPr>
      </p:sp>
      <p:pic>
        <p:nvPicPr>
          <p:cNvPr id="28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879" y="5388559"/>
            <a:ext cx="241402" cy="24140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1691640" y="523951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Muse Code</a:t>
            </a:r>
            <a:endParaRPr lang="en-US" sz="1700" dirty="0"/>
          </a:p>
        </p:txBody>
      </p:sp>
      <p:sp>
        <p:nvSpPr>
          <p:cNvPr id="30" name="badge"/>
          <p:cNvSpPr/>
          <p:nvPr/>
        </p:nvSpPr>
        <p:spPr>
          <a:xfrm>
            <a:off x="1691640" y="5605272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1691640" y="5609844"/>
            <a:ext cx="7223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</a:rPr>
              <a:t>Build</a:t>
            </a:r>
            <a:endParaRPr lang="en-US" sz="1050" dirty="0"/>
          </a:p>
        </p:txBody>
      </p:sp>
      <p:sp>
        <p:nvSpPr>
          <p:cNvPr id="32" name="Text 26"/>
          <p:cNvSpPr txBox="1"/>
          <p:nvPr/>
        </p:nvSpPr>
        <p:spPr>
          <a:xfrm>
            <a:off x="4114800" y="5202936"/>
            <a:ext cx="70710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Pair-programming for test scaffolds and evaluation scripts.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8251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DATA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4980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Tuned abroad, tested on Tanzanian slides it never saw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4416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All public, split by patient. One command, make data, fetches and checksum-verifies the core sets.</a:t>
            </a:r>
            <a:endParaRPr lang="en-US" sz="1400" dirty="0"/>
          </a:p>
        </p:txBody>
      </p:sp>
      <p:sp>
        <p:nvSpPr>
          <p:cNvPr id="5" name="table-card"/>
          <p:cNvSpPr/>
          <p:nvPr/>
        </p:nvSpPr>
        <p:spPr>
          <a:xfrm>
            <a:off x="640080" y="1828800"/>
            <a:ext cx="10911535" cy="3611880"/>
          </a:xfrm>
          <a:prstGeom prst="roundRect">
            <a:avLst>
              <a:gd name="adj" fmla="val 354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6000"/>
              </a:srgbClr>
            </a:outerShdw>
          </a:effectLst>
        </p:spPr>
      </p:sp>
      <p:graphicFrame>
        <p:nvGraphicFramePr>
          <p:cNvPr id="7" name="dataset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93392"/>
          <a:ext cx="10545775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1965960"/>
                <a:gridCol w="2606040"/>
                <a:gridCol w="1143000"/>
                <a:gridCol w="240761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</a:rPr>
                        <a:t>DATASET</a:t>
                      </a:r>
                      <a:endParaRPr lang="en-US" sz="11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</a:rPr>
                        <a:t>ORIGIN</a:t>
                      </a:r>
                      <a:endParaRPr lang="en-US" sz="11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</a:rPr>
                        <a:t>LABELS</a:t>
                      </a:r>
                      <a:endParaRPr lang="en-US" sz="11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</a:rPr>
                        <a:t>SIZE</a:t>
                      </a:r>
                      <a:endParaRPr lang="en-US" sz="11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</a:rPr>
                        <a:t>ROLE</a:t>
                      </a:r>
                      <a:endParaRPr lang="en-US" sz="11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</a:rPr>
                        <a:t>UDOM thick smears</a:t>
                      </a:r>
                      <a:endParaRPr lang="en-US" sz="13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563EB"/>
                          </a:solidFill>
                        </a:rPr>
                        <a:t>Tanzania, Morogoro</a:t>
                      </a:r>
                      <a:endParaRPr lang="en-US" sz="13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Boxes: parasites + WBC</a:t>
                      </a:r>
                      <a:endParaRPr lang="en-US" sz="13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149 MB</a:t>
                      </a:r>
                      <a:endParaRPr lang="en-US" sz="13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Count benchmark (held out)</a:t>
                      </a:r>
                      <a:endParaRPr lang="en-US" sz="13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</a:rPr>
                        <a:t>NM-AIST smears</a:t>
                      </a:r>
                      <a:endParaRPr lang="en-US" sz="13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563EB"/>
                          </a:solidFill>
                        </a:rPr>
                        <a:t>Tanzania, Arusha</a:t>
                      </a:r>
                      <a:endParaRPr lang="en-US" sz="13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Image-level, 3,544 images</a:t>
                      </a:r>
                      <a:endParaRPr lang="en-US" sz="13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Several GB</a:t>
                      </a:r>
                      <a:endParaRPr lang="en-US" sz="13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Slide-level test (held out)</a:t>
                      </a:r>
                      <a:endParaRPr lang="en-US" sz="13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</a:rPr>
                        <a:t>NLM thick, 150 patients</a:t>
                      </a:r>
                      <a:endParaRPr lang="en-US" sz="13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Bangladesh</a:t>
                      </a:r>
                      <a:endParaRPr lang="en-US" sz="13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Every parasite + WBC</a:t>
                      </a:r>
                      <a:endParaRPr lang="en-US" sz="13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3.9 GB</a:t>
                      </a:r>
                      <a:endParaRPr lang="en-US" sz="13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Tuning and training</a:t>
                      </a:r>
                      <a:endParaRPr lang="en-US" sz="13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</a:rPr>
                        <a:t>NLM thick, uninfected</a:t>
                      </a:r>
                      <a:endParaRPr lang="en-US" sz="13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Bangladesh</a:t>
                      </a:r>
                      <a:endParaRPr lang="en-US" sz="13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WBC; negative slides</a:t>
                      </a:r>
                      <a:endParaRPr lang="en-US" sz="13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2.5 GB</a:t>
                      </a:r>
                      <a:endParaRPr lang="en-US" sz="13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Specificity</a:t>
                      </a:r>
                      <a:endParaRPr lang="en-US" sz="13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</a:rPr>
                        <a:t>NLM Malaria Screener</a:t>
                      </a:r>
                      <a:endParaRPr lang="en-US" sz="13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Sudan</a:t>
                      </a:r>
                      <a:endParaRPr lang="en-US" sz="13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Expert counts, 190 patients</a:t>
                      </a:r>
                      <a:endParaRPr lang="en-US" sz="13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49 GB</a:t>
                      </a:r>
                      <a:endParaRPr lang="en-US" sz="13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African validation (optional)</a:t>
                      </a:r>
                      <a:endParaRPr lang="en-US" sz="1300" dirty="0"/>
                    </a:p>
                  </a:txBody>
                  <a:tcPr marL="128016" marR="12801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badge"/>
          <p:cNvSpPr/>
          <p:nvPr/>
        </p:nvSpPr>
        <p:spPr>
          <a:xfrm>
            <a:off x="640080" y="5669280"/>
            <a:ext cx="1847088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EFF6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5673852"/>
            <a:ext cx="18470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</a:rPr>
              <a:t>Held out for testing</a:t>
            </a:r>
            <a:endParaRPr lang="en-US" sz="1050" dirty="0"/>
          </a:p>
        </p:txBody>
      </p:sp>
      <p:sp>
        <p:nvSpPr>
          <p:cNvPr id="9" name="badge"/>
          <p:cNvSpPr/>
          <p:nvPr/>
        </p:nvSpPr>
        <p:spPr>
          <a:xfrm>
            <a:off x="2596896" y="5669280"/>
            <a:ext cx="154716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596896" y="5673852"/>
            <a:ext cx="154716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Split by patient</a:t>
            </a:r>
            <a:endParaRPr lang="en-US" sz="1050" dirty="0"/>
          </a:p>
        </p:txBody>
      </p:sp>
      <p:sp>
        <p:nvSpPr>
          <p:cNvPr id="11" name="badge"/>
          <p:cNvSpPr/>
          <p:nvPr/>
        </p:nvSpPr>
        <p:spPr>
          <a:xfrm>
            <a:off x="4253789" y="5669280"/>
            <a:ext cx="28968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253789" y="5673852"/>
            <a:ext cx="289681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CC BY 4.0 and public research data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8251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EVALUATION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4980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Each Meta capability must earn its place in the results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4416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The protocol is fixed before any results; the Tanzanian sets are never used for tuning.</a:t>
            </a:r>
            <a:endParaRPr lang="en-US" sz="1400" dirty="0"/>
          </a:p>
        </p:txBody>
      </p:sp>
      <p:sp>
        <p:nvSpPr>
          <p:cNvPr id="5" name="metrics"/>
          <p:cNvSpPr/>
          <p:nvPr/>
        </p:nvSpPr>
        <p:spPr>
          <a:xfrm>
            <a:off x="640080" y="1828800"/>
            <a:ext cx="5074920" cy="420624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6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60120" y="2057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What we measure</a:t>
            </a:r>
            <a:endParaRPr lang="en-US" sz="1600" dirty="0"/>
          </a:p>
        </p:txBody>
      </p:sp>
      <p:pic>
        <p:nvPicPr>
          <p:cNvPr id="7" name="che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642616"/>
            <a:ext cx="219456" cy="21945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07592" y="2606040"/>
            <a:ext cx="40873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Detection precision, recall and F1</a:t>
            </a:r>
            <a:endParaRPr lang="en-US" sz="1400" dirty="0"/>
          </a:p>
        </p:txBody>
      </p:sp>
      <p:pic>
        <p:nvPicPr>
          <p:cNvPr id="9" name="che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209544"/>
            <a:ext cx="219456" cy="2194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07592" y="3172968"/>
            <a:ext cx="40873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Count error, bias and correlation</a:t>
            </a:r>
            <a:endParaRPr lang="en-US" sz="1400" dirty="0"/>
          </a:p>
        </p:txBody>
      </p:sp>
      <p:pic>
        <p:nvPicPr>
          <p:cNvPr id="11" name="che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776472"/>
            <a:ext cx="219456" cy="21945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07592" y="3739896"/>
            <a:ext cx="40873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Slide sensitivity and specificity</a:t>
            </a:r>
            <a:endParaRPr lang="en-US" sz="1400" dirty="0"/>
          </a:p>
        </p:txBody>
      </p:sp>
      <p:pic>
        <p:nvPicPr>
          <p:cNvPr id="13" name="che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343400"/>
            <a:ext cx="219456" cy="21945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07592" y="4306824"/>
            <a:ext cx="40873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95% confidence intervals by patient</a:t>
            </a:r>
            <a:endParaRPr lang="en-US" sz="1400" dirty="0"/>
          </a:p>
        </p:txBody>
      </p:sp>
      <p:sp>
        <p:nvSpPr>
          <p:cNvPr id="15" name="headline-q"/>
          <p:cNvSpPr/>
          <p:nvPr/>
        </p:nvSpPr>
        <p:spPr>
          <a:xfrm>
            <a:off x="914400" y="4846320"/>
            <a:ext cx="4526280" cy="960120"/>
          </a:xfrm>
          <a:prstGeom prst="roundRect">
            <a:avLst>
              <a:gd name="adj" fmla="val 9524"/>
            </a:avLst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1097280" y="495604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563EB"/>
                </a:solidFill>
              </a:rPr>
              <a:t>HEADLINE QUESTION</a:t>
            </a:r>
            <a:endParaRPr lang="en-US" sz="1000" dirty="0"/>
          </a:p>
        </p:txBody>
      </p:sp>
      <p:sp>
        <p:nvSpPr>
          <p:cNvPr id="17" name="Text 11"/>
          <p:cNvSpPr txBox="1"/>
          <p:nvPr/>
        </p:nvSpPr>
        <p:spPr>
          <a:xfrm>
            <a:off x="1097280" y="519379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</a:rPr>
              <a:t>Does the count agree with an expert's on Tanzanian slides it never trained on?</a:t>
            </a:r>
            <a:endParaRPr lang="en-US" sz="1300" dirty="0"/>
          </a:p>
        </p:txBody>
      </p:sp>
      <p:sp>
        <p:nvSpPr>
          <p:cNvPr id="18" name="ablation"/>
          <p:cNvSpPr/>
          <p:nvPr/>
        </p:nvSpPr>
        <p:spPr>
          <a:xfrm>
            <a:off x="5943600" y="1828800"/>
            <a:ext cx="5608015" cy="420624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6000"/>
              </a:srgbClr>
            </a:outerShdw>
          </a:effectLst>
        </p:spPr>
      </p:sp>
      <p:sp>
        <p:nvSpPr>
          <p:cNvPr id="19" name="Text 13"/>
          <p:cNvSpPr txBox="1"/>
          <p:nvPr/>
        </p:nvSpPr>
        <p:spPr>
          <a:xfrm>
            <a:off x="626364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Ablation ladder</a:t>
            </a:r>
            <a:endParaRPr lang="en-US" sz="1600" dirty="0"/>
          </a:p>
        </p:txBody>
      </p:sp>
      <p:sp>
        <p:nvSpPr>
          <p:cNvPr id="20" name="badge"/>
          <p:cNvSpPr/>
          <p:nvPr/>
        </p:nvSpPr>
        <p:spPr>
          <a:xfrm>
            <a:off x="10317175" y="205740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10317175" y="2061972"/>
            <a:ext cx="91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</a:rPr>
              <a:t>5 variants</a:t>
            </a:r>
            <a:endParaRPr lang="en-US" sz="1050" dirty="0"/>
          </a:p>
        </p:txBody>
      </p:sp>
      <p:sp>
        <p:nvSpPr>
          <p:cNvPr id="22" name="rung"/>
          <p:cNvSpPr/>
          <p:nvPr/>
        </p:nvSpPr>
        <p:spPr>
          <a:xfrm>
            <a:off x="6263640" y="2606040"/>
            <a:ext cx="4967935" cy="475488"/>
          </a:xfrm>
          <a:prstGeom prst="roundRect">
            <a:avLst>
              <a:gd name="adj" fmla="val 15385"/>
            </a:avLst>
          </a:prstGeom>
          <a:solidFill>
            <a:srgbClr val="F1F5F9"/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6446520" y="2606040"/>
            <a:ext cx="46021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Baseline: stain threshold, no AI</a:t>
            </a:r>
            <a:endParaRPr lang="en-US" sz="1300" dirty="0"/>
          </a:p>
        </p:txBody>
      </p:sp>
      <p:sp>
        <p:nvSpPr>
          <p:cNvPr id="24" name="rung"/>
          <p:cNvSpPr/>
          <p:nvPr/>
        </p:nvSpPr>
        <p:spPr>
          <a:xfrm>
            <a:off x="6464808" y="3227832"/>
            <a:ext cx="4766767" cy="475488"/>
          </a:xfrm>
          <a:prstGeom prst="roundRect">
            <a:avLst>
              <a:gd name="adj" fmla="val 15385"/>
            </a:avLst>
          </a:prstGeom>
          <a:solidFill>
            <a:srgbClr val="EFF6FF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6647688" y="3227832"/>
            <a:ext cx="440100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SAM 3, text prompt</a:t>
            </a:r>
            <a:endParaRPr lang="en-US" sz="1300" dirty="0"/>
          </a:p>
        </p:txBody>
      </p:sp>
      <p:sp>
        <p:nvSpPr>
          <p:cNvPr id="26" name="rung"/>
          <p:cNvSpPr/>
          <p:nvPr/>
        </p:nvSpPr>
        <p:spPr>
          <a:xfrm>
            <a:off x="6665976" y="3849624"/>
            <a:ext cx="4565599" cy="475488"/>
          </a:xfrm>
          <a:prstGeom prst="roundRect">
            <a:avLst>
              <a:gd name="adj" fmla="val 15385"/>
            </a:avLst>
          </a:prstGeom>
          <a:solidFill>
            <a:srgbClr val="DBEAFE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6848856" y="3849624"/>
            <a:ext cx="4199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SAM 3, best text prompt</a:t>
            </a:r>
            <a:endParaRPr lang="en-US" sz="1300" dirty="0"/>
          </a:p>
        </p:txBody>
      </p:sp>
      <p:sp>
        <p:nvSpPr>
          <p:cNvPr id="28" name="rung"/>
          <p:cNvSpPr/>
          <p:nvPr/>
        </p:nvSpPr>
        <p:spPr>
          <a:xfrm>
            <a:off x="6867144" y="4471416"/>
            <a:ext cx="4364431" cy="475488"/>
          </a:xfrm>
          <a:prstGeom prst="roundRect">
            <a:avLst>
              <a:gd name="adj" fmla="val 15385"/>
            </a:avLst>
          </a:prstGeom>
          <a:solidFill>
            <a:srgbClr val="93C5FD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7050024" y="4471416"/>
            <a:ext cx="399867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SAM 3, text + exemplars</a:t>
            </a:r>
            <a:endParaRPr lang="en-US" sz="1300" dirty="0"/>
          </a:p>
        </p:txBody>
      </p:sp>
      <p:sp>
        <p:nvSpPr>
          <p:cNvPr id="30" name="rung"/>
          <p:cNvSpPr/>
          <p:nvPr/>
        </p:nvSpPr>
        <p:spPr>
          <a:xfrm>
            <a:off x="7068312" y="5093208"/>
            <a:ext cx="4163263" cy="475488"/>
          </a:xfrm>
          <a:prstGeom prst="roundRect">
            <a:avLst>
              <a:gd name="adj" fmla="val 15385"/>
            </a:avLst>
          </a:prstGeom>
          <a:solidFill>
            <a:srgbClr val="2563EB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7251192" y="5093208"/>
            <a:ext cx="379750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+ Muse Spark quality review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8251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BUILT FOR THE RUBRIC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4980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How Darubini earns each point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4416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Weights from the Official Rules; every build task maps to at least one.</a:t>
            </a:r>
            <a:endParaRPr lang="en-US" sz="1400" dirty="0"/>
          </a:p>
        </p:txBody>
      </p:sp>
      <p:sp>
        <p:nvSpPr>
          <p:cNvPr id="5" name="chart-card"/>
          <p:cNvSpPr/>
          <p:nvPr/>
        </p:nvSpPr>
        <p:spPr>
          <a:xfrm>
            <a:off x="640080" y="1828800"/>
            <a:ext cx="5394960" cy="420624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6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60120" y="2057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Judging weights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3774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Share of the final project score, %</a:t>
            </a:r>
            <a:endParaRPr lang="en-US" sz="1200" dirty="0"/>
          </a:p>
        </p:txBody>
      </p:sp>
      <p:sp>
        <p:nvSpPr>
          <p:cNvPr id="8" name="gridline"/>
          <p:cNvSpPr/>
          <p:nvPr/>
        </p:nvSpPr>
        <p:spPr>
          <a:xfrm>
            <a:off x="2331720" y="2670048"/>
            <a:ext cx="0" cy="2304288"/>
          </a:xfrm>
          <a:prstGeom prst="line">
            <a:avLst/>
          </a:prstGeom>
          <a:noFill/>
          <a:ln w="9525">
            <a:solidFill>
              <a:srgbClr val="E2E8F0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2057400" y="501091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</a:t>
            </a:r>
            <a:endParaRPr lang="en-US" sz="1000" dirty="0"/>
          </a:p>
        </p:txBody>
      </p:sp>
      <p:sp>
        <p:nvSpPr>
          <p:cNvPr id="10" name="gridline"/>
          <p:cNvSpPr/>
          <p:nvPr/>
        </p:nvSpPr>
        <p:spPr>
          <a:xfrm>
            <a:off x="3285309" y="2670048"/>
            <a:ext cx="0" cy="2304288"/>
          </a:xfrm>
          <a:prstGeom prst="line">
            <a:avLst/>
          </a:prstGeom>
          <a:noFill/>
          <a:ln w="9525">
            <a:solidFill>
              <a:srgbClr val="E2E8F0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3010989" y="501091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10</a:t>
            </a:r>
            <a:endParaRPr lang="en-US" sz="1000" dirty="0"/>
          </a:p>
        </p:txBody>
      </p:sp>
      <p:sp>
        <p:nvSpPr>
          <p:cNvPr id="12" name="gridline"/>
          <p:cNvSpPr/>
          <p:nvPr/>
        </p:nvSpPr>
        <p:spPr>
          <a:xfrm>
            <a:off x="4238897" y="2670048"/>
            <a:ext cx="0" cy="2304288"/>
          </a:xfrm>
          <a:prstGeom prst="line">
            <a:avLst/>
          </a:prstGeom>
          <a:noFill/>
          <a:ln w="9525">
            <a:solidFill>
              <a:srgbClr val="E2E8F0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3964577" y="501091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20</a:t>
            </a:r>
            <a:endParaRPr lang="en-US" sz="1000" dirty="0"/>
          </a:p>
        </p:txBody>
      </p:sp>
      <p:sp>
        <p:nvSpPr>
          <p:cNvPr id="14" name="gridline"/>
          <p:cNvSpPr/>
          <p:nvPr/>
        </p:nvSpPr>
        <p:spPr>
          <a:xfrm>
            <a:off x="5192486" y="2670048"/>
            <a:ext cx="0" cy="2304288"/>
          </a:xfrm>
          <a:prstGeom prst="line">
            <a:avLst/>
          </a:prstGeom>
          <a:noFill/>
          <a:ln w="9525">
            <a:solidFill>
              <a:srgbClr val="E2E8F0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4918166" y="501091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30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276148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Impact</a:t>
            </a:r>
            <a:endParaRPr lang="en-US" sz="1200" dirty="0"/>
          </a:p>
        </p:txBody>
      </p:sp>
      <p:sp>
        <p:nvSpPr>
          <p:cNvPr id="17" name="bar-Impact"/>
          <p:cNvSpPr/>
          <p:nvPr/>
        </p:nvSpPr>
        <p:spPr>
          <a:xfrm>
            <a:off x="2331720" y="2761488"/>
            <a:ext cx="2860766" cy="420624"/>
          </a:xfrm>
          <a:prstGeom prst="roundRect">
            <a:avLst>
              <a:gd name="adj" fmla="val 17391"/>
            </a:avLst>
          </a:prstGeom>
          <a:solidFill>
            <a:srgbClr val="2563E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331720" y="2761488"/>
            <a:ext cx="273275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30%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3328416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Meta tooling</a:t>
            </a:r>
            <a:endParaRPr lang="en-US" sz="1200" dirty="0"/>
          </a:p>
        </p:txBody>
      </p:sp>
      <p:sp>
        <p:nvSpPr>
          <p:cNvPr id="20" name="bar-Meta tooling"/>
          <p:cNvSpPr/>
          <p:nvPr/>
        </p:nvSpPr>
        <p:spPr>
          <a:xfrm>
            <a:off x="2331720" y="3328416"/>
            <a:ext cx="2383971" cy="420624"/>
          </a:xfrm>
          <a:prstGeom prst="roundRect">
            <a:avLst>
              <a:gd name="adj" fmla="val 17391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331720" y="3328416"/>
            <a:ext cx="22559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25%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3895344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Demo</a:t>
            </a:r>
            <a:endParaRPr lang="en-US" sz="1200" dirty="0"/>
          </a:p>
        </p:txBody>
      </p:sp>
      <p:sp>
        <p:nvSpPr>
          <p:cNvPr id="23" name="bar-Demo"/>
          <p:cNvSpPr/>
          <p:nvPr/>
        </p:nvSpPr>
        <p:spPr>
          <a:xfrm>
            <a:off x="2331720" y="3895344"/>
            <a:ext cx="2383971" cy="420624"/>
          </a:xfrm>
          <a:prstGeom prst="roundRect">
            <a:avLst>
              <a:gd name="adj" fmla="val 17391"/>
            </a:avLst>
          </a:prstGeom>
          <a:solidFill>
            <a:srgbClr val="60A5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2331720" y="3895344"/>
            <a:ext cx="22559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25%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" y="446227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Technical depth</a:t>
            </a:r>
            <a:endParaRPr lang="en-US" sz="1200" dirty="0"/>
          </a:p>
        </p:txBody>
      </p:sp>
      <p:sp>
        <p:nvSpPr>
          <p:cNvPr id="26" name="bar-Technical depth"/>
          <p:cNvSpPr/>
          <p:nvPr/>
        </p:nvSpPr>
        <p:spPr>
          <a:xfrm>
            <a:off x="2331720" y="4462272"/>
            <a:ext cx="1907177" cy="420624"/>
          </a:xfrm>
          <a:prstGeom prst="roundRect">
            <a:avLst>
              <a:gd name="adj" fmla="val 17391"/>
            </a:avLst>
          </a:prstGeom>
          <a:solidFill>
            <a:srgbClr val="93C5F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2331720" y="4462272"/>
            <a:ext cx="177916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20%</a:t>
            </a:r>
            <a:endParaRPr lang="en-US" sz="1200" dirty="0"/>
          </a:p>
        </p:txBody>
      </p:sp>
      <p:pic>
        <p:nvPicPr>
          <p:cNvPr id="28" name="trend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5468112"/>
            <a:ext cx="182880" cy="182880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1234440" y="54406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Impact and the live demo carry 55% between them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960120" y="57058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Meta tooling is weighted above technical depth</a:t>
            </a:r>
            <a:endParaRPr lang="en-US" sz="1100" dirty="0"/>
          </a:p>
        </p:txBody>
      </p:sp>
      <p:sp>
        <p:nvSpPr>
          <p:cNvPr id="31" name="legend-card"/>
          <p:cNvSpPr/>
          <p:nvPr/>
        </p:nvSpPr>
        <p:spPr>
          <a:xfrm>
            <a:off x="6263640" y="1828800"/>
            <a:ext cx="5287975" cy="420624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6000"/>
              </a:srgbClr>
            </a:outerShdw>
          </a:effectLst>
        </p:spPr>
      </p:sp>
      <p:sp>
        <p:nvSpPr>
          <p:cNvPr id="32" name="legend-dot"/>
          <p:cNvSpPr/>
          <p:nvPr/>
        </p:nvSpPr>
        <p:spPr>
          <a:xfrm>
            <a:off x="6583680" y="213055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858000" y="20574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Impact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10545775" y="20574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30%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6858000" y="2377440"/>
            <a:ext cx="4373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 leading killer in Tanzania, existing microscopes, a Kiswahili report, results on local slides.</a:t>
            </a:r>
            <a:endParaRPr lang="en-US" sz="1200" dirty="0"/>
          </a:p>
        </p:txBody>
      </p:sp>
      <p:sp>
        <p:nvSpPr>
          <p:cNvPr id="36" name="divider"/>
          <p:cNvSpPr/>
          <p:nvPr/>
        </p:nvSpPr>
        <p:spPr>
          <a:xfrm>
            <a:off x="6537960" y="2880360"/>
            <a:ext cx="47393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7" name="legend-dot"/>
          <p:cNvSpPr/>
          <p:nvPr/>
        </p:nvSpPr>
        <p:spPr>
          <a:xfrm>
            <a:off x="6583680" y="318211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3B82F6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6858000" y="31089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Meta tooling</a:t>
            </a:r>
            <a:endParaRPr lang="en-US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10545775" y="31089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25%</a:t>
            </a:r>
            <a:endParaRPr lang="en-US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6858000" y="3429000"/>
            <a:ext cx="4373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Exemplar prompting, video tracking, Muse Spark as a tool-calling agent.</a:t>
            </a:r>
            <a:endParaRPr lang="en-US" sz="1200" dirty="0"/>
          </a:p>
        </p:txBody>
      </p:sp>
      <p:sp>
        <p:nvSpPr>
          <p:cNvPr id="41" name="divider"/>
          <p:cNvSpPr/>
          <p:nvPr/>
        </p:nvSpPr>
        <p:spPr>
          <a:xfrm>
            <a:off x="6537960" y="3931920"/>
            <a:ext cx="47393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2" name="legend-dot"/>
          <p:cNvSpPr/>
          <p:nvPr/>
        </p:nvSpPr>
        <p:spPr>
          <a:xfrm>
            <a:off x="6583680" y="423367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60A5FA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6858000" y="41605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Demo</a:t>
            </a:r>
            <a:endParaRPr lang="en-US" sz="1500" dirty="0"/>
          </a:p>
        </p:txBody>
      </p:sp>
      <p:sp>
        <p:nvSpPr>
          <p:cNvPr id="44" name="Text 41"/>
          <p:cNvSpPr txBox="1"/>
          <p:nvPr/>
        </p:nvSpPr>
        <p:spPr>
          <a:xfrm>
            <a:off x="10545775" y="41605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25%</a:t>
            </a:r>
            <a:endParaRPr lang="en-US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6858000" y="4480560"/>
            <a:ext cx="4373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Live on a real microscope in Dar es Salaam, beside a manual count.</a:t>
            </a:r>
            <a:endParaRPr lang="en-US" sz="1200" dirty="0"/>
          </a:p>
        </p:txBody>
      </p:sp>
      <p:sp>
        <p:nvSpPr>
          <p:cNvPr id="46" name="divider"/>
          <p:cNvSpPr/>
          <p:nvPr/>
        </p:nvSpPr>
        <p:spPr>
          <a:xfrm>
            <a:off x="6537960" y="4983480"/>
            <a:ext cx="47393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7" name="legend-dot"/>
          <p:cNvSpPr/>
          <p:nvPr/>
        </p:nvSpPr>
        <p:spPr>
          <a:xfrm>
            <a:off x="6583680" y="528523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93C5FD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6858000" y="52120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Technical depth</a:t>
            </a:r>
            <a:endParaRPr lang="en-US" sz="1500" dirty="0"/>
          </a:p>
        </p:txBody>
      </p:sp>
      <p:sp>
        <p:nvSpPr>
          <p:cNvPr id="49" name="Text 46"/>
          <p:cNvSpPr txBox="1"/>
          <p:nvPr/>
        </p:nvSpPr>
        <p:spPr>
          <a:xfrm>
            <a:off x="10545775" y="521208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20%</a:t>
            </a:r>
            <a:endParaRPr lang="en-US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6858000" y="5532120"/>
            <a:ext cx="4373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Strict typing, 96% coverage, security scans, patient-level splits.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8251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IMPLEMENTATION PLAN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4980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Ten days, feature freeze on day 8, submit 11 hours early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4416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All dates East Africa Time. Submission closes Thursday 5 November at 05:00.</a:t>
            </a:r>
            <a:endParaRPr lang="en-US" sz="1400" dirty="0"/>
          </a:p>
        </p:txBody>
      </p:sp>
      <p:sp>
        <p:nvSpPr>
          <p:cNvPr id="5" name="track"/>
          <p:cNvSpPr/>
          <p:nvPr/>
        </p:nvSpPr>
        <p:spPr>
          <a:xfrm>
            <a:off x="1488415" y="2176272"/>
            <a:ext cx="9214866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" name="milestone"/>
          <p:cNvSpPr/>
          <p:nvPr/>
        </p:nvSpPr>
        <p:spPr>
          <a:xfrm>
            <a:off x="1369543" y="2057400"/>
            <a:ext cx="237744" cy="23774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563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719072"/>
            <a:ext cx="169666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24–25 Oct</a:t>
            </a:r>
            <a:endParaRPr lang="en-US" sz="1100" dirty="0"/>
          </a:p>
        </p:txBody>
      </p:sp>
      <p:sp>
        <p:nvSpPr>
          <p:cNvPr id="8" name="phase"/>
          <p:cNvSpPr/>
          <p:nvPr/>
        </p:nvSpPr>
        <p:spPr>
          <a:xfrm>
            <a:off x="640080" y="2560320"/>
            <a:ext cx="1696669" cy="2834640"/>
          </a:xfrm>
          <a:prstGeom prst="roundRect">
            <a:avLst>
              <a:gd name="adj" fmla="val 754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6000"/>
              </a:srgbClr>
            </a:outerShdw>
          </a:effectLst>
        </p:spPr>
      </p:sp>
      <p:sp>
        <p:nvSpPr>
          <p:cNvPr id="9" name="badge"/>
          <p:cNvSpPr/>
          <p:nvPr/>
        </p:nvSpPr>
        <p:spPr>
          <a:xfrm>
            <a:off x="841248" y="2761488"/>
            <a:ext cx="1397203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" y="2766060"/>
            <a:ext cx="1397203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</a:rPr>
              <a:t>Before kickoff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3200400"/>
            <a:ext cx="13309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Ready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3611880"/>
            <a:ext cx="133090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Repo and CI live; datasets downloaded; microscope booked</a:t>
            </a:r>
            <a:endParaRPr lang="en-US" sz="1300" dirty="0"/>
          </a:p>
        </p:txBody>
      </p:sp>
      <p:sp>
        <p:nvSpPr>
          <p:cNvPr id="13" name="milestone"/>
          <p:cNvSpPr/>
          <p:nvPr/>
        </p:nvSpPr>
        <p:spPr>
          <a:xfrm>
            <a:off x="3212516" y="2057400"/>
            <a:ext cx="237744" cy="23774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483053" y="1719072"/>
            <a:ext cx="169666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26–28 Oct</a:t>
            </a:r>
            <a:endParaRPr lang="en-US" sz="1100" dirty="0"/>
          </a:p>
        </p:txBody>
      </p:sp>
      <p:sp>
        <p:nvSpPr>
          <p:cNvPr id="15" name="phase"/>
          <p:cNvSpPr/>
          <p:nvPr/>
        </p:nvSpPr>
        <p:spPr>
          <a:xfrm>
            <a:off x="2483053" y="2560320"/>
            <a:ext cx="1696669" cy="2834640"/>
          </a:xfrm>
          <a:prstGeom prst="roundRect">
            <a:avLst>
              <a:gd name="adj" fmla="val 754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6000"/>
              </a:srgbClr>
            </a:outerShdw>
          </a:effectLst>
        </p:spPr>
      </p:sp>
      <p:sp>
        <p:nvSpPr>
          <p:cNvPr id="16" name="badge"/>
          <p:cNvSpPr/>
          <p:nvPr/>
        </p:nvSpPr>
        <p:spPr>
          <a:xfrm>
            <a:off x="2684221" y="2761488"/>
            <a:ext cx="947318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684221" y="2766060"/>
            <a:ext cx="94731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</a:rPr>
              <a:t>Days 1–3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684221" y="3200400"/>
            <a:ext cx="13309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SAM 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2684221" y="3611880"/>
            <a:ext cx="133090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Wire the API, scale runs, exemplar prompting</a:t>
            </a:r>
            <a:endParaRPr lang="en-US" sz="1300" dirty="0"/>
          </a:p>
        </p:txBody>
      </p:sp>
      <p:sp>
        <p:nvSpPr>
          <p:cNvPr id="20" name="milestone"/>
          <p:cNvSpPr/>
          <p:nvPr/>
        </p:nvSpPr>
        <p:spPr>
          <a:xfrm>
            <a:off x="5055489" y="2057400"/>
            <a:ext cx="237744" cy="23774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326026" y="1719072"/>
            <a:ext cx="169666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29–30 Oct</a:t>
            </a:r>
            <a:endParaRPr lang="en-US" sz="1100" dirty="0"/>
          </a:p>
        </p:txBody>
      </p:sp>
      <p:sp>
        <p:nvSpPr>
          <p:cNvPr id="22" name="phase"/>
          <p:cNvSpPr/>
          <p:nvPr/>
        </p:nvSpPr>
        <p:spPr>
          <a:xfrm>
            <a:off x="4326026" y="2560320"/>
            <a:ext cx="1696669" cy="2834640"/>
          </a:xfrm>
          <a:prstGeom prst="roundRect">
            <a:avLst>
              <a:gd name="adj" fmla="val 754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6000"/>
              </a:srgbClr>
            </a:outerShdw>
          </a:effectLst>
        </p:spPr>
      </p:sp>
      <p:sp>
        <p:nvSpPr>
          <p:cNvPr id="23" name="badge"/>
          <p:cNvSpPr/>
          <p:nvPr/>
        </p:nvSpPr>
        <p:spPr>
          <a:xfrm>
            <a:off x="4527194" y="2761488"/>
            <a:ext cx="947318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27194" y="2766060"/>
            <a:ext cx="94731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</a:rPr>
              <a:t>Days 4–5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527194" y="3200400"/>
            <a:ext cx="13309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Prove it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4527194" y="3611880"/>
            <a:ext cx="133090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Tanzanian evaluation; Muse Spark agent</a:t>
            </a:r>
            <a:endParaRPr lang="en-US" sz="1300" dirty="0"/>
          </a:p>
        </p:txBody>
      </p:sp>
      <p:sp>
        <p:nvSpPr>
          <p:cNvPr id="27" name="milestone"/>
          <p:cNvSpPr/>
          <p:nvPr/>
        </p:nvSpPr>
        <p:spPr>
          <a:xfrm>
            <a:off x="6898462" y="2057400"/>
            <a:ext cx="237744" cy="23774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169000" y="1719072"/>
            <a:ext cx="169666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31 Oct–1 Nov</a:t>
            </a:r>
            <a:endParaRPr lang="en-US" sz="1100" dirty="0"/>
          </a:p>
        </p:txBody>
      </p:sp>
      <p:sp>
        <p:nvSpPr>
          <p:cNvPr id="29" name="phase"/>
          <p:cNvSpPr/>
          <p:nvPr/>
        </p:nvSpPr>
        <p:spPr>
          <a:xfrm>
            <a:off x="6169000" y="2560320"/>
            <a:ext cx="1696669" cy="2834640"/>
          </a:xfrm>
          <a:prstGeom prst="roundRect">
            <a:avLst>
              <a:gd name="adj" fmla="val 754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6000"/>
              </a:srgbClr>
            </a:outerShdw>
          </a:effectLst>
        </p:spPr>
      </p:sp>
      <p:sp>
        <p:nvSpPr>
          <p:cNvPr id="30" name="badge"/>
          <p:cNvSpPr/>
          <p:nvPr/>
        </p:nvSpPr>
        <p:spPr>
          <a:xfrm>
            <a:off x="6370168" y="2761488"/>
            <a:ext cx="947318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70168" y="2766060"/>
            <a:ext cx="94731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</a:rPr>
              <a:t>Days 6–7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370168" y="3200400"/>
            <a:ext cx="13309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Product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6370168" y="3611880"/>
            <a:ext cx="133090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Phone capture app; video tracking</a:t>
            </a:r>
            <a:endParaRPr lang="en-US" sz="1300" dirty="0"/>
          </a:p>
        </p:txBody>
      </p:sp>
      <p:sp>
        <p:nvSpPr>
          <p:cNvPr id="34" name="milestone"/>
          <p:cNvSpPr/>
          <p:nvPr/>
        </p:nvSpPr>
        <p:spPr>
          <a:xfrm>
            <a:off x="8741435" y="2057400"/>
            <a:ext cx="237744" cy="237744"/>
          </a:xfrm>
          <a:prstGeom prst="ellipse">
            <a:avLst/>
          </a:prstGeom>
          <a:solidFill>
            <a:srgbClr val="2563EB"/>
          </a:solidFill>
          <a:ln w="22225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011973" y="1719072"/>
            <a:ext cx="169666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2 Nov</a:t>
            </a:r>
            <a:endParaRPr lang="en-US" sz="1100" dirty="0"/>
          </a:p>
        </p:txBody>
      </p:sp>
      <p:sp>
        <p:nvSpPr>
          <p:cNvPr id="36" name="phase"/>
          <p:cNvSpPr/>
          <p:nvPr/>
        </p:nvSpPr>
        <p:spPr>
          <a:xfrm>
            <a:off x="8011973" y="2560320"/>
            <a:ext cx="1696669" cy="2834640"/>
          </a:xfrm>
          <a:prstGeom prst="roundRect">
            <a:avLst>
              <a:gd name="adj" fmla="val 7545"/>
            </a:avLst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6000"/>
              </a:srgbClr>
            </a:outerShdw>
          </a:effectLst>
        </p:spPr>
      </p:sp>
      <p:sp>
        <p:nvSpPr>
          <p:cNvPr id="37" name="badge"/>
          <p:cNvSpPr/>
          <p:nvPr/>
        </p:nvSpPr>
        <p:spPr>
          <a:xfrm>
            <a:off x="8213141" y="2761488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213141" y="2766060"/>
            <a:ext cx="7223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Day 8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8213141" y="3200400"/>
            <a:ext cx="13309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Live lab</a:t>
            </a:r>
            <a:endParaRPr lang="en-US" sz="1800" dirty="0"/>
          </a:p>
        </p:txBody>
      </p:sp>
      <p:sp>
        <p:nvSpPr>
          <p:cNvPr id="40" name="Text 38"/>
          <p:cNvSpPr txBox="1"/>
          <p:nvPr/>
        </p:nvSpPr>
        <p:spPr>
          <a:xfrm>
            <a:off x="8213141" y="3611880"/>
            <a:ext cx="133090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Real microscope session; feature freeze</a:t>
            </a:r>
            <a:endParaRPr lang="en-US" sz="1300" dirty="0"/>
          </a:p>
        </p:txBody>
      </p:sp>
      <p:sp>
        <p:nvSpPr>
          <p:cNvPr id="41" name="milestone"/>
          <p:cNvSpPr/>
          <p:nvPr/>
        </p:nvSpPr>
        <p:spPr>
          <a:xfrm>
            <a:off x="10584409" y="2057400"/>
            <a:ext cx="237744" cy="237744"/>
          </a:xfrm>
          <a:prstGeom prst="ellipse">
            <a:avLst/>
          </a:prstGeom>
          <a:solidFill>
            <a:srgbClr val="2563EB"/>
          </a:solidFill>
          <a:ln w="22225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854946" y="1719072"/>
            <a:ext cx="169666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3–4 Nov</a:t>
            </a:r>
            <a:endParaRPr lang="en-US" sz="1100" dirty="0"/>
          </a:p>
        </p:txBody>
      </p:sp>
      <p:sp>
        <p:nvSpPr>
          <p:cNvPr id="43" name="phase"/>
          <p:cNvSpPr/>
          <p:nvPr/>
        </p:nvSpPr>
        <p:spPr>
          <a:xfrm>
            <a:off x="9854946" y="2560320"/>
            <a:ext cx="1696669" cy="2834640"/>
          </a:xfrm>
          <a:prstGeom prst="roundRect">
            <a:avLst>
              <a:gd name="adj" fmla="val 7545"/>
            </a:avLst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6000"/>
              </a:srgbClr>
            </a:outerShdw>
          </a:effectLst>
        </p:spPr>
      </p:sp>
      <p:sp>
        <p:nvSpPr>
          <p:cNvPr id="44" name="badge"/>
          <p:cNvSpPr/>
          <p:nvPr/>
        </p:nvSpPr>
        <p:spPr>
          <a:xfrm>
            <a:off x="10056114" y="2761488"/>
            <a:ext cx="1022299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0056114" y="2766060"/>
            <a:ext cx="102229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Days 9–10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10056114" y="3200400"/>
            <a:ext cx="13309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Ship</a:t>
            </a:r>
            <a:endParaRPr lang="en-US" sz="1800" dirty="0"/>
          </a:p>
        </p:txBody>
      </p:sp>
      <p:sp>
        <p:nvSpPr>
          <p:cNvPr id="47" name="Text 45"/>
          <p:cNvSpPr txBox="1"/>
          <p:nvPr/>
        </p:nvSpPr>
        <p:spPr>
          <a:xfrm>
            <a:off x="10056114" y="3611880"/>
            <a:ext cx="133090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Video, results, model card; submit by 18:00</a:t>
            </a:r>
            <a:endParaRPr lang="en-US" sz="1300" dirty="0"/>
          </a:p>
        </p:txBody>
      </p:sp>
      <p:sp>
        <p:nvSpPr>
          <p:cNvPr id="48" name="freeze-note"/>
          <p:cNvSpPr/>
          <p:nvPr/>
        </p:nvSpPr>
        <p:spPr>
          <a:xfrm>
            <a:off x="640080" y="5577840"/>
            <a:ext cx="10911535" cy="4572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14400" y="557784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Rule: no new features after Monday 2 November. Days 9 and 10 are polish, the 3-minute video and the write-up.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8251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ENGINEERING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4980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Clean DevOps from the first commit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4416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Every push runs the same gates; CI and CodeQL are green on main.</a:t>
            </a:r>
            <a:endParaRPr lang="en-US" sz="1400" dirty="0"/>
          </a:p>
        </p:txBody>
      </p:sp>
      <p:sp>
        <p:nvSpPr>
          <p:cNvPr id="5" name="terminal"/>
          <p:cNvSpPr/>
          <p:nvPr/>
        </p:nvSpPr>
        <p:spPr>
          <a:xfrm>
            <a:off x="640080" y="1828800"/>
            <a:ext cx="4983480" cy="4206240"/>
          </a:xfrm>
          <a:prstGeom prst="roundRect">
            <a:avLst>
              <a:gd name="adj" fmla="val 3043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6000"/>
              </a:srgbClr>
            </a:outerShdw>
          </a:effectLst>
        </p:spPr>
      </p:sp>
      <p:sp>
        <p:nvSpPr>
          <p:cNvPr id="6" name="window-dot"/>
          <p:cNvSpPr/>
          <p:nvPr/>
        </p:nvSpPr>
        <p:spPr>
          <a:xfrm>
            <a:off x="914400" y="202996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window-dot"/>
          <p:cNvSpPr/>
          <p:nvPr/>
        </p:nvSpPr>
        <p:spPr>
          <a:xfrm>
            <a:off x="1133856" y="202996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window-dot"/>
          <p:cNvSpPr/>
          <p:nvPr/>
        </p:nvSpPr>
        <p:spPr>
          <a:xfrm>
            <a:off x="1353312" y="2029968"/>
            <a:ext cx="118872" cy="118872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737360" y="19751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~/darubini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423160"/>
            <a:ext cx="4526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make check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ruff check .         All checks passed!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ruff format --check  42 files formatted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mypy --strict        no issues, 23 files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bandit -r src        0 issues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pip-audit            no known vulns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              72 passed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coverage             95.7%  (gate 80%)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gh run list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        main   success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CodeQL    main   success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   build  success</a:t>
            </a:r>
            <a:endParaRPr lang="en-US" sz="1200" dirty="0"/>
          </a:p>
        </p:txBody>
      </p:sp>
      <p:sp>
        <p:nvSpPr>
          <p:cNvPr id="11" name="gate"/>
          <p:cNvSpPr/>
          <p:nvPr/>
        </p:nvSpPr>
        <p:spPr>
          <a:xfrm>
            <a:off x="5852160" y="1828800"/>
            <a:ext cx="2758288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6000"/>
              </a:srgbClr>
            </a:outerShdw>
          </a:effectLst>
        </p:spPr>
      </p:sp>
      <p:sp>
        <p:nvSpPr>
          <p:cNvPr id="12" name="icon-tile"/>
          <p:cNvSpPr/>
          <p:nvPr/>
        </p:nvSpPr>
        <p:spPr>
          <a:xfrm>
            <a:off x="6080760" y="2057400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FF6FF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0122" y="2166762"/>
            <a:ext cx="201900" cy="2019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6656832" y="2057400"/>
            <a:ext cx="1798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Lint and format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656832" y="2377440"/>
            <a:ext cx="1798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Ruff with security, docstring and import rules</a:t>
            </a:r>
            <a:endParaRPr lang="en-US" sz="1100" dirty="0"/>
          </a:p>
        </p:txBody>
      </p:sp>
      <p:sp>
        <p:nvSpPr>
          <p:cNvPr id="16" name="gate"/>
          <p:cNvSpPr/>
          <p:nvPr/>
        </p:nvSpPr>
        <p:spPr>
          <a:xfrm>
            <a:off x="8793328" y="1828800"/>
            <a:ext cx="2758288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6000"/>
              </a:srgbClr>
            </a:outerShdw>
          </a:effectLst>
        </p:spPr>
      </p:sp>
      <p:sp>
        <p:nvSpPr>
          <p:cNvPr id="17" name="icon-tile"/>
          <p:cNvSpPr/>
          <p:nvPr/>
        </p:nvSpPr>
        <p:spPr>
          <a:xfrm>
            <a:off x="9021928" y="2057400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FF6FF"/>
          </a:solidFill>
          <a:ln/>
        </p:spPr>
      </p:sp>
      <p:pic>
        <p:nvPicPr>
          <p:cNvPr id="18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1290" y="2166762"/>
            <a:ext cx="201900" cy="20190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9598000" y="2057400"/>
            <a:ext cx="1798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Strict types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9598000" y="2377440"/>
            <a:ext cx="1798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mypy --strict across the package</a:t>
            </a:r>
            <a:endParaRPr lang="en-US" sz="1100" dirty="0"/>
          </a:p>
        </p:txBody>
      </p:sp>
      <p:sp>
        <p:nvSpPr>
          <p:cNvPr id="21" name="gate"/>
          <p:cNvSpPr/>
          <p:nvPr/>
        </p:nvSpPr>
        <p:spPr>
          <a:xfrm>
            <a:off x="5852160" y="3291840"/>
            <a:ext cx="2758288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6000"/>
              </a:srgbClr>
            </a:outerShdw>
          </a:effectLst>
        </p:spPr>
      </p:sp>
      <p:sp>
        <p:nvSpPr>
          <p:cNvPr id="22" name="icon-tile"/>
          <p:cNvSpPr/>
          <p:nvPr/>
        </p:nvSpPr>
        <p:spPr>
          <a:xfrm>
            <a:off x="6080760" y="3520440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FF6FF"/>
          </a:solidFill>
          <a:ln/>
        </p:spPr>
      </p:sp>
      <p:pic>
        <p:nvPicPr>
          <p:cNvPr id="23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122" y="3629802"/>
            <a:ext cx="201900" cy="20190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656832" y="3520440"/>
            <a:ext cx="1798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Tests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6656832" y="3840480"/>
            <a:ext cx="1798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Python 3.10, 3.11, 3.12 with an 80% coverage gate</a:t>
            </a:r>
            <a:endParaRPr lang="en-US" sz="1100" dirty="0"/>
          </a:p>
        </p:txBody>
      </p:sp>
      <p:sp>
        <p:nvSpPr>
          <p:cNvPr id="26" name="gate"/>
          <p:cNvSpPr/>
          <p:nvPr/>
        </p:nvSpPr>
        <p:spPr>
          <a:xfrm>
            <a:off x="8793328" y="3291840"/>
            <a:ext cx="2758288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6000"/>
              </a:srgbClr>
            </a:outerShdw>
          </a:effectLst>
        </p:spPr>
      </p:sp>
      <p:sp>
        <p:nvSpPr>
          <p:cNvPr id="27" name="icon-tile"/>
          <p:cNvSpPr/>
          <p:nvPr/>
        </p:nvSpPr>
        <p:spPr>
          <a:xfrm>
            <a:off x="9021928" y="3520440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FF6FF"/>
          </a:solidFill>
          <a:ln/>
        </p:spPr>
      </p:sp>
      <p:pic>
        <p:nvPicPr>
          <p:cNvPr id="28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1290" y="3629802"/>
            <a:ext cx="201900" cy="20190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9598000" y="3520440"/>
            <a:ext cx="1798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Security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9598000" y="3840480"/>
            <a:ext cx="1798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Bandit, pip-audit and CodeQL on every push</a:t>
            </a:r>
            <a:endParaRPr lang="en-US" sz="1100" dirty="0"/>
          </a:p>
        </p:txBody>
      </p:sp>
      <p:sp>
        <p:nvSpPr>
          <p:cNvPr id="31" name="gate"/>
          <p:cNvSpPr/>
          <p:nvPr/>
        </p:nvSpPr>
        <p:spPr>
          <a:xfrm>
            <a:off x="5852160" y="4754880"/>
            <a:ext cx="2758288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6000"/>
              </a:srgbClr>
            </a:outerShdw>
          </a:effectLst>
        </p:spPr>
      </p:sp>
      <p:sp>
        <p:nvSpPr>
          <p:cNvPr id="32" name="icon-tile"/>
          <p:cNvSpPr/>
          <p:nvPr/>
        </p:nvSpPr>
        <p:spPr>
          <a:xfrm>
            <a:off x="6080760" y="4983480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FF6FF"/>
          </a:solidFill>
          <a:ln/>
        </p:spPr>
      </p:sp>
      <p:pic>
        <p:nvPicPr>
          <p:cNvPr id="33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0122" y="5092842"/>
            <a:ext cx="201900" cy="20190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6656832" y="4983480"/>
            <a:ext cx="1798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Container</a:t>
            </a:r>
            <a:endParaRPr lang="en-US" sz="1400" dirty="0"/>
          </a:p>
        </p:txBody>
      </p:sp>
      <p:sp>
        <p:nvSpPr>
          <p:cNvPr id="35" name="Text 28"/>
          <p:cNvSpPr txBox="1"/>
          <p:nvPr/>
        </p:nvSpPr>
        <p:spPr>
          <a:xfrm>
            <a:off x="6656832" y="5303520"/>
            <a:ext cx="1798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Multi-stage Docker image, non-root, health check</a:t>
            </a:r>
            <a:endParaRPr lang="en-US" sz="1100" dirty="0"/>
          </a:p>
        </p:txBody>
      </p:sp>
      <p:sp>
        <p:nvSpPr>
          <p:cNvPr id="36" name="gate"/>
          <p:cNvSpPr/>
          <p:nvPr/>
        </p:nvSpPr>
        <p:spPr>
          <a:xfrm>
            <a:off x="8793328" y="4754880"/>
            <a:ext cx="2758288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6000"/>
              </a:srgbClr>
            </a:outerShdw>
          </a:effectLst>
        </p:spPr>
      </p:sp>
      <p:sp>
        <p:nvSpPr>
          <p:cNvPr id="37" name="icon-tile"/>
          <p:cNvSpPr/>
          <p:nvPr/>
        </p:nvSpPr>
        <p:spPr>
          <a:xfrm>
            <a:off x="9021928" y="4983480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FF6FF"/>
          </a:solidFill>
          <a:ln/>
        </p:spPr>
      </p:sp>
      <p:pic>
        <p:nvPicPr>
          <p:cNvPr id="38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1290" y="5092842"/>
            <a:ext cx="201900" cy="201900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9598000" y="4983480"/>
            <a:ext cx="1798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Upkeep</a:t>
            </a:r>
            <a:endParaRPr lang="en-US" sz="1400" dirty="0"/>
          </a:p>
        </p:txBody>
      </p:sp>
      <p:sp>
        <p:nvSpPr>
          <p:cNvPr id="40" name="Text 32"/>
          <p:cNvSpPr txBox="1"/>
          <p:nvPr/>
        </p:nvSpPr>
        <p:spPr>
          <a:xfrm>
            <a:off x="9598000" y="5303520"/>
            <a:ext cx="1798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Dependabot for pip, Actions and Docker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8251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SAFETY AND RISKS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4980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Decision support, with a fallback for every risk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4416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Darubini has not been clinically validated; it is built so that a mistake is caught by a person.</a:t>
            </a:r>
            <a:endParaRPr lang="en-US" sz="1400" dirty="0"/>
          </a:p>
        </p:txBody>
      </p:sp>
      <p:sp>
        <p:nvSpPr>
          <p:cNvPr id="5" name="safety"/>
          <p:cNvSpPr/>
          <p:nvPr/>
        </p:nvSpPr>
        <p:spPr>
          <a:xfrm>
            <a:off x="640080" y="1828800"/>
            <a:ext cx="4572000" cy="4206240"/>
          </a:xfrm>
          <a:prstGeom prst="roundRect">
            <a:avLst>
              <a:gd name="adj" fmla="val 3043"/>
            </a:avLst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6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60120" y="2057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Responsible by design</a:t>
            </a:r>
            <a:endParaRPr lang="en-US" sz="1600" dirty="0"/>
          </a:p>
        </p:txBody>
      </p:sp>
      <p:pic>
        <p:nvPicPr>
          <p:cNvPr id="7" name="che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642616"/>
            <a:ext cx="219456" cy="21945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07592" y="2606040"/>
            <a:ext cx="3675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A microscopist confirms every result</a:t>
            </a:r>
            <a:endParaRPr lang="en-US" sz="1400" dirty="0"/>
          </a:p>
        </p:txBody>
      </p:sp>
      <p:pic>
        <p:nvPicPr>
          <p:cNvPr id="9" name="che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191256"/>
            <a:ext cx="219456" cy="2194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07592" y="3154680"/>
            <a:ext cx="3675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Numbers come from code, never the model</a:t>
            </a:r>
            <a:endParaRPr lang="en-US" sz="1400" dirty="0"/>
          </a:p>
        </p:txBody>
      </p:sp>
      <p:pic>
        <p:nvPicPr>
          <p:cNvPr id="11" name="che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739896"/>
            <a:ext cx="219456" cy="21945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07592" y="3703320"/>
            <a:ext cx="3675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Doubtful fields are flagged, not hidden</a:t>
            </a:r>
            <a:endParaRPr lang="en-US" sz="1400" dirty="0"/>
          </a:p>
        </p:txBody>
      </p:sp>
      <p:pic>
        <p:nvPicPr>
          <p:cNvPr id="13" name="che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288536"/>
            <a:ext cx="219456" cy="21945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07592" y="4251960"/>
            <a:ext cx="3675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Limits published in a model card</a:t>
            </a:r>
            <a:endParaRPr lang="en-US" sz="1400" dirty="0"/>
          </a:p>
        </p:txBody>
      </p:sp>
      <p:pic>
        <p:nvPicPr>
          <p:cNvPr id="15" name="check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837176"/>
            <a:ext cx="219456" cy="219456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307592" y="4800600"/>
            <a:ext cx="3675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No patient identifiers stored</a:t>
            </a:r>
            <a:endParaRPr lang="en-US" sz="1400" dirty="0"/>
          </a:p>
        </p:txBody>
      </p:sp>
      <p:sp>
        <p:nvSpPr>
          <p:cNvPr id="17" name="risks"/>
          <p:cNvSpPr/>
          <p:nvPr/>
        </p:nvSpPr>
        <p:spPr>
          <a:xfrm>
            <a:off x="5440680" y="1828800"/>
            <a:ext cx="6110935" cy="420624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6000"/>
              </a:srgbClr>
            </a:outerShdw>
          </a:effectLst>
        </p:spPr>
      </p:sp>
      <p:sp>
        <p:nvSpPr>
          <p:cNvPr id="18" name="Text 11"/>
          <p:cNvSpPr txBox="1"/>
          <p:nvPr/>
        </p:nvSpPr>
        <p:spPr>
          <a:xfrm>
            <a:off x="5760720" y="2057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Risk</a:t>
            </a:r>
            <a:endParaRPr lang="en-US" sz="1100" dirty="0"/>
          </a:p>
        </p:txBody>
      </p:sp>
      <p:sp>
        <p:nvSpPr>
          <p:cNvPr id="19" name="Text 12"/>
          <p:cNvSpPr txBox="1"/>
          <p:nvPr/>
        </p:nvSpPr>
        <p:spPr>
          <a:xfrm>
            <a:off x="8275320" y="2057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Fallback</a:t>
            </a:r>
            <a:endParaRPr lang="en-US" sz="1100" dirty="0"/>
          </a:p>
        </p:txBody>
      </p:sp>
      <p:sp>
        <p:nvSpPr>
          <p:cNvPr id="20" name="divider"/>
          <p:cNvSpPr/>
          <p:nvPr/>
        </p:nvSpPr>
        <p:spPr>
          <a:xfrm>
            <a:off x="5715000" y="2423160"/>
            <a:ext cx="5562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5760720" y="258775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SAM 3 misses tiny ring forms</a:t>
            </a:r>
            <a:endParaRPr lang="en-US" sz="1300" dirty="0"/>
          </a:p>
        </p:txBody>
      </p:sp>
      <p:sp>
        <p:nvSpPr>
          <p:cNvPr id="22" name="Text 15"/>
          <p:cNvSpPr txBox="1"/>
          <p:nvPr/>
        </p:nvSpPr>
        <p:spPr>
          <a:xfrm>
            <a:off x="8275320" y="2587752"/>
            <a:ext cx="29562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Exemplars, tiled crops, baseline candidates checked by SAM 3</a:t>
            </a:r>
            <a:endParaRPr lang="en-US" sz="1300" dirty="0"/>
          </a:p>
        </p:txBody>
      </p:sp>
      <p:sp>
        <p:nvSpPr>
          <p:cNvPr id="23" name="divider"/>
          <p:cNvSpPr/>
          <p:nvPr/>
        </p:nvSpPr>
        <p:spPr>
          <a:xfrm>
            <a:off x="5715000" y="3291840"/>
            <a:ext cx="5562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5760720" y="345643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US$150 of API credits runs out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8275320" y="3456432"/>
            <a:ext cx="29562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Cache every response; fixed 300-image ablation subset</a:t>
            </a:r>
            <a:endParaRPr lang="en-US" sz="1300" dirty="0"/>
          </a:p>
        </p:txBody>
      </p:sp>
      <p:sp>
        <p:nvSpPr>
          <p:cNvPr id="26" name="divider"/>
          <p:cNvSpPr/>
          <p:nvPr/>
        </p:nvSpPr>
        <p:spPr>
          <a:xfrm>
            <a:off x="5715000" y="4160520"/>
            <a:ext cx="5562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5760720" y="432511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API shape differs from assumptions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8275320" y="4325112"/>
            <a:ext cx="29562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One adapter file changes; the rest is tested on mocks</a:t>
            </a:r>
            <a:endParaRPr lang="en-US" sz="1300" dirty="0"/>
          </a:p>
        </p:txBody>
      </p:sp>
      <p:sp>
        <p:nvSpPr>
          <p:cNvPr id="29" name="divider"/>
          <p:cNvSpPr/>
          <p:nvPr/>
        </p:nvSpPr>
        <p:spPr>
          <a:xfrm>
            <a:off x="5715000" y="5029200"/>
            <a:ext cx="5562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5760720" y="519379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Power or network cut in Dar</a:t>
            </a:r>
            <a:endParaRPr lang="en-US" sz="1300" dirty="0"/>
          </a:p>
        </p:txBody>
      </p:sp>
      <p:sp>
        <p:nvSpPr>
          <p:cNvPr id="31" name="Text 24"/>
          <p:cNvSpPr txBox="1"/>
          <p:nvPr/>
        </p:nvSpPr>
        <p:spPr>
          <a:xfrm>
            <a:off x="8275320" y="5193792"/>
            <a:ext cx="29562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UPS, mobile data, cloud workspace; video recorded by day 9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8251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4980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Ten days from repository to live microscope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4416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Decision support, not a diagnostic device. A qualified microscopist confirms every result.</a:t>
            </a:r>
            <a:endParaRPr lang="en-US" sz="1400" dirty="0"/>
          </a:p>
        </p:txBody>
      </p:sp>
      <p:sp>
        <p:nvSpPr>
          <p:cNvPr id="5" name="next"/>
          <p:cNvSpPr/>
          <p:nvPr/>
        </p:nvSpPr>
        <p:spPr>
          <a:xfrm>
            <a:off x="640080" y="1828800"/>
            <a:ext cx="2577008" cy="2651760"/>
          </a:xfrm>
          <a:prstGeom prst="roundRect">
            <a:avLst>
              <a:gd name="adj" fmla="val 496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6000"/>
              </a:srgbClr>
            </a:outerShdw>
          </a:effectLst>
        </p:spPr>
      </p:sp>
      <p:sp>
        <p:nvSpPr>
          <p:cNvPr id="6" name="icon-tile"/>
          <p:cNvSpPr/>
          <p:nvPr/>
        </p:nvSpPr>
        <p:spPr>
          <a:xfrm>
            <a:off x="914400" y="210312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EFF6FF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" y="2233879"/>
            <a:ext cx="241402" cy="2414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14400" y="2788920"/>
            <a:ext cx="211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Mon 26 Oct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063240"/>
            <a:ext cx="211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Kickoff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474720"/>
            <a:ext cx="2119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Wire SAM 3 and Muse Spark into the adapter</a:t>
            </a:r>
            <a:endParaRPr lang="en-US" sz="1300" dirty="0"/>
          </a:p>
        </p:txBody>
      </p:sp>
      <p:sp>
        <p:nvSpPr>
          <p:cNvPr id="11" name="next"/>
          <p:cNvSpPr/>
          <p:nvPr/>
        </p:nvSpPr>
        <p:spPr>
          <a:xfrm>
            <a:off x="3418256" y="1828800"/>
            <a:ext cx="2577008" cy="2651760"/>
          </a:xfrm>
          <a:prstGeom prst="roundRect">
            <a:avLst>
              <a:gd name="adj" fmla="val 496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6000"/>
              </a:srgbClr>
            </a:outerShdw>
          </a:effectLst>
        </p:spPr>
      </p:sp>
      <p:sp>
        <p:nvSpPr>
          <p:cNvPr id="12" name="icon-tile"/>
          <p:cNvSpPr/>
          <p:nvPr/>
        </p:nvSpPr>
        <p:spPr>
          <a:xfrm>
            <a:off x="3692576" y="210312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EFF6FF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3335" y="2233879"/>
            <a:ext cx="241402" cy="24140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692576" y="2788920"/>
            <a:ext cx="211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Thu 29 Oct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3692576" y="3063240"/>
            <a:ext cx="211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First results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3692576" y="3474720"/>
            <a:ext cx="2119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Count error on Tanzanian slides it never saw</a:t>
            </a:r>
            <a:endParaRPr lang="en-US" sz="1300" dirty="0"/>
          </a:p>
        </p:txBody>
      </p:sp>
      <p:sp>
        <p:nvSpPr>
          <p:cNvPr id="17" name="next"/>
          <p:cNvSpPr/>
          <p:nvPr/>
        </p:nvSpPr>
        <p:spPr>
          <a:xfrm>
            <a:off x="6196432" y="1828800"/>
            <a:ext cx="2577008" cy="2651760"/>
          </a:xfrm>
          <a:prstGeom prst="roundRect">
            <a:avLst>
              <a:gd name="adj" fmla="val 496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6000"/>
              </a:srgbClr>
            </a:outerShdw>
          </a:effectLst>
        </p:spPr>
      </p:sp>
      <p:sp>
        <p:nvSpPr>
          <p:cNvPr id="18" name="icon-tile"/>
          <p:cNvSpPr/>
          <p:nvPr/>
        </p:nvSpPr>
        <p:spPr>
          <a:xfrm>
            <a:off x="6470752" y="210312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EFF6FF"/>
          </a:solidFill>
          <a:ln/>
        </p:spPr>
      </p:sp>
      <p:pic>
        <p:nvPicPr>
          <p:cNvPr id="19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511" y="2233879"/>
            <a:ext cx="241402" cy="24140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470752" y="2788920"/>
            <a:ext cx="211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Mon 2 Nov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6470752" y="3063240"/>
            <a:ext cx="211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Live lab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6470752" y="3474720"/>
            <a:ext cx="2119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Real microscope in Dar es Salaam; feature freeze</a:t>
            </a:r>
            <a:endParaRPr lang="en-US" sz="1300" dirty="0"/>
          </a:p>
        </p:txBody>
      </p:sp>
      <p:sp>
        <p:nvSpPr>
          <p:cNvPr id="23" name="next"/>
          <p:cNvSpPr/>
          <p:nvPr/>
        </p:nvSpPr>
        <p:spPr>
          <a:xfrm>
            <a:off x="8974607" y="1828800"/>
            <a:ext cx="2577008" cy="2651760"/>
          </a:xfrm>
          <a:prstGeom prst="roundRect">
            <a:avLst>
              <a:gd name="adj" fmla="val 496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6000"/>
              </a:srgbClr>
            </a:outerShdw>
          </a:effectLst>
        </p:spPr>
      </p:sp>
      <p:sp>
        <p:nvSpPr>
          <p:cNvPr id="24" name="icon-tile"/>
          <p:cNvSpPr/>
          <p:nvPr/>
        </p:nvSpPr>
        <p:spPr>
          <a:xfrm>
            <a:off x="9248927" y="210312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2563EB"/>
          </a:solidFill>
          <a:ln/>
        </p:spPr>
      </p:sp>
      <p:pic>
        <p:nvPicPr>
          <p:cNvPr id="2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9687" y="2233879"/>
            <a:ext cx="241402" cy="24140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248927" y="2788920"/>
            <a:ext cx="211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Wed 4 Nov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9248927" y="3063240"/>
            <a:ext cx="211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Submit</a:t>
            </a:r>
            <a:endParaRPr lang="en-US" sz="1800" dirty="0"/>
          </a:p>
        </p:txBody>
      </p:sp>
      <p:sp>
        <p:nvSpPr>
          <p:cNvPr id="28" name="Text 22"/>
          <p:cNvSpPr txBox="1"/>
          <p:nvPr/>
        </p:nvSpPr>
        <p:spPr>
          <a:xfrm>
            <a:off x="9248927" y="3474720"/>
            <a:ext cx="2119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11 hours before the deadline</a:t>
            </a:r>
            <a:endParaRPr lang="en-US" sz="1300" dirty="0"/>
          </a:p>
        </p:txBody>
      </p:sp>
      <p:sp>
        <p:nvSpPr>
          <p:cNvPr id="29" name="cta"/>
          <p:cNvSpPr/>
          <p:nvPr/>
        </p:nvSpPr>
        <p:spPr>
          <a:xfrm>
            <a:off x="640080" y="4754880"/>
            <a:ext cx="10911535" cy="128016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6000"/>
              </a:srgbClr>
            </a:outerShdw>
          </a:effectLst>
        </p:spPr>
      </p:sp>
      <p:sp>
        <p:nvSpPr>
          <p:cNvPr id="30" name="Text 24"/>
          <p:cNvSpPr txBox="1"/>
          <p:nvPr/>
        </p:nvSpPr>
        <p:spPr>
          <a:xfrm>
            <a:off x="1051560" y="49560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Darubini</a:t>
            </a:r>
            <a:endParaRPr lang="en-US" sz="2400" dirty="0"/>
          </a:p>
        </p:txBody>
      </p:sp>
      <p:sp>
        <p:nvSpPr>
          <p:cNvPr id="31" name="Text 25"/>
          <p:cNvSpPr txBox="1"/>
          <p:nvPr/>
        </p:nvSpPr>
        <p:spPr>
          <a:xfrm>
            <a:off x="1051560" y="54406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BEAFE"/>
                </a:solidFill>
              </a:rPr>
              <a:t>Albert William Mwangwa · MSc Data Science, University of Dar es Salaam</a:t>
            </a:r>
            <a:endParaRPr lang="en-US" sz="1300" dirty="0"/>
          </a:p>
        </p:txBody>
      </p:sp>
      <p:sp>
        <p:nvSpPr>
          <p:cNvPr id="32" name="cta-button"/>
          <p:cNvSpPr/>
          <p:nvPr/>
        </p:nvSpPr>
        <p:spPr>
          <a:xfrm>
            <a:off x="7848295" y="5166360"/>
            <a:ext cx="3291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/>
        </p:spPr>
      </p:sp>
      <p:sp>
        <p:nvSpPr>
          <p:cNvPr id="33" name="Text 27"/>
          <p:cNvSpPr txBox="1"/>
          <p:nvPr/>
        </p:nvSpPr>
        <p:spPr>
          <a:xfrm>
            <a:off x="7848295" y="516636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4ED8"/>
                </a:solidFill>
              </a:rPr>
              <a:t>github.com/albertmwangwa/darubini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8251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rubini shadcn">
  <a:themeElements>
    <a:clrScheme name="Darubini shadcn">
      <a:dk1>
        <a:srgbClr val="0F172A"/>
      </a:dk1>
      <a:lt1>
        <a:srgbClr val="FFFFFF"/>
      </a:lt1>
      <a:dk2>
        <a:srgbClr val="1E293B"/>
      </a:dk2>
      <a:lt2>
        <a:srgbClr val="F8FAFC"/>
      </a:lt2>
      <a:accent1>
        <a:srgbClr val="2563EB"/>
      </a:accent1>
      <a:accent2>
        <a:srgbClr val="60A5FA"/>
      </a:accent2>
      <a:accent3>
        <a:srgbClr val="3B82F6"/>
      </a:accent3>
      <a:accent4>
        <a:srgbClr val="93C5FD"/>
      </a:accent4>
      <a:accent5>
        <a:srgbClr val="64748B"/>
      </a:accent5>
      <a:accent6>
        <a:srgbClr val="E2E8F0"/>
      </a:accent6>
      <a:hlink>
        <a:srgbClr val="2563EB"/>
      </a:hlink>
      <a:folHlink>
        <a:srgbClr val="1D4ED8"/>
      </a:folHlink>
    </a:clrScheme>
    <a:fontScheme name="Darubini shadcn">
      <a:majorFont>
        <a:latin typeface="Manrop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nrop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Darubini: malaria microscopy copilot</dc:title>
  <dc:subject>PptxGenJS Presentation</dc:subject>
  <dc:creator>Albert William Mwangwa</dc:creator>
  <cp:lastModifiedBy>Albert William Mwangwa</cp:lastModifiedBy>
  <cp:revision>1</cp:revision>
  <dcterms:created xsi:type="dcterms:W3CDTF">2026-10-24T04:15:21Z</dcterms:created>
  <dcterms:modified xsi:type="dcterms:W3CDTF">2026-10-24T04:15:21Z</dcterms:modified>
</cp:coreProperties>
</file>