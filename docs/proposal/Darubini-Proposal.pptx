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e5f6778-e8ca-1f07-b86a-570ea2ccc8da}">
          <p14:sldIdLst>
            <p14:sldId id="256"/>
          </p14:sldIdLst>
        </p14:section>
        <p14:section name="Problem" id="{8fd7dc87-40ab-4387-a6de-05f0cf19ed3f}">
          <p14:sldIdLst>
            <p14:sldId id="257"/>
          </p14:sldIdLst>
        </p14:section>
        <p14:section name="Solution" id="{f3b3b03b-8185-a442-ba56-f4274cf2894d}">
          <p14:sldIdLst>
            <p14:sldId id="258"/>
            <p14:sldId id="259"/>
          </p14:sldIdLst>
        </p14:section>
        <p14:section name="Meta AI" id="{c1601780-c19e-bae4-a647-cfc82fd28686}">
          <p14:sldIdLst>
            <p14:sldId id="260"/>
          </p14:sldIdLst>
        </p14:section>
        <p14:section name="Data and evaluation" id="{944a935f-0ce9-dd01-2ffa-7930833d265a}">
          <p14:sldIdLst>
            <p14:sldId id="261"/>
            <p14:sldId id="262"/>
          </p14:sldIdLst>
        </p14:section>
        <p14:section name="Strategy" id="{ca353bc0-1534-5b63-b3e1-b1889df209c3}">
          <p14:sldIdLst>
            <p14:sldId id="263"/>
            <p14:sldId id="264"/>
            <p14:sldId id="265"/>
            <p14:sldId id="266"/>
          </p14:sldIdLst>
        </p14:section>
        <p14:section name="Close" id="{a8de9576-d013-01d9-bca3-e93eb1eba97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Impact</c:v>
                  </c:pt>
                  <c:pt idx="1">
                    <c:v>Meta tooling</c:v>
                  </c:pt>
                  <c:pt idx="2">
                    <c:v>Demo</c:v>
                  </c:pt>
                  <c:pt idx="3">
                    <c:v>Technical depth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25</c:v>
                </c:pt>
                <c:pt idx="2">
                  <c:v>25</c:v>
                </c:pt>
                <c:pt idx="3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dash"/>
              <a:round/>
            </a:ln>
          </c:spPr>
        </c:majorGridlines>
        <c:numFmt formatCode="0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03504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600" b="1" dirty="0">
                <a:solidFill>
                  <a:schemeClr val="tx1"/>
                </a:solidFill>
              </a:rPr>
              <a:t>Title</a:t>
            </a:r>
            <a:endParaRPr lang="en-US" sz="6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Eyebrow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Darubini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14630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Meta Global AI Developer Hackathon 2026 · Indie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640080" y="1234440"/>
            <a:ext cx="192206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239012"/>
            <a:ext cx="192206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Indie Developer track</a:t>
            </a:r>
            <a:endParaRPr lang="en-US" sz="1050" dirty="0"/>
          </a:p>
        </p:txBody>
      </p:sp>
      <p:sp>
        <p:nvSpPr>
          <p:cNvPr id="4" name="badge"/>
          <p:cNvSpPr/>
          <p:nvPr/>
        </p:nvSpPr>
        <p:spPr>
          <a:xfrm>
            <a:off x="2671877" y="1234440"/>
            <a:ext cx="3271723" cy="29260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671877" y="1239012"/>
            <a:ext cx="327172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</a:rPr>
              <a:t>Meta Global AI Developer Hackathon 2026</a:t>
            </a:r>
            <a:endParaRPr lang="en-US" sz="105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tx1"/>
                </a:solidFill>
              </a:rPr>
              <a:t>Darubini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5943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64748B"/>
                </a:solidFill>
              </a:rPr>
              <a:t>A malaria microscopy copilot. A phone on the eyepiece, SAM 3 finds every parasite and white blood cell, the count follows the WHO thick-film rule, and the report arrives in Kiswahili or English for the microscopist to confirm.</a:t>
            </a:r>
            <a:endParaRPr lang="en-US" sz="1600" dirty="0"/>
          </a:p>
        </p:txBody>
      </p:sp>
      <p:sp>
        <p:nvSpPr>
          <p:cNvPr id="8" name="button-primary"/>
          <p:cNvSpPr/>
          <p:nvPr/>
        </p:nvSpPr>
        <p:spPr>
          <a:xfrm>
            <a:off x="640080" y="47548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4754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github.com/albertmwangwa/darubini</a:t>
            </a:r>
            <a:endParaRPr lang="en-US" sz="1200" dirty="0"/>
          </a:p>
        </p:txBody>
      </p:sp>
      <p:sp>
        <p:nvSpPr>
          <p:cNvPr id="10" name="button-outline"/>
          <p:cNvSpPr/>
          <p:nvPr/>
        </p:nvSpPr>
        <p:spPr>
          <a:xfrm>
            <a:off x="3840480" y="47548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4754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Implementation plan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486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Albert William Mwangwa · MSc Data Science, University of Dar es Salaam · Dar es Salaam, Tanzania</a:t>
            </a:r>
            <a:endParaRPr lang="en-US" sz="1100" dirty="0"/>
          </a:p>
        </p:txBody>
      </p:sp>
      <p:sp>
        <p:nvSpPr>
          <p:cNvPr id="13" name="hero-card"/>
          <p:cNvSpPr/>
          <p:nvPr/>
        </p:nvSpPr>
        <p:spPr>
          <a:xfrm>
            <a:off x="7360920" y="914400"/>
            <a:ext cx="4190695" cy="5120640"/>
          </a:xfrm>
          <a:prstGeom prst="roundRect">
            <a:avLst>
              <a:gd name="adj" fmla="val 30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4" name="field"/>
          <p:cNvSpPr/>
          <p:nvPr/>
        </p:nvSpPr>
        <p:spPr>
          <a:xfrm>
            <a:off x="7810348" y="1188720"/>
            <a:ext cx="3291840" cy="3291840"/>
          </a:xfrm>
          <a:prstGeom prst="ellipse">
            <a:avLst/>
          </a:prstGeom>
          <a:solidFill>
            <a:srgbClr val="FCE7F3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wbc"/>
          <p:cNvSpPr/>
          <p:nvPr/>
        </p:nvSpPr>
        <p:spPr>
          <a:xfrm>
            <a:off x="8483679" y="1862051"/>
            <a:ext cx="561109" cy="561109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wbc-box"/>
          <p:cNvSpPr/>
          <p:nvPr/>
        </p:nvSpPr>
        <p:spPr>
          <a:xfrm>
            <a:off x="8393901" y="1772273"/>
            <a:ext cx="740664" cy="740664"/>
          </a:xfrm>
          <a:prstGeom prst="roundRect">
            <a:avLst>
              <a:gd name="adj" fmla="val 7407"/>
            </a:avLst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17" name="wbc"/>
          <p:cNvSpPr/>
          <p:nvPr/>
        </p:nvSpPr>
        <p:spPr>
          <a:xfrm>
            <a:off x="9830340" y="3133898"/>
            <a:ext cx="598516" cy="5985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wbc-box"/>
          <p:cNvSpPr/>
          <p:nvPr/>
        </p:nvSpPr>
        <p:spPr>
          <a:xfrm>
            <a:off x="9740563" y="3044121"/>
            <a:ext cx="778071" cy="778071"/>
          </a:xfrm>
          <a:prstGeom prst="roundRect">
            <a:avLst>
              <a:gd name="adj" fmla="val 7051"/>
            </a:avLst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19" name="wbc"/>
          <p:cNvSpPr/>
          <p:nvPr/>
        </p:nvSpPr>
        <p:spPr>
          <a:xfrm>
            <a:off x="8932566" y="3507971"/>
            <a:ext cx="486295" cy="486295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wbc-box"/>
          <p:cNvSpPr/>
          <p:nvPr/>
        </p:nvSpPr>
        <p:spPr>
          <a:xfrm>
            <a:off x="8842788" y="3418193"/>
            <a:ext cx="665849" cy="665849"/>
          </a:xfrm>
          <a:prstGeom prst="roundRect">
            <a:avLst>
              <a:gd name="adj" fmla="val 8240"/>
            </a:avLst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21" name="parasite"/>
          <p:cNvSpPr/>
          <p:nvPr/>
        </p:nvSpPr>
        <p:spPr>
          <a:xfrm>
            <a:off x="9531082" y="1862051"/>
            <a:ext cx="112222" cy="11222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parasite-box"/>
          <p:cNvSpPr/>
          <p:nvPr/>
        </p:nvSpPr>
        <p:spPr>
          <a:xfrm>
            <a:off x="9441305" y="1772273"/>
            <a:ext cx="291777" cy="291777"/>
          </a:xfrm>
          <a:prstGeom prst="roundRect">
            <a:avLst>
              <a:gd name="adj" fmla="val 12536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3" name="parasite"/>
          <p:cNvSpPr/>
          <p:nvPr/>
        </p:nvSpPr>
        <p:spPr>
          <a:xfrm>
            <a:off x="8782937" y="2834640"/>
            <a:ext cx="112222" cy="11222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parasite-box"/>
          <p:cNvSpPr/>
          <p:nvPr/>
        </p:nvSpPr>
        <p:spPr>
          <a:xfrm>
            <a:off x="8693159" y="2744863"/>
            <a:ext cx="291777" cy="291777"/>
          </a:xfrm>
          <a:prstGeom prst="roundRect">
            <a:avLst>
              <a:gd name="adj" fmla="val 12536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5" name="parasite"/>
          <p:cNvSpPr/>
          <p:nvPr/>
        </p:nvSpPr>
        <p:spPr>
          <a:xfrm>
            <a:off x="10054784" y="2385753"/>
            <a:ext cx="112222" cy="11222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parasite-box"/>
          <p:cNvSpPr/>
          <p:nvPr/>
        </p:nvSpPr>
        <p:spPr>
          <a:xfrm>
            <a:off x="9965007" y="2295975"/>
            <a:ext cx="291777" cy="291777"/>
          </a:xfrm>
          <a:prstGeom prst="roundRect">
            <a:avLst>
              <a:gd name="adj" fmla="val 12536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7" name="parasite"/>
          <p:cNvSpPr/>
          <p:nvPr/>
        </p:nvSpPr>
        <p:spPr>
          <a:xfrm>
            <a:off x="8371457" y="3096491"/>
            <a:ext cx="112222" cy="11222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8" name="parasite-box"/>
          <p:cNvSpPr/>
          <p:nvPr/>
        </p:nvSpPr>
        <p:spPr>
          <a:xfrm>
            <a:off x="8281679" y="3006713"/>
            <a:ext cx="291777" cy="291777"/>
          </a:xfrm>
          <a:prstGeom prst="roundRect">
            <a:avLst>
              <a:gd name="adj" fmla="val 12536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9" name="parasite"/>
          <p:cNvSpPr/>
          <p:nvPr/>
        </p:nvSpPr>
        <p:spPr>
          <a:xfrm>
            <a:off x="10316635" y="1974273"/>
            <a:ext cx="112222" cy="11222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0" name="parasite-box"/>
          <p:cNvSpPr/>
          <p:nvPr/>
        </p:nvSpPr>
        <p:spPr>
          <a:xfrm>
            <a:off x="10226857" y="1884495"/>
            <a:ext cx="291777" cy="291777"/>
          </a:xfrm>
          <a:prstGeom prst="roundRect">
            <a:avLst>
              <a:gd name="adj" fmla="val 12536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31" name="tally"/>
          <p:cNvSpPr/>
          <p:nvPr/>
        </p:nvSpPr>
        <p:spPr>
          <a:xfrm>
            <a:off x="7635240" y="4617720"/>
            <a:ext cx="1128674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81544" y="4709160"/>
            <a:ext cx="9000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31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781544" y="5093208"/>
            <a:ext cx="9000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parasites</a:t>
            </a:r>
            <a:endParaRPr lang="en-US" sz="1000" dirty="0"/>
          </a:p>
        </p:txBody>
      </p:sp>
      <p:sp>
        <p:nvSpPr>
          <p:cNvPr id="34" name="tally"/>
          <p:cNvSpPr/>
          <p:nvPr/>
        </p:nvSpPr>
        <p:spPr>
          <a:xfrm>
            <a:off x="8891930" y="4617720"/>
            <a:ext cx="1128674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038234" y="4709160"/>
            <a:ext cx="9000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206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9038234" y="5093208"/>
            <a:ext cx="9000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WBC</a:t>
            </a:r>
            <a:endParaRPr lang="en-US" sz="1000" dirty="0"/>
          </a:p>
        </p:txBody>
      </p:sp>
      <p:sp>
        <p:nvSpPr>
          <p:cNvPr id="37" name="tally"/>
          <p:cNvSpPr/>
          <p:nvPr/>
        </p:nvSpPr>
        <p:spPr>
          <a:xfrm>
            <a:off x="10148621" y="4617720"/>
            <a:ext cx="1128674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294925" y="4709160"/>
            <a:ext cx="9000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1,204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294925" y="5093208"/>
            <a:ext cx="9000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parasites/µL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35240" y="5532120"/>
            <a:ext cx="3642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Illustration. 31 × 8,000 ÷ 206 ≈ 1,204 parasites/µL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Counting malaria parasites is slow, skilled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And the burden is heaviest where trained microscopists are scarcest.</a:t>
            </a:r>
            <a:endParaRPr lang="en-US" sz="1400" dirty="0"/>
          </a:p>
        </p:txBody>
      </p:sp>
      <p:sp>
        <p:nvSpPr>
          <p:cNvPr id="5" name="stat-card"/>
          <p:cNvSpPr/>
          <p:nvPr/>
        </p:nvSpPr>
        <p:spPr>
          <a:xfrm>
            <a:off x="640080" y="1965960"/>
            <a:ext cx="3484778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258568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Cases, 2024</a:t>
            </a:r>
            <a:endParaRPr lang="en-US" sz="1200" dirty="0"/>
          </a:p>
        </p:txBody>
      </p:sp>
      <p:sp>
        <p:nvSpPr>
          <p:cNvPr id="7" name="icon-tile"/>
          <p:cNvSpPr/>
          <p:nvPr/>
        </p:nvSpPr>
        <p:spPr>
          <a:xfrm>
            <a:off x="3393338" y="219456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2701" y="2303922"/>
            <a:ext cx="201900" cy="201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60120" y="269748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</a:rPr>
              <a:t>282M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74720"/>
            <a:ext cx="2890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estimated malaria cases worldwide in 2024</a:t>
            </a:r>
            <a:endParaRPr lang="en-US" sz="1300" dirty="0"/>
          </a:p>
        </p:txBody>
      </p:sp>
      <p:sp>
        <p:nvSpPr>
          <p:cNvPr id="11" name="stat-card"/>
          <p:cNvSpPr/>
          <p:nvPr/>
        </p:nvSpPr>
        <p:spPr>
          <a:xfrm>
            <a:off x="4353458" y="1965960"/>
            <a:ext cx="3484778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73498" y="2258568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Deaths, 2024</a:t>
            </a:r>
            <a:endParaRPr lang="en-US" sz="1200" dirty="0"/>
          </a:p>
        </p:txBody>
      </p:sp>
      <p:sp>
        <p:nvSpPr>
          <p:cNvPr id="13" name="icon-tile"/>
          <p:cNvSpPr/>
          <p:nvPr/>
        </p:nvSpPr>
        <p:spPr>
          <a:xfrm>
            <a:off x="7106717" y="219456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079" y="2303922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73498" y="269748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</a:rPr>
              <a:t>610,000</a:t>
            </a:r>
            <a:endParaRPr lang="en-US" sz="4200" dirty="0"/>
          </a:p>
        </p:txBody>
      </p:sp>
      <p:sp>
        <p:nvSpPr>
          <p:cNvPr id="16" name="Text 12"/>
          <p:cNvSpPr txBox="1"/>
          <p:nvPr/>
        </p:nvSpPr>
        <p:spPr>
          <a:xfrm>
            <a:off x="4673498" y="3474720"/>
            <a:ext cx="2890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estimated malaria deaths in 2024; 11 African countries carry about two-thirds</a:t>
            </a:r>
            <a:endParaRPr lang="en-US" sz="1300" dirty="0"/>
          </a:p>
        </p:txBody>
      </p:sp>
      <p:sp>
        <p:nvSpPr>
          <p:cNvPr id="17" name="stat-card"/>
          <p:cNvSpPr/>
          <p:nvPr/>
        </p:nvSpPr>
        <p:spPr>
          <a:xfrm>
            <a:off x="8066837" y="1965960"/>
            <a:ext cx="3484778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386877" y="2258568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Tanzania</a:t>
            </a:r>
            <a:endParaRPr lang="en-US" sz="1200" dirty="0"/>
          </a:p>
        </p:txBody>
      </p:sp>
      <p:sp>
        <p:nvSpPr>
          <p:cNvPr id="19" name="icon-tile"/>
          <p:cNvSpPr/>
          <p:nvPr/>
        </p:nvSpPr>
        <p:spPr>
          <a:xfrm>
            <a:off x="10820095" y="219456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9457" y="2303922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86877" y="2697480"/>
            <a:ext cx="29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563EB"/>
                </a:solidFill>
              </a:rPr>
              <a:t>4.3%</a:t>
            </a:r>
            <a:endParaRPr lang="en-US" sz="4200" dirty="0"/>
          </a:p>
        </p:txBody>
      </p:sp>
      <p:sp>
        <p:nvSpPr>
          <p:cNvPr id="22" name="Text 17"/>
          <p:cNvSpPr txBox="1"/>
          <p:nvPr/>
        </p:nvSpPr>
        <p:spPr>
          <a:xfrm>
            <a:off x="8386877" y="3474720"/>
            <a:ext cx="2890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of global malaria deaths were in Tanzania, the fourth highest worldwide</a:t>
            </a:r>
            <a:endParaRPr lang="en-US" sz="1300" dirty="0"/>
          </a:p>
        </p:txBody>
      </p:sp>
      <p:sp>
        <p:nvSpPr>
          <p:cNvPr id="23" name="context"/>
          <p:cNvSpPr/>
          <p:nvPr/>
        </p:nvSpPr>
        <p:spPr>
          <a:xfrm>
            <a:off x="640080" y="4526280"/>
            <a:ext cx="10911535" cy="1417320"/>
          </a:xfrm>
          <a:prstGeom prst="roundRect">
            <a:avLst>
              <a:gd name="adj" fmla="val 9032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60120" y="472744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Light microscopy of Giemsa-stained thick films is the reference method for confirming malaria and measuring parasite density. Technicians count parasites against 200 to 500 white blood cells, field by field; fatigue, stain quality and smear thickness all erode accuracy.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60120" y="55595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Sources: WHO World Malaria Report 2025; The Citizen (Tanzania), citing the same report.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steps from eyepiece to a confirmed count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The microscopist stays in charge; Darubini takes the tedious counting off their hands.</a:t>
            </a:r>
            <a:endParaRPr lang="en-US" sz="1400" dirty="0"/>
          </a:p>
        </p:txBody>
      </p:sp>
      <p:sp>
        <p:nvSpPr>
          <p:cNvPr id="5" name="step-card"/>
          <p:cNvSpPr/>
          <p:nvPr/>
        </p:nvSpPr>
        <p:spPr>
          <a:xfrm>
            <a:off x="640080" y="1965960"/>
            <a:ext cx="1681429" cy="3154680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icon-tile"/>
          <p:cNvSpPr/>
          <p:nvPr/>
        </p:nvSpPr>
        <p:spPr>
          <a:xfrm>
            <a:off x="896112" y="224028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/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249" y="2373417"/>
            <a:ext cx="245791" cy="245791"/>
          </a:xfrm>
          <a:prstGeom prst="rect">
            <a:avLst/>
          </a:prstGeom>
        </p:spPr>
      </p:pic>
      <p:sp>
        <p:nvSpPr>
          <p:cNvPr id="8" name="badge"/>
          <p:cNvSpPr/>
          <p:nvPr/>
        </p:nvSpPr>
        <p:spPr>
          <a:xfrm>
            <a:off x="1663141" y="2350008"/>
            <a:ext cx="43891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63141" y="235458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01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71800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Capture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3410712"/>
            <a:ext cx="124251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Phone on the eyepiece photographs one field at a time</a:t>
            </a:r>
            <a:endParaRPr lang="en-US" sz="1300" dirty="0"/>
          </a:p>
        </p:txBody>
      </p:sp>
      <p:sp>
        <p:nvSpPr>
          <p:cNvPr id="12" name="step-card"/>
          <p:cNvSpPr/>
          <p:nvPr/>
        </p:nvSpPr>
        <p:spPr>
          <a:xfrm>
            <a:off x="2486101" y="1965960"/>
            <a:ext cx="1681429" cy="3154680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3" name="icon-tile"/>
          <p:cNvSpPr/>
          <p:nvPr/>
        </p:nvSpPr>
        <p:spPr>
          <a:xfrm>
            <a:off x="2742133" y="224028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70" y="2373417"/>
            <a:ext cx="245791" cy="245791"/>
          </a:xfrm>
          <a:prstGeom prst="rect">
            <a:avLst/>
          </a:prstGeom>
        </p:spPr>
      </p:pic>
      <p:sp>
        <p:nvSpPr>
          <p:cNvPr id="15" name="badge"/>
          <p:cNvSpPr/>
          <p:nvPr/>
        </p:nvSpPr>
        <p:spPr>
          <a:xfrm>
            <a:off x="3509162" y="2350008"/>
            <a:ext cx="43891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09162" y="235458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02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2742133" y="2971800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Check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2742133" y="3410712"/>
            <a:ext cx="124251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Focus, exposure and stain checks reject unusable fields</a:t>
            </a:r>
            <a:endParaRPr lang="en-US" sz="1300" dirty="0"/>
          </a:p>
        </p:txBody>
      </p:sp>
      <p:sp>
        <p:nvSpPr>
          <p:cNvPr id="19" name="step-card"/>
          <p:cNvSpPr/>
          <p:nvPr/>
        </p:nvSpPr>
        <p:spPr>
          <a:xfrm>
            <a:off x="4332122" y="1965960"/>
            <a:ext cx="1681429" cy="3154680"/>
          </a:xfrm>
          <a:prstGeom prst="roundRect">
            <a:avLst>
              <a:gd name="adj" fmla="val 7614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0" name="icon-tile"/>
          <p:cNvSpPr/>
          <p:nvPr/>
        </p:nvSpPr>
        <p:spPr>
          <a:xfrm>
            <a:off x="4588154" y="224028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2563EB"/>
          </a:solidFill>
          <a:ln/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91" y="2373417"/>
            <a:ext cx="245791" cy="245791"/>
          </a:xfrm>
          <a:prstGeom prst="rect">
            <a:avLst/>
          </a:prstGeom>
        </p:spPr>
      </p:pic>
      <p:sp>
        <p:nvSpPr>
          <p:cNvPr id="22" name="badge"/>
          <p:cNvSpPr/>
          <p:nvPr/>
        </p:nvSpPr>
        <p:spPr>
          <a:xfrm>
            <a:off x="5355184" y="2350008"/>
            <a:ext cx="43891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55184" y="235458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03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4588154" y="2971800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Segment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4588154" y="3410712"/>
            <a:ext cx="124251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SAM 3 finds parasites and WBC from concept prompts</a:t>
            </a:r>
            <a:endParaRPr lang="en-US" sz="1300" dirty="0"/>
          </a:p>
        </p:txBody>
      </p:sp>
      <p:sp>
        <p:nvSpPr>
          <p:cNvPr id="26" name="step-card"/>
          <p:cNvSpPr/>
          <p:nvPr/>
        </p:nvSpPr>
        <p:spPr>
          <a:xfrm>
            <a:off x="6178144" y="1965960"/>
            <a:ext cx="1681429" cy="3154680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7" name="icon-tile"/>
          <p:cNvSpPr/>
          <p:nvPr/>
        </p:nvSpPr>
        <p:spPr>
          <a:xfrm>
            <a:off x="6434176" y="224028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/>
        </p:spPr>
      </p:sp>
      <p:pic>
        <p:nvPicPr>
          <p:cNvPr id="2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312" y="2373417"/>
            <a:ext cx="245791" cy="245791"/>
          </a:xfrm>
          <a:prstGeom prst="rect">
            <a:avLst/>
          </a:prstGeom>
        </p:spPr>
      </p:pic>
      <p:sp>
        <p:nvSpPr>
          <p:cNvPr id="29" name="badge"/>
          <p:cNvSpPr/>
          <p:nvPr/>
        </p:nvSpPr>
        <p:spPr>
          <a:xfrm>
            <a:off x="7201205" y="2350008"/>
            <a:ext cx="43891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201205" y="235458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04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6434176" y="2971800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Count</a:t>
            </a:r>
            <a:endParaRPr lang="en-US" sz="1700" dirty="0"/>
          </a:p>
        </p:txBody>
      </p:sp>
      <p:sp>
        <p:nvSpPr>
          <p:cNvPr id="32" name="Text 26"/>
          <p:cNvSpPr txBox="1"/>
          <p:nvPr/>
        </p:nvSpPr>
        <p:spPr>
          <a:xfrm>
            <a:off x="6434176" y="3410712"/>
            <a:ext cx="124251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WHO rule: 200 WBC, extend to 500 if few parasites</a:t>
            </a:r>
            <a:endParaRPr lang="en-US" sz="1300" dirty="0"/>
          </a:p>
        </p:txBody>
      </p:sp>
      <p:sp>
        <p:nvSpPr>
          <p:cNvPr id="33" name="step-card"/>
          <p:cNvSpPr/>
          <p:nvPr/>
        </p:nvSpPr>
        <p:spPr>
          <a:xfrm>
            <a:off x="8024165" y="1965960"/>
            <a:ext cx="1681429" cy="3154680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34" name="icon-tile"/>
          <p:cNvSpPr/>
          <p:nvPr/>
        </p:nvSpPr>
        <p:spPr>
          <a:xfrm>
            <a:off x="8280197" y="224028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/>
        </p:spPr>
      </p:sp>
      <p:pic>
        <p:nvPicPr>
          <p:cNvPr id="3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333" y="2373417"/>
            <a:ext cx="245791" cy="245791"/>
          </a:xfrm>
          <a:prstGeom prst="rect">
            <a:avLst/>
          </a:prstGeom>
        </p:spPr>
      </p:pic>
      <p:sp>
        <p:nvSpPr>
          <p:cNvPr id="36" name="badge"/>
          <p:cNvSpPr/>
          <p:nvPr/>
        </p:nvSpPr>
        <p:spPr>
          <a:xfrm>
            <a:off x="9047226" y="2350008"/>
            <a:ext cx="43891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047226" y="235458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05</a:t>
            </a:r>
            <a:endParaRPr lang="en-US" sz="1050" dirty="0"/>
          </a:p>
        </p:txBody>
      </p:sp>
      <p:sp>
        <p:nvSpPr>
          <p:cNvPr id="38" name="Text 31"/>
          <p:cNvSpPr txBox="1"/>
          <p:nvPr/>
        </p:nvSpPr>
        <p:spPr>
          <a:xfrm>
            <a:off x="8280197" y="2971800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Report</a:t>
            </a:r>
            <a:endParaRPr lang="en-US" sz="1700" dirty="0"/>
          </a:p>
        </p:txBody>
      </p:sp>
      <p:sp>
        <p:nvSpPr>
          <p:cNvPr id="39" name="Text 32"/>
          <p:cNvSpPr txBox="1"/>
          <p:nvPr/>
        </p:nvSpPr>
        <p:spPr>
          <a:xfrm>
            <a:off x="8280197" y="3410712"/>
            <a:ext cx="124251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Muse Spark reviews and writes in Kiswahili or English</a:t>
            </a:r>
            <a:endParaRPr lang="en-US" sz="1300" dirty="0"/>
          </a:p>
        </p:txBody>
      </p:sp>
      <p:sp>
        <p:nvSpPr>
          <p:cNvPr id="40" name="step-card"/>
          <p:cNvSpPr/>
          <p:nvPr/>
        </p:nvSpPr>
        <p:spPr>
          <a:xfrm>
            <a:off x="9870186" y="1965960"/>
            <a:ext cx="1681429" cy="3154680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41" name="icon-tile"/>
          <p:cNvSpPr/>
          <p:nvPr/>
        </p:nvSpPr>
        <p:spPr>
          <a:xfrm>
            <a:off x="10126218" y="224028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/>
        </p:spPr>
      </p:sp>
      <p:pic>
        <p:nvPicPr>
          <p:cNvPr id="42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9355" y="2373417"/>
            <a:ext cx="245791" cy="245791"/>
          </a:xfrm>
          <a:prstGeom prst="rect">
            <a:avLst/>
          </a:prstGeom>
        </p:spPr>
      </p:pic>
      <p:sp>
        <p:nvSpPr>
          <p:cNvPr id="43" name="badge"/>
          <p:cNvSpPr/>
          <p:nvPr/>
        </p:nvSpPr>
        <p:spPr>
          <a:xfrm>
            <a:off x="10893247" y="2350008"/>
            <a:ext cx="43891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10893247" y="2354580"/>
            <a:ext cx="4389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06</a:t>
            </a:r>
            <a:endParaRPr lang="en-US" sz="1050" dirty="0"/>
          </a:p>
        </p:txBody>
      </p:sp>
      <p:sp>
        <p:nvSpPr>
          <p:cNvPr id="45" name="Text 37"/>
          <p:cNvSpPr txBox="1"/>
          <p:nvPr/>
        </p:nvSpPr>
        <p:spPr>
          <a:xfrm>
            <a:off x="10126218" y="2971800"/>
            <a:ext cx="1269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Confirm</a:t>
            </a:r>
            <a:endParaRPr lang="en-US" sz="1700" dirty="0"/>
          </a:p>
        </p:txBody>
      </p:sp>
      <p:sp>
        <p:nvSpPr>
          <p:cNvPr id="46" name="Text 38"/>
          <p:cNvSpPr txBox="1"/>
          <p:nvPr/>
        </p:nvSpPr>
        <p:spPr>
          <a:xfrm>
            <a:off x="10126218" y="3410712"/>
            <a:ext cx="124251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The microscopist checks flagged fields and signs off</a:t>
            </a:r>
            <a:endParaRPr lang="en-US" sz="1300" dirty="0"/>
          </a:p>
        </p:txBody>
      </p:sp>
      <p:sp>
        <p:nvSpPr>
          <p:cNvPr id="47" name="callout"/>
          <p:cNvSpPr/>
          <p:nvPr/>
        </p:nvSpPr>
        <p:spPr>
          <a:xfrm>
            <a:off x="640080" y="5349240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48" name="icon-tile"/>
          <p:cNvSpPr/>
          <p:nvPr/>
        </p:nvSpPr>
        <p:spPr>
          <a:xfrm>
            <a:off x="768096" y="5431536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2563EB"/>
          </a:solidFill>
          <a:ln/>
        </p:spPr>
      </p:sp>
      <p:pic>
        <p:nvPicPr>
          <p:cNvPr id="49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03" y="5536143"/>
            <a:ext cx="193121" cy="193121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1325880" y="534924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Numbers come from deterministic code. The language model reviews and narrates; it never changes a count.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THE DEMO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 on a real microscope in Dar es Salaam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What the judges see, in one continuous take.</a:t>
            </a:r>
            <a:endParaRPr lang="en-US" sz="1400" dirty="0"/>
          </a:p>
        </p:txBody>
      </p:sp>
      <p:sp>
        <p:nvSpPr>
          <p:cNvPr id="5" name="field-card"/>
          <p:cNvSpPr/>
          <p:nvPr/>
        </p:nvSpPr>
        <p:spPr>
          <a:xfrm>
            <a:off x="640080" y="1828800"/>
            <a:ext cx="475488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field"/>
          <p:cNvSpPr/>
          <p:nvPr/>
        </p:nvSpPr>
        <p:spPr>
          <a:xfrm>
            <a:off x="1097280" y="2057400"/>
            <a:ext cx="3337560" cy="3337560"/>
          </a:xfrm>
          <a:prstGeom prst="ellipse">
            <a:avLst/>
          </a:prstGeom>
          <a:solidFill>
            <a:srgbClr val="FCE7F3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wbc"/>
          <p:cNvSpPr/>
          <p:nvPr/>
        </p:nvSpPr>
        <p:spPr>
          <a:xfrm>
            <a:off x="1779963" y="2740083"/>
            <a:ext cx="568902" cy="56890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wbc-box"/>
          <p:cNvSpPr/>
          <p:nvPr/>
        </p:nvSpPr>
        <p:spPr>
          <a:xfrm>
            <a:off x="1688938" y="2649058"/>
            <a:ext cx="750951" cy="750951"/>
          </a:xfrm>
          <a:prstGeom prst="roundRect">
            <a:avLst>
              <a:gd name="adj" fmla="val 7306"/>
            </a:avLst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9" name="wbc"/>
          <p:cNvSpPr/>
          <p:nvPr/>
        </p:nvSpPr>
        <p:spPr>
          <a:xfrm>
            <a:off x="3145328" y="4029595"/>
            <a:ext cx="606829" cy="606829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wbc-box"/>
          <p:cNvSpPr/>
          <p:nvPr/>
        </p:nvSpPr>
        <p:spPr>
          <a:xfrm>
            <a:off x="3054304" y="3938570"/>
            <a:ext cx="788878" cy="788878"/>
          </a:xfrm>
          <a:prstGeom prst="roundRect">
            <a:avLst>
              <a:gd name="adj" fmla="val 6955"/>
            </a:avLst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11" name="wbc"/>
          <p:cNvSpPr/>
          <p:nvPr/>
        </p:nvSpPr>
        <p:spPr>
          <a:xfrm>
            <a:off x="2235085" y="4408863"/>
            <a:ext cx="493049" cy="493049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wbc-box"/>
          <p:cNvSpPr/>
          <p:nvPr/>
        </p:nvSpPr>
        <p:spPr>
          <a:xfrm>
            <a:off x="2144060" y="4317838"/>
            <a:ext cx="675097" cy="675097"/>
          </a:xfrm>
          <a:prstGeom prst="roundRect">
            <a:avLst>
              <a:gd name="adj" fmla="val 8127"/>
            </a:avLst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13" name="parasite"/>
          <p:cNvSpPr/>
          <p:nvPr/>
        </p:nvSpPr>
        <p:spPr>
          <a:xfrm>
            <a:off x="2841914" y="2740083"/>
            <a:ext cx="113780" cy="1137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parasite-box"/>
          <p:cNvSpPr/>
          <p:nvPr/>
        </p:nvSpPr>
        <p:spPr>
          <a:xfrm>
            <a:off x="2750889" y="2649058"/>
            <a:ext cx="295829" cy="295829"/>
          </a:xfrm>
          <a:prstGeom prst="roundRect">
            <a:avLst>
              <a:gd name="adj" fmla="val 12364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5" name="parasite"/>
          <p:cNvSpPr/>
          <p:nvPr/>
        </p:nvSpPr>
        <p:spPr>
          <a:xfrm>
            <a:off x="2083377" y="3726180"/>
            <a:ext cx="113780" cy="1137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parasite-box"/>
          <p:cNvSpPr/>
          <p:nvPr/>
        </p:nvSpPr>
        <p:spPr>
          <a:xfrm>
            <a:off x="1992353" y="3635156"/>
            <a:ext cx="295829" cy="295829"/>
          </a:xfrm>
          <a:prstGeom prst="roundRect">
            <a:avLst>
              <a:gd name="adj" fmla="val 12364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7" name="parasite"/>
          <p:cNvSpPr/>
          <p:nvPr/>
        </p:nvSpPr>
        <p:spPr>
          <a:xfrm>
            <a:off x="3372889" y="3271058"/>
            <a:ext cx="113780" cy="1137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parasite-box"/>
          <p:cNvSpPr/>
          <p:nvPr/>
        </p:nvSpPr>
        <p:spPr>
          <a:xfrm>
            <a:off x="3281865" y="3180034"/>
            <a:ext cx="295829" cy="295829"/>
          </a:xfrm>
          <a:prstGeom prst="roundRect">
            <a:avLst>
              <a:gd name="adj" fmla="val 12364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9" name="parasite"/>
          <p:cNvSpPr/>
          <p:nvPr/>
        </p:nvSpPr>
        <p:spPr>
          <a:xfrm>
            <a:off x="1666182" y="3991668"/>
            <a:ext cx="113780" cy="1137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parasite-box"/>
          <p:cNvSpPr/>
          <p:nvPr/>
        </p:nvSpPr>
        <p:spPr>
          <a:xfrm>
            <a:off x="1575158" y="3900643"/>
            <a:ext cx="295829" cy="295829"/>
          </a:xfrm>
          <a:prstGeom prst="roundRect">
            <a:avLst>
              <a:gd name="adj" fmla="val 12364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1" name="parasite"/>
          <p:cNvSpPr/>
          <p:nvPr/>
        </p:nvSpPr>
        <p:spPr>
          <a:xfrm>
            <a:off x="3638377" y="2853863"/>
            <a:ext cx="113780" cy="1137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parasite-box"/>
          <p:cNvSpPr/>
          <p:nvPr/>
        </p:nvSpPr>
        <p:spPr>
          <a:xfrm>
            <a:off x="3547352" y="2762839"/>
            <a:ext cx="295829" cy="295829"/>
          </a:xfrm>
          <a:prstGeom prst="roundRect">
            <a:avLst>
              <a:gd name="adj" fmla="val 12364"/>
            </a:avLst>
          </a:prstGeom>
          <a:solidFill>
            <a:srgbClr val="FFFFFF">
              <a:alpha val="0"/>
            </a:srgbClr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0624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Live 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Blue: parasites · Dashed: white blood cells</a:t>
            </a:r>
            <a:endParaRPr lang="en-US" sz="1000" dirty="0"/>
          </a:p>
        </p:txBody>
      </p:sp>
      <p:sp>
        <p:nvSpPr>
          <p:cNvPr id="25" name="run-card"/>
          <p:cNvSpPr/>
          <p:nvPr/>
        </p:nvSpPr>
        <p:spPr>
          <a:xfrm>
            <a:off x="5623560" y="1828800"/>
            <a:ext cx="5928055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94360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Slide run</a:t>
            </a:r>
            <a:endParaRPr lang="en-US" sz="1600" dirty="0"/>
          </a:p>
        </p:txBody>
      </p:sp>
      <p:sp>
        <p:nvSpPr>
          <p:cNvPr id="27" name="badge"/>
          <p:cNvSpPr/>
          <p:nvPr/>
        </p:nvSpPr>
        <p:spPr>
          <a:xfrm>
            <a:off x="9859975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59975" y="206197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</a:rPr>
              <a:t>Count complete</a:t>
            </a:r>
            <a:endParaRPr lang="en-US" sz="1050" dirty="0"/>
          </a:p>
        </p:txBody>
      </p:sp>
      <p:sp>
        <p:nvSpPr>
          <p:cNvPr id="29" name="tally"/>
          <p:cNvSpPr/>
          <p:nvPr/>
        </p:nvSpPr>
        <p:spPr>
          <a:xfrm>
            <a:off x="5943600" y="2560320"/>
            <a:ext cx="1677314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89904" y="2651760"/>
            <a:ext cx="1448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31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6089904" y="3035808"/>
            <a:ext cx="14487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parasites</a:t>
            </a:r>
            <a:endParaRPr lang="en-US" sz="1000" dirty="0"/>
          </a:p>
        </p:txBody>
      </p:sp>
      <p:sp>
        <p:nvSpPr>
          <p:cNvPr id="32" name="tally"/>
          <p:cNvSpPr/>
          <p:nvPr/>
        </p:nvSpPr>
        <p:spPr>
          <a:xfrm>
            <a:off x="7748930" y="2560320"/>
            <a:ext cx="1677314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895234" y="2651760"/>
            <a:ext cx="1448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206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7895234" y="3035808"/>
            <a:ext cx="14487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white blood cells</a:t>
            </a:r>
            <a:endParaRPr lang="en-US" sz="1000" dirty="0"/>
          </a:p>
        </p:txBody>
      </p:sp>
      <p:sp>
        <p:nvSpPr>
          <p:cNvPr id="35" name="tally"/>
          <p:cNvSpPr/>
          <p:nvPr/>
        </p:nvSpPr>
        <p:spPr>
          <a:xfrm>
            <a:off x="9554261" y="2560320"/>
            <a:ext cx="1677314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700565" y="2651760"/>
            <a:ext cx="1448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1,204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700565" y="3035808"/>
            <a:ext cx="14487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parasites per µL</a:t>
            </a:r>
            <a:endParaRPr lang="en-US" sz="1000" dirty="0"/>
          </a:p>
        </p:txBody>
      </p:sp>
      <p:pic>
        <p:nvPicPr>
          <p:cNvPr id="38" name="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3648456"/>
            <a:ext cx="219456" cy="219456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6291072" y="3611880"/>
            <a:ext cx="49405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 blurry field is rejected; the app asks for another</a:t>
            </a:r>
            <a:endParaRPr lang="en-US" sz="1400" dirty="0"/>
          </a:p>
        </p:txBody>
      </p:sp>
      <p:pic>
        <p:nvPicPr>
          <p:cNvPr id="40" name="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51376"/>
            <a:ext cx="219456" cy="219456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6291072" y="4114800"/>
            <a:ext cx="49405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SAM 3 masks appear and the count climbs field by field</a:t>
            </a:r>
            <a:endParaRPr lang="en-US" sz="1400" dirty="0"/>
          </a:p>
        </p:txBody>
      </p:sp>
      <p:pic>
        <p:nvPicPr>
          <p:cNvPr id="42" name="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654296"/>
            <a:ext cx="219456" cy="21945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6291072" y="4617720"/>
            <a:ext cx="49405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The stopping rule fires at 200 white blood cells</a:t>
            </a:r>
            <a:endParaRPr lang="en-US" sz="1400" dirty="0"/>
          </a:p>
        </p:txBody>
      </p:sp>
      <p:pic>
        <p:nvPicPr>
          <p:cNvPr id="44" name="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157216"/>
            <a:ext cx="219456" cy="219456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291072" y="5120640"/>
            <a:ext cx="49405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The report prints in Kiswahili, beside a manual count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5943600" y="56509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Density = parasites × 8,000 ÷ WBC (assumed 8,000 WBC/µL)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USE OF META AI TOOLING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Going well past a single API call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25% of the score rewards creative use. Each tool does work nothing else in the pipeline can.</a:t>
            </a:r>
            <a:endParaRPr lang="en-US" sz="1400" dirty="0"/>
          </a:p>
        </p:txBody>
      </p:sp>
      <p:sp>
        <p:nvSpPr>
          <p:cNvPr id="5" name="tools-card"/>
          <p:cNvSpPr/>
          <p:nvPr/>
        </p:nvSpPr>
        <p:spPr>
          <a:xfrm>
            <a:off x="640080" y="1828800"/>
            <a:ext cx="10911535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icon-tile"/>
          <p:cNvSpPr/>
          <p:nvPr/>
        </p:nvSpPr>
        <p:spPr>
          <a:xfrm>
            <a:off x="960120" y="2103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563EB"/>
          </a:solidFill>
          <a:ln/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233879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0848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SAM 3</a:t>
            </a:r>
            <a:endParaRPr lang="en-US" sz="1700" dirty="0"/>
          </a:p>
        </p:txBody>
      </p:sp>
      <p:sp>
        <p:nvSpPr>
          <p:cNvPr id="9" name="badge"/>
          <p:cNvSpPr/>
          <p:nvPr/>
        </p:nvSpPr>
        <p:spPr>
          <a:xfrm>
            <a:off x="1691640" y="2450592"/>
            <a:ext cx="1247242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691640" y="2455164"/>
            <a:ext cx="124724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Segmentation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048256"/>
            <a:ext cx="7071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Exemplar prompts from 3 to 5 confirmed parasites adapt it to each lab's stain without retraining; video tracking stops double counts.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914400" y="2880360"/>
            <a:ext cx="103628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icon-tile"/>
          <p:cNvSpPr/>
          <p:nvPr/>
        </p:nvSpPr>
        <p:spPr>
          <a:xfrm>
            <a:off x="960120" y="31546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563EB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" y="32854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31363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Muse Spark</a:t>
            </a:r>
            <a:endParaRPr lang="en-US" sz="1700" dirty="0"/>
          </a:p>
        </p:txBody>
      </p:sp>
      <p:sp>
        <p:nvSpPr>
          <p:cNvPr id="16" name="badge"/>
          <p:cNvSpPr/>
          <p:nvPr/>
        </p:nvSpPr>
        <p:spPr>
          <a:xfrm>
            <a:off x="1691640" y="3502152"/>
            <a:ext cx="1472184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691640" y="3506724"/>
            <a:ext cx="1472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Agent + reports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4114800" y="3099816"/>
            <a:ext cx="7071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 tool-calling agent that drives the count, decides when the stopping rule is met, reviews quality and writes in two languages.</a:t>
            </a:r>
            <a:endParaRPr lang="en-US" sz="1400" dirty="0"/>
          </a:p>
        </p:txBody>
      </p:sp>
      <p:sp>
        <p:nvSpPr>
          <p:cNvPr id="19" name="divider"/>
          <p:cNvSpPr/>
          <p:nvPr/>
        </p:nvSpPr>
        <p:spPr>
          <a:xfrm>
            <a:off x="914400" y="3931920"/>
            <a:ext cx="103628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icon-tile"/>
          <p:cNvSpPr/>
          <p:nvPr/>
        </p:nvSpPr>
        <p:spPr>
          <a:xfrm>
            <a:off x="960120" y="42062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79" y="4336999"/>
            <a:ext cx="241402" cy="2414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91640" y="4187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Open weights</a:t>
            </a:r>
            <a:endParaRPr lang="en-US" sz="1700" dirty="0"/>
          </a:p>
        </p:txBody>
      </p:sp>
      <p:sp>
        <p:nvSpPr>
          <p:cNvPr id="23" name="badge"/>
          <p:cNvSpPr/>
          <p:nvPr/>
        </p:nvSpPr>
        <p:spPr>
          <a:xfrm>
            <a:off x="1691640" y="4553712"/>
            <a:ext cx="647395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691640" y="4558284"/>
            <a:ext cx="64739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Edge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4114800" y="4151376"/>
            <a:ext cx="7071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Drafts Kiswahili reports offline through partner inference: the path to clinics with unreliable internet.</a:t>
            </a:r>
            <a:endParaRPr lang="en-US" sz="1400" dirty="0"/>
          </a:p>
        </p:txBody>
      </p:sp>
      <p:sp>
        <p:nvSpPr>
          <p:cNvPr id="26" name="divider"/>
          <p:cNvSpPr/>
          <p:nvPr/>
        </p:nvSpPr>
        <p:spPr>
          <a:xfrm>
            <a:off x="914400" y="4983480"/>
            <a:ext cx="103628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icon-tile"/>
          <p:cNvSpPr/>
          <p:nvPr/>
        </p:nvSpPr>
        <p:spPr>
          <a:xfrm>
            <a:off x="960120" y="5257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pic>
        <p:nvPicPr>
          <p:cNvPr id="2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" y="5388559"/>
            <a:ext cx="241402" cy="2414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52395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Muse Code</a:t>
            </a:r>
            <a:endParaRPr lang="en-US" sz="1700" dirty="0"/>
          </a:p>
        </p:txBody>
      </p:sp>
      <p:sp>
        <p:nvSpPr>
          <p:cNvPr id="30" name="badge"/>
          <p:cNvSpPr/>
          <p:nvPr/>
        </p:nvSpPr>
        <p:spPr>
          <a:xfrm>
            <a:off x="1691640" y="5605272"/>
            <a:ext cx="722376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691640" y="5609844"/>
            <a:ext cx="722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Build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4114800" y="5202936"/>
            <a:ext cx="7071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Pair-programming for test scaffolds and evaluation scripts.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DATA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Tuned abroad, tested on Tanzanian slides it never saw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All public, split by patient. One command, make data, fetches and checksum-verifies the core sets.</a:t>
            </a:r>
            <a:endParaRPr lang="en-US" sz="1400" dirty="0"/>
          </a:p>
        </p:txBody>
      </p:sp>
      <p:sp>
        <p:nvSpPr>
          <p:cNvPr id="5" name="table-card"/>
          <p:cNvSpPr/>
          <p:nvPr/>
        </p:nvSpPr>
        <p:spPr>
          <a:xfrm>
            <a:off x="640080" y="1828800"/>
            <a:ext cx="10911535" cy="361188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graphicFrame>
        <p:nvGraphicFramePr>
          <p:cNvPr id="7" name="datase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93392"/>
          <a:ext cx="10545775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965960"/>
                <a:gridCol w="2606040"/>
                <a:gridCol w="1143000"/>
                <a:gridCol w="24076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DATASET</a:t>
                      </a:r>
                      <a:endParaRPr lang="en-US" sz="11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LABELS</a:t>
                      </a:r>
                      <a:endParaRPr lang="en-US" sz="11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SIZE</a:t>
                      </a:r>
                      <a:endParaRPr lang="en-US" sz="11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</a:rPr>
                        <a:t>UDOM thick smears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563EB"/>
                          </a:solidFill>
                        </a:rPr>
                        <a:t>Tanzania, Morogoro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Boxes: parasites + WBC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149 MB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Count benchmark (held out)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</a:rPr>
                        <a:t>NM-AIST smears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563EB"/>
                          </a:solidFill>
                        </a:rPr>
                        <a:t>Tanzania, Arusha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Image-level, 3,544 images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Several GB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Slide-level test (held out)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</a:rPr>
                        <a:t>NLM thick, 150 patients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Bangladesh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Every parasite + WBC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3.9 GB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Tuning and training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</a:rPr>
                        <a:t>NLM thick, uninfected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Bangladesh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WBC; negative slides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2.5 GB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Specificity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</a:rPr>
                        <a:t>NLM Malaria Screener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Sudan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Expert counts, 190 patients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49 GB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African validation (optional)</a:t>
                      </a:r>
                      <a:endParaRPr lang="en-US" sz="1300" dirty="0"/>
                    </a:p>
                  </a:txBody>
                  <a:tcPr marL="128016" marR="12801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badge"/>
          <p:cNvSpPr/>
          <p:nvPr/>
        </p:nvSpPr>
        <p:spPr>
          <a:xfrm>
            <a:off x="640080" y="5669280"/>
            <a:ext cx="1847088" cy="29260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5673852"/>
            <a:ext cx="1847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</a:rPr>
              <a:t>Held out for testing</a:t>
            </a:r>
            <a:endParaRPr lang="en-US" sz="1050" dirty="0"/>
          </a:p>
        </p:txBody>
      </p:sp>
      <p:sp>
        <p:nvSpPr>
          <p:cNvPr id="9" name="badge"/>
          <p:cNvSpPr/>
          <p:nvPr/>
        </p:nvSpPr>
        <p:spPr>
          <a:xfrm>
            <a:off x="2596896" y="5669280"/>
            <a:ext cx="15471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596896" y="5673852"/>
            <a:ext cx="1547165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Split by patient</a:t>
            </a:r>
            <a:endParaRPr lang="en-US" sz="1050" dirty="0"/>
          </a:p>
        </p:txBody>
      </p:sp>
      <p:sp>
        <p:nvSpPr>
          <p:cNvPr id="11" name="badge"/>
          <p:cNvSpPr/>
          <p:nvPr/>
        </p:nvSpPr>
        <p:spPr>
          <a:xfrm>
            <a:off x="4253789" y="5669280"/>
            <a:ext cx="28968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253789" y="5673852"/>
            <a:ext cx="289681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CC BY 4.0 and public research data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EVALUATION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Each Meta capability must earn its place in the results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The protocol is fixed before any results; the Tanzanian sets are never used for tuning.</a:t>
            </a:r>
            <a:endParaRPr lang="en-US" sz="1400" dirty="0"/>
          </a:p>
        </p:txBody>
      </p:sp>
      <p:sp>
        <p:nvSpPr>
          <p:cNvPr id="5" name="metrics"/>
          <p:cNvSpPr/>
          <p:nvPr/>
        </p:nvSpPr>
        <p:spPr>
          <a:xfrm>
            <a:off x="640080" y="182880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057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What we measure</a:t>
            </a:r>
            <a:endParaRPr lang="en-US" sz="1600" dirty="0"/>
          </a:p>
        </p:txBody>
      </p:sp>
      <p:pic>
        <p:nvPicPr>
          <p:cNvPr id="7" name="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42616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7592" y="2606040"/>
            <a:ext cx="4087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Detection precision, recall and F1</a:t>
            </a:r>
            <a:endParaRPr lang="en-US" sz="1400" dirty="0"/>
          </a:p>
        </p:txBody>
      </p:sp>
      <p:pic>
        <p:nvPicPr>
          <p:cNvPr id="9" name="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209544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07592" y="3172968"/>
            <a:ext cx="4087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Count error, bias and correlation</a:t>
            </a:r>
            <a:endParaRPr lang="en-US" sz="1400" dirty="0"/>
          </a:p>
        </p:txBody>
      </p:sp>
      <p:pic>
        <p:nvPicPr>
          <p:cNvPr id="11" name="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7647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07592" y="3739896"/>
            <a:ext cx="4087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Slide sensitivity and specificity</a:t>
            </a:r>
            <a:endParaRPr lang="en-US" sz="1400" dirty="0"/>
          </a:p>
        </p:txBody>
      </p:sp>
      <p:pic>
        <p:nvPicPr>
          <p:cNvPr id="13" name="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4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07592" y="4306824"/>
            <a:ext cx="4087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95% confidence intervals by patient</a:t>
            </a:r>
            <a:endParaRPr lang="en-US" sz="1400" dirty="0"/>
          </a:p>
        </p:txBody>
      </p:sp>
      <p:sp>
        <p:nvSpPr>
          <p:cNvPr id="15" name="headline-q"/>
          <p:cNvSpPr/>
          <p:nvPr/>
        </p:nvSpPr>
        <p:spPr>
          <a:xfrm>
            <a:off x="914400" y="4846320"/>
            <a:ext cx="4526280" cy="960120"/>
          </a:xfrm>
          <a:prstGeom prst="roundRect">
            <a:avLst>
              <a:gd name="adj" fmla="val 9524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097280" y="49560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563EB"/>
                </a:solidFill>
              </a:rPr>
              <a:t>HEADLINE QUESTION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097280" y="51937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</a:rPr>
              <a:t>Does the count agree with an expert's on Tanzanian slides it never trained on?</a:t>
            </a:r>
            <a:endParaRPr lang="en-US" sz="1300" dirty="0"/>
          </a:p>
        </p:txBody>
      </p:sp>
      <p:sp>
        <p:nvSpPr>
          <p:cNvPr id="18" name="ablation"/>
          <p:cNvSpPr/>
          <p:nvPr/>
        </p:nvSpPr>
        <p:spPr>
          <a:xfrm>
            <a:off x="5943600" y="1828800"/>
            <a:ext cx="5608015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26364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Ablation ladder</a:t>
            </a:r>
            <a:endParaRPr lang="en-US" sz="1600" dirty="0"/>
          </a:p>
        </p:txBody>
      </p:sp>
      <p:sp>
        <p:nvSpPr>
          <p:cNvPr id="20" name="badge"/>
          <p:cNvSpPr/>
          <p:nvPr/>
        </p:nvSpPr>
        <p:spPr>
          <a:xfrm>
            <a:off x="10317175" y="20574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317175" y="2061972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5 variants</a:t>
            </a:r>
            <a:endParaRPr lang="en-US" sz="1050" dirty="0"/>
          </a:p>
        </p:txBody>
      </p:sp>
      <p:sp>
        <p:nvSpPr>
          <p:cNvPr id="22" name="rung"/>
          <p:cNvSpPr/>
          <p:nvPr/>
        </p:nvSpPr>
        <p:spPr>
          <a:xfrm>
            <a:off x="6263640" y="2606040"/>
            <a:ext cx="4967935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446520" y="2606040"/>
            <a:ext cx="46021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Baseline: stain threshold, no AI</a:t>
            </a:r>
            <a:endParaRPr lang="en-US" sz="1300" dirty="0"/>
          </a:p>
        </p:txBody>
      </p:sp>
      <p:sp>
        <p:nvSpPr>
          <p:cNvPr id="24" name="rung"/>
          <p:cNvSpPr/>
          <p:nvPr/>
        </p:nvSpPr>
        <p:spPr>
          <a:xfrm>
            <a:off x="6464808" y="3227832"/>
            <a:ext cx="4766767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6647688" y="3227832"/>
            <a:ext cx="440100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SAM 3, text prompt</a:t>
            </a:r>
            <a:endParaRPr lang="en-US" sz="1300" dirty="0"/>
          </a:p>
        </p:txBody>
      </p:sp>
      <p:sp>
        <p:nvSpPr>
          <p:cNvPr id="26" name="rung"/>
          <p:cNvSpPr/>
          <p:nvPr/>
        </p:nvSpPr>
        <p:spPr>
          <a:xfrm>
            <a:off x="6665976" y="3849624"/>
            <a:ext cx="4565599" cy="475488"/>
          </a:xfrm>
          <a:prstGeom prst="roundRect">
            <a:avLst>
              <a:gd name="adj" fmla="val 15385"/>
            </a:avLst>
          </a:prstGeom>
          <a:solidFill>
            <a:srgbClr val="DBEAFE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848856" y="3849624"/>
            <a:ext cx="4199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SAM 3, best text prompt</a:t>
            </a:r>
            <a:endParaRPr lang="en-US" sz="1300" dirty="0"/>
          </a:p>
        </p:txBody>
      </p:sp>
      <p:sp>
        <p:nvSpPr>
          <p:cNvPr id="28" name="rung"/>
          <p:cNvSpPr/>
          <p:nvPr/>
        </p:nvSpPr>
        <p:spPr>
          <a:xfrm>
            <a:off x="6867144" y="4471416"/>
            <a:ext cx="4364431" cy="475488"/>
          </a:xfrm>
          <a:prstGeom prst="roundRect">
            <a:avLst>
              <a:gd name="adj" fmla="val 15385"/>
            </a:avLst>
          </a:prstGeom>
          <a:solidFill>
            <a:srgbClr val="93C5FD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7050024" y="4471416"/>
            <a:ext cx="3998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SAM 3, text + exemplars</a:t>
            </a:r>
            <a:endParaRPr lang="en-US" sz="1300" dirty="0"/>
          </a:p>
        </p:txBody>
      </p:sp>
      <p:sp>
        <p:nvSpPr>
          <p:cNvPr id="30" name="rung"/>
          <p:cNvSpPr/>
          <p:nvPr/>
        </p:nvSpPr>
        <p:spPr>
          <a:xfrm>
            <a:off x="7068312" y="5093208"/>
            <a:ext cx="4163263" cy="475488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7251192" y="5093208"/>
            <a:ext cx="379750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+ Muse Spark quality review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BUILT FOR THE RUBRIC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Darubini earns each point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Weights from the Official Rules; every build task maps to at least one.</a:t>
            </a:r>
            <a:endParaRPr lang="en-US" sz="1400" dirty="0"/>
          </a:p>
        </p:txBody>
      </p:sp>
      <p:sp>
        <p:nvSpPr>
          <p:cNvPr id="5" name="chart-card"/>
          <p:cNvSpPr/>
          <p:nvPr/>
        </p:nvSpPr>
        <p:spPr>
          <a:xfrm>
            <a:off x="640080" y="182880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Judging weights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377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Share of the final project score, %</a:t>
            </a:r>
            <a:endParaRPr lang="en-US" sz="1200" dirty="0"/>
          </a:p>
        </p:txBody>
      </p:sp>
      <p:graphicFrame>
        <p:nvGraphicFramePr>
          <p:cNvPr id="8" name="weights-chart" descr=""/>
          <p:cNvGraphicFramePr/>
          <p:nvPr/>
        </p:nvGraphicFramePr>
        <p:xfrm>
          <a:off x="822960" y="2743200"/>
          <a:ext cx="502920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9" name="tren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5422392"/>
            <a:ext cx="182880" cy="182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Impact and the live demo carry 55% between them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5669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Meta tooling is weighted above technical depth</a:t>
            </a:r>
            <a:endParaRPr lang="en-US" sz="1100" dirty="0"/>
          </a:p>
        </p:txBody>
      </p:sp>
      <p:sp>
        <p:nvSpPr>
          <p:cNvPr id="12" name="legend-card"/>
          <p:cNvSpPr/>
          <p:nvPr/>
        </p:nvSpPr>
        <p:spPr>
          <a:xfrm>
            <a:off x="6263640" y="1828800"/>
            <a:ext cx="5287975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3" name="legend-dot"/>
          <p:cNvSpPr/>
          <p:nvPr/>
        </p:nvSpPr>
        <p:spPr>
          <a:xfrm>
            <a:off x="6583680" y="2130552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8000" y="2057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Impact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0545775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30%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0" y="2377440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 leading killer in Tanzania, existing microscopes, a Kiswahili report, results on local slides.</a:t>
            </a:r>
            <a:endParaRPr lang="en-US" sz="1200" dirty="0"/>
          </a:p>
        </p:txBody>
      </p:sp>
      <p:sp>
        <p:nvSpPr>
          <p:cNvPr id="17" name="divider"/>
          <p:cNvSpPr/>
          <p:nvPr/>
        </p:nvSpPr>
        <p:spPr>
          <a:xfrm>
            <a:off x="6537960" y="2880360"/>
            <a:ext cx="47393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legend-dot"/>
          <p:cNvSpPr/>
          <p:nvPr/>
        </p:nvSpPr>
        <p:spPr>
          <a:xfrm>
            <a:off x="6583680" y="3182112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3B82F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58000" y="31089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Meta tooling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0545775" y="31089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3429000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Exemplar prompting, video tracking, Muse Spark as a tool-calling agent.</a:t>
            </a:r>
            <a:endParaRPr lang="en-US" sz="1200" dirty="0"/>
          </a:p>
        </p:txBody>
      </p:sp>
      <p:sp>
        <p:nvSpPr>
          <p:cNvPr id="22" name="divider"/>
          <p:cNvSpPr/>
          <p:nvPr/>
        </p:nvSpPr>
        <p:spPr>
          <a:xfrm>
            <a:off x="6537960" y="3931920"/>
            <a:ext cx="47393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legend-dot"/>
          <p:cNvSpPr/>
          <p:nvPr/>
        </p:nvSpPr>
        <p:spPr>
          <a:xfrm>
            <a:off x="6583680" y="4233672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60A5F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858000" y="4160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Demo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545775" y="41605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25%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4480560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Live on a real microscope in Dar es Salaam, beside a manual count.</a:t>
            </a:r>
            <a:endParaRPr lang="en-US" sz="1200" dirty="0"/>
          </a:p>
        </p:txBody>
      </p:sp>
      <p:sp>
        <p:nvSpPr>
          <p:cNvPr id="27" name="divider"/>
          <p:cNvSpPr/>
          <p:nvPr/>
        </p:nvSpPr>
        <p:spPr>
          <a:xfrm>
            <a:off x="6537960" y="4983480"/>
            <a:ext cx="47393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legend-dot"/>
          <p:cNvSpPr/>
          <p:nvPr/>
        </p:nvSpPr>
        <p:spPr>
          <a:xfrm>
            <a:off x="6583680" y="5285232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93C5F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858000" y="52120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Technical depth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10545775" y="52120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20%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6858000" y="5532120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Strict typing, 96% coverage, security scans, patient-level splits.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IMPLEMENTATION PLAN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Ten days, feature freeze on day 8, submit 11 hours early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All dates East Africa Time. Submission closes Thursday 5 November at 05:00.</a:t>
            </a:r>
            <a:endParaRPr lang="en-US" sz="1400" dirty="0"/>
          </a:p>
        </p:txBody>
      </p:sp>
      <p:sp>
        <p:nvSpPr>
          <p:cNvPr id="5" name="track"/>
          <p:cNvSpPr/>
          <p:nvPr/>
        </p:nvSpPr>
        <p:spPr>
          <a:xfrm>
            <a:off x="1488415" y="2176272"/>
            <a:ext cx="9214866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milestone"/>
          <p:cNvSpPr/>
          <p:nvPr/>
        </p:nvSpPr>
        <p:spPr>
          <a:xfrm>
            <a:off x="1369543" y="2057400"/>
            <a:ext cx="237744" cy="23774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19072"/>
            <a:ext cx="1696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24–25 Oct</a:t>
            </a:r>
            <a:endParaRPr lang="en-US" sz="1100" dirty="0"/>
          </a:p>
        </p:txBody>
      </p:sp>
      <p:sp>
        <p:nvSpPr>
          <p:cNvPr id="8" name="phase"/>
          <p:cNvSpPr/>
          <p:nvPr/>
        </p:nvSpPr>
        <p:spPr>
          <a:xfrm>
            <a:off x="640080" y="2560320"/>
            <a:ext cx="1696669" cy="2834640"/>
          </a:xfrm>
          <a:prstGeom prst="roundRect">
            <a:avLst>
              <a:gd name="adj" fmla="val 7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841248" y="2761488"/>
            <a:ext cx="1397203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2766060"/>
            <a:ext cx="13972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Before kickoff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20040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Ready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611880"/>
            <a:ext cx="13309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Repo and CI live; datasets downloaded; microscope booked</a:t>
            </a:r>
            <a:endParaRPr lang="en-US" sz="1300" dirty="0"/>
          </a:p>
        </p:txBody>
      </p:sp>
      <p:sp>
        <p:nvSpPr>
          <p:cNvPr id="13" name="milestone"/>
          <p:cNvSpPr/>
          <p:nvPr/>
        </p:nvSpPr>
        <p:spPr>
          <a:xfrm>
            <a:off x="3212516" y="2057400"/>
            <a:ext cx="237744" cy="23774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83053" y="1719072"/>
            <a:ext cx="1696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26–28 Oct</a:t>
            </a:r>
            <a:endParaRPr lang="en-US" sz="1100" dirty="0"/>
          </a:p>
        </p:txBody>
      </p:sp>
      <p:sp>
        <p:nvSpPr>
          <p:cNvPr id="15" name="phase"/>
          <p:cNvSpPr/>
          <p:nvPr/>
        </p:nvSpPr>
        <p:spPr>
          <a:xfrm>
            <a:off x="2483053" y="2560320"/>
            <a:ext cx="1696669" cy="2834640"/>
          </a:xfrm>
          <a:prstGeom prst="roundRect">
            <a:avLst>
              <a:gd name="adj" fmla="val 7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6" name="badge"/>
          <p:cNvSpPr/>
          <p:nvPr/>
        </p:nvSpPr>
        <p:spPr>
          <a:xfrm>
            <a:off x="2684221" y="2761488"/>
            <a:ext cx="947318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84221" y="2766060"/>
            <a:ext cx="94731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Days 1–3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684221" y="320040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SAM 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684221" y="3611880"/>
            <a:ext cx="13309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Wire the API, scale runs, exemplar prompting</a:t>
            </a:r>
            <a:endParaRPr lang="en-US" sz="1300" dirty="0"/>
          </a:p>
        </p:txBody>
      </p:sp>
      <p:sp>
        <p:nvSpPr>
          <p:cNvPr id="20" name="milestone"/>
          <p:cNvSpPr/>
          <p:nvPr/>
        </p:nvSpPr>
        <p:spPr>
          <a:xfrm>
            <a:off x="5055489" y="2057400"/>
            <a:ext cx="237744" cy="23774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26026" y="1719072"/>
            <a:ext cx="1696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29–30 Oct</a:t>
            </a:r>
            <a:endParaRPr lang="en-US" sz="1100" dirty="0"/>
          </a:p>
        </p:txBody>
      </p:sp>
      <p:sp>
        <p:nvSpPr>
          <p:cNvPr id="22" name="phase"/>
          <p:cNvSpPr/>
          <p:nvPr/>
        </p:nvSpPr>
        <p:spPr>
          <a:xfrm>
            <a:off x="4326026" y="2560320"/>
            <a:ext cx="1696669" cy="2834640"/>
          </a:xfrm>
          <a:prstGeom prst="roundRect">
            <a:avLst>
              <a:gd name="adj" fmla="val 7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3" name="badge"/>
          <p:cNvSpPr/>
          <p:nvPr/>
        </p:nvSpPr>
        <p:spPr>
          <a:xfrm>
            <a:off x="4527194" y="2761488"/>
            <a:ext cx="947318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7194" y="2766060"/>
            <a:ext cx="94731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Days 4–5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27194" y="320040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Prove it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4527194" y="3611880"/>
            <a:ext cx="13309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Tanzanian evaluation; Muse Spark agent</a:t>
            </a:r>
            <a:endParaRPr lang="en-US" sz="1300" dirty="0"/>
          </a:p>
        </p:txBody>
      </p:sp>
      <p:sp>
        <p:nvSpPr>
          <p:cNvPr id="27" name="milestone"/>
          <p:cNvSpPr/>
          <p:nvPr/>
        </p:nvSpPr>
        <p:spPr>
          <a:xfrm>
            <a:off x="6898462" y="2057400"/>
            <a:ext cx="237744" cy="237744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69000" y="1719072"/>
            <a:ext cx="1696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31 Oct–1 Nov</a:t>
            </a:r>
            <a:endParaRPr lang="en-US" sz="1100" dirty="0"/>
          </a:p>
        </p:txBody>
      </p:sp>
      <p:sp>
        <p:nvSpPr>
          <p:cNvPr id="29" name="phase"/>
          <p:cNvSpPr/>
          <p:nvPr/>
        </p:nvSpPr>
        <p:spPr>
          <a:xfrm>
            <a:off x="6169000" y="2560320"/>
            <a:ext cx="1696669" cy="2834640"/>
          </a:xfrm>
          <a:prstGeom prst="roundRect">
            <a:avLst>
              <a:gd name="adj" fmla="val 7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30" name="badge"/>
          <p:cNvSpPr/>
          <p:nvPr/>
        </p:nvSpPr>
        <p:spPr>
          <a:xfrm>
            <a:off x="6370168" y="2761488"/>
            <a:ext cx="947318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0168" y="2766060"/>
            <a:ext cx="94731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Days 6–7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370168" y="320040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Product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370168" y="3611880"/>
            <a:ext cx="13309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Phone capture app; video tracking</a:t>
            </a:r>
            <a:endParaRPr lang="en-US" sz="1300" dirty="0"/>
          </a:p>
        </p:txBody>
      </p:sp>
      <p:sp>
        <p:nvSpPr>
          <p:cNvPr id="34" name="milestone"/>
          <p:cNvSpPr/>
          <p:nvPr/>
        </p:nvSpPr>
        <p:spPr>
          <a:xfrm>
            <a:off x="8741435" y="2057400"/>
            <a:ext cx="237744" cy="237744"/>
          </a:xfrm>
          <a:prstGeom prst="ellipse">
            <a:avLst/>
          </a:prstGeom>
          <a:solidFill>
            <a:srgbClr val="2563EB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11973" y="1719072"/>
            <a:ext cx="1696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2 Nov</a:t>
            </a:r>
            <a:endParaRPr lang="en-US" sz="1100" dirty="0"/>
          </a:p>
        </p:txBody>
      </p:sp>
      <p:sp>
        <p:nvSpPr>
          <p:cNvPr id="36" name="phase"/>
          <p:cNvSpPr/>
          <p:nvPr/>
        </p:nvSpPr>
        <p:spPr>
          <a:xfrm>
            <a:off x="8011973" y="2560320"/>
            <a:ext cx="1696669" cy="2834640"/>
          </a:xfrm>
          <a:prstGeom prst="roundRect">
            <a:avLst>
              <a:gd name="adj" fmla="val 7545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37" name="badge"/>
          <p:cNvSpPr/>
          <p:nvPr/>
        </p:nvSpPr>
        <p:spPr>
          <a:xfrm>
            <a:off x="8213141" y="2761488"/>
            <a:ext cx="72237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13141" y="2766060"/>
            <a:ext cx="722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Day 8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13141" y="320040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Live lab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213141" y="3611880"/>
            <a:ext cx="13309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Real microscope session; feature freeze</a:t>
            </a:r>
            <a:endParaRPr lang="en-US" sz="1300" dirty="0"/>
          </a:p>
        </p:txBody>
      </p:sp>
      <p:sp>
        <p:nvSpPr>
          <p:cNvPr id="41" name="milestone"/>
          <p:cNvSpPr/>
          <p:nvPr/>
        </p:nvSpPr>
        <p:spPr>
          <a:xfrm>
            <a:off x="10584409" y="2057400"/>
            <a:ext cx="237744" cy="237744"/>
          </a:xfrm>
          <a:prstGeom prst="ellipse">
            <a:avLst/>
          </a:prstGeom>
          <a:solidFill>
            <a:srgbClr val="2563EB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54946" y="1719072"/>
            <a:ext cx="1696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3–4 Nov</a:t>
            </a:r>
            <a:endParaRPr lang="en-US" sz="1100" dirty="0"/>
          </a:p>
        </p:txBody>
      </p:sp>
      <p:sp>
        <p:nvSpPr>
          <p:cNvPr id="43" name="phase"/>
          <p:cNvSpPr/>
          <p:nvPr/>
        </p:nvSpPr>
        <p:spPr>
          <a:xfrm>
            <a:off x="9854946" y="2560320"/>
            <a:ext cx="1696669" cy="2834640"/>
          </a:xfrm>
          <a:prstGeom prst="roundRect">
            <a:avLst>
              <a:gd name="adj" fmla="val 7545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44" name="badge"/>
          <p:cNvSpPr/>
          <p:nvPr/>
        </p:nvSpPr>
        <p:spPr>
          <a:xfrm>
            <a:off x="10056114" y="2761488"/>
            <a:ext cx="102229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056114" y="2766060"/>
            <a:ext cx="102229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Days 9–10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056114" y="3200400"/>
            <a:ext cx="13309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Ship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10056114" y="3611880"/>
            <a:ext cx="13309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Video, results, model card; submit by 18:00</a:t>
            </a:r>
            <a:endParaRPr lang="en-US" sz="1300" dirty="0"/>
          </a:p>
        </p:txBody>
      </p:sp>
      <p:sp>
        <p:nvSpPr>
          <p:cNvPr id="48" name="freeze-note"/>
          <p:cNvSpPr/>
          <p:nvPr/>
        </p:nvSpPr>
        <p:spPr>
          <a:xfrm>
            <a:off x="640080" y="557784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14400" y="55778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Rule: no new features after Monday 2 November. Days 9 and 10 are polish, the 3-minute video and the write-up.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ENGINEERING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Clean DevOps from the first commit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Every push runs the same gates; CI and CodeQL are green on main.</a:t>
            </a:r>
            <a:endParaRPr lang="en-US" sz="1400" dirty="0"/>
          </a:p>
        </p:txBody>
      </p:sp>
      <p:sp>
        <p:nvSpPr>
          <p:cNvPr id="5" name="terminal"/>
          <p:cNvSpPr/>
          <p:nvPr/>
        </p:nvSpPr>
        <p:spPr>
          <a:xfrm>
            <a:off x="64008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window-dot"/>
          <p:cNvSpPr/>
          <p:nvPr/>
        </p:nvSpPr>
        <p:spPr>
          <a:xfrm>
            <a:off x="914400" y="2029968"/>
            <a:ext cx="118872" cy="118872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7" name="window-dot"/>
          <p:cNvSpPr/>
          <p:nvPr/>
        </p:nvSpPr>
        <p:spPr>
          <a:xfrm>
            <a:off x="1133856" y="202996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window-dot"/>
          <p:cNvSpPr/>
          <p:nvPr/>
        </p:nvSpPr>
        <p:spPr>
          <a:xfrm>
            <a:off x="1353312" y="2029968"/>
            <a:ext cx="118872" cy="11887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37360" y="19751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~/darubini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2316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check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ruff check .         All checks passed!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ruff format --check  42 files formatted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mypy --strict        no issues, 23 files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bandit -r src        0 issues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pip-audit            no known vulns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              72 passed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             95.7%  (gate 80%)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run list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        main   success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CodeQL    main   success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   build  success</a:t>
            </a:r>
            <a:endParaRPr lang="en-US" sz="1200" dirty="0"/>
          </a:p>
        </p:txBody>
      </p:sp>
      <p:sp>
        <p:nvSpPr>
          <p:cNvPr id="11" name="gate"/>
          <p:cNvSpPr/>
          <p:nvPr/>
        </p:nvSpPr>
        <p:spPr>
          <a:xfrm>
            <a:off x="5852160" y="1828800"/>
            <a:ext cx="275828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2" name="icon-tile"/>
          <p:cNvSpPr/>
          <p:nvPr/>
        </p:nvSpPr>
        <p:spPr>
          <a:xfrm>
            <a:off x="6080760" y="205740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0122" y="2166762"/>
            <a:ext cx="201900" cy="2019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656832" y="2057400"/>
            <a:ext cx="179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Lint and format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656832" y="2377440"/>
            <a:ext cx="1798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Ruff with security, docstring and import rules</a:t>
            </a:r>
            <a:endParaRPr lang="en-US" sz="1100" dirty="0"/>
          </a:p>
        </p:txBody>
      </p:sp>
      <p:sp>
        <p:nvSpPr>
          <p:cNvPr id="16" name="gate"/>
          <p:cNvSpPr/>
          <p:nvPr/>
        </p:nvSpPr>
        <p:spPr>
          <a:xfrm>
            <a:off x="8793328" y="1828800"/>
            <a:ext cx="275828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7" name="icon-tile"/>
          <p:cNvSpPr/>
          <p:nvPr/>
        </p:nvSpPr>
        <p:spPr>
          <a:xfrm>
            <a:off x="9021928" y="205740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290" y="2166762"/>
            <a:ext cx="201900" cy="201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598000" y="2057400"/>
            <a:ext cx="179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Strict types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9598000" y="2377440"/>
            <a:ext cx="1798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mypy --strict across the package</a:t>
            </a:r>
            <a:endParaRPr lang="en-US" sz="1100" dirty="0"/>
          </a:p>
        </p:txBody>
      </p:sp>
      <p:sp>
        <p:nvSpPr>
          <p:cNvPr id="21" name="gate"/>
          <p:cNvSpPr/>
          <p:nvPr/>
        </p:nvSpPr>
        <p:spPr>
          <a:xfrm>
            <a:off x="5852160" y="3291840"/>
            <a:ext cx="275828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2" name="icon-tile"/>
          <p:cNvSpPr/>
          <p:nvPr/>
        </p:nvSpPr>
        <p:spPr>
          <a:xfrm>
            <a:off x="6080760" y="35204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122" y="3629802"/>
            <a:ext cx="201900" cy="2019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656832" y="3520440"/>
            <a:ext cx="179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Tests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6656832" y="3840480"/>
            <a:ext cx="1798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Python 3.10, 3.11, 3.12 with an 80% coverage gate</a:t>
            </a:r>
            <a:endParaRPr lang="en-US" sz="1100" dirty="0"/>
          </a:p>
        </p:txBody>
      </p:sp>
      <p:sp>
        <p:nvSpPr>
          <p:cNvPr id="26" name="gate"/>
          <p:cNvSpPr/>
          <p:nvPr/>
        </p:nvSpPr>
        <p:spPr>
          <a:xfrm>
            <a:off x="8793328" y="3291840"/>
            <a:ext cx="275828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7" name="icon-tile"/>
          <p:cNvSpPr/>
          <p:nvPr/>
        </p:nvSpPr>
        <p:spPr>
          <a:xfrm>
            <a:off x="9021928" y="35204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2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1290" y="3629802"/>
            <a:ext cx="201900" cy="2019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598000" y="3520440"/>
            <a:ext cx="179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Security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9598000" y="3840480"/>
            <a:ext cx="1798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Bandit, pip-audit and CodeQL on every push</a:t>
            </a:r>
            <a:endParaRPr lang="en-US" sz="1100" dirty="0"/>
          </a:p>
        </p:txBody>
      </p:sp>
      <p:sp>
        <p:nvSpPr>
          <p:cNvPr id="31" name="gate"/>
          <p:cNvSpPr/>
          <p:nvPr/>
        </p:nvSpPr>
        <p:spPr>
          <a:xfrm>
            <a:off x="5852160" y="4754880"/>
            <a:ext cx="275828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32" name="icon-tile"/>
          <p:cNvSpPr/>
          <p:nvPr/>
        </p:nvSpPr>
        <p:spPr>
          <a:xfrm>
            <a:off x="6080760" y="498348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122" y="5092842"/>
            <a:ext cx="201900" cy="2019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656832" y="4983480"/>
            <a:ext cx="179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Container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6656832" y="5303520"/>
            <a:ext cx="1798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Multi-stage Docker image, non-root, health check</a:t>
            </a:r>
            <a:endParaRPr lang="en-US" sz="1100" dirty="0"/>
          </a:p>
        </p:txBody>
      </p:sp>
      <p:sp>
        <p:nvSpPr>
          <p:cNvPr id="36" name="gate"/>
          <p:cNvSpPr/>
          <p:nvPr/>
        </p:nvSpPr>
        <p:spPr>
          <a:xfrm>
            <a:off x="8793328" y="4754880"/>
            <a:ext cx="275828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37" name="icon-tile"/>
          <p:cNvSpPr/>
          <p:nvPr/>
        </p:nvSpPr>
        <p:spPr>
          <a:xfrm>
            <a:off x="9021928" y="498348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EFF6FF"/>
          </a:solidFill>
          <a:ln/>
        </p:spPr>
      </p:sp>
      <p:pic>
        <p:nvPicPr>
          <p:cNvPr id="38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1290" y="5092842"/>
            <a:ext cx="201900" cy="20190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598000" y="4983480"/>
            <a:ext cx="1798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Upkeep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598000" y="5303520"/>
            <a:ext cx="1798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Dependabot for pip, Actions and Docker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SAFETY AND RISKS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Decision support, with a fallback for every risk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Darubini has not been clinically validated; it is built so that a mistake is caught by a person.</a:t>
            </a:r>
            <a:endParaRPr lang="en-US" sz="1400" dirty="0"/>
          </a:p>
        </p:txBody>
      </p:sp>
      <p:sp>
        <p:nvSpPr>
          <p:cNvPr id="5" name="safety"/>
          <p:cNvSpPr/>
          <p:nvPr/>
        </p:nvSpPr>
        <p:spPr>
          <a:xfrm>
            <a:off x="640080" y="1828800"/>
            <a:ext cx="4572000" cy="4206240"/>
          </a:xfrm>
          <a:prstGeom prst="roundRect">
            <a:avLst>
              <a:gd name="adj" fmla="val 3043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0574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Responsible by design</a:t>
            </a:r>
            <a:endParaRPr lang="en-US" sz="1600" dirty="0"/>
          </a:p>
        </p:txBody>
      </p:sp>
      <p:pic>
        <p:nvPicPr>
          <p:cNvPr id="7" name="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42616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7592" y="260604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 microscopist confirms every result</a:t>
            </a:r>
            <a:endParaRPr lang="en-US" sz="1400" dirty="0"/>
          </a:p>
        </p:txBody>
      </p:sp>
      <p:pic>
        <p:nvPicPr>
          <p:cNvPr id="9" name="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9125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07592" y="315468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Numbers come from code, never the model</a:t>
            </a:r>
            <a:endParaRPr lang="en-US" sz="1400" dirty="0"/>
          </a:p>
        </p:txBody>
      </p:sp>
      <p:pic>
        <p:nvPicPr>
          <p:cNvPr id="11" name="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39896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07592" y="370332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Doubtful fields are flagged, not hidden</a:t>
            </a:r>
            <a:endParaRPr lang="en-US" sz="1400" dirty="0"/>
          </a:p>
        </p:txBody>
      </p:sp>
      <p:pic>
        <p:nvPicPr>
          <p:cNvPr id="13" name="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88536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07592" y="4251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Limits published in a model card</a:t>
            </a:r>
            <a:endParaRPr lang="en-US" sz="1400" dirty="0"/>
          </a:p>
        </p:txBody>
      </p:sp>
      <p:pic>
        <p:nvPicPr>
          <p:cNvPr id="15" name="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37176"/>
            <a:ext cx="219456" cy="21945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307592" y="48006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No patient identifiers stored</a:t>
            </a:r>
            <a:endParaRPr lang="en-US" sz="1400" dirty="0"/>
          </a:p>
        </p:txBody>
      </p:sp>
      <p:sp>
        <p:nvSpPr>
          <p:cNvPr id="17" name="risks"/>
          <p:cNvSpPr/>
          <p:nvPr/>
        </p:nvSpPr>
        <p:spPr>
          <a:xfrm>
            <a:off x="5440680" y="1828800"/>
            <a:ext cx="6110935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8" name="Text 11"/>
          <p:cNvSpPr txBox="1"/>
          <p:nvPr/>
        </p:nvSpPr>
        <p:spPr>
          <a:xfrm>
            <a:off x="5760720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Risk</a:t>
            </a:r>
            <a:endParaRPr lang="en-US" sz="1100" dirty="0"/>
          </a:p>
        </p:txBody>
      </p:sp>
      <p:sp>
        <p:nvSpPr>
          <p:cNvPr id="19" name="Text 12"/>
          <p:cNvSpPr txBox="1"/>
          <p:nvPr/>
        </p:nvSpPr>
        <p:spPr>
          <a:xfrm>
            <a:off x="8275320" y="2057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Fallback</a:t>
            </a:r>
            <a:endParaRPr lang="en-US" sz="1100" dirty="0"/>
          </a:p>
        </p:txBody>
      </p:sp>
      <p:sp>
        <p:nvSpPr>
          <p:cNvPr id="20" name="divider"/>
          <p:cNvSpPr/>
          <p:nvPr/>
        </p:nvSpPr>
        <p:spPr>
          <a:xfrm>
            <a:off x="5715000" y="2423160"/>
            <a:ext cx="55622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5760720" y="258775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SAM 3 misses tiny ring forms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8275320" y="2587752"/>
            <a:ext cx="2956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Exemplars, tiled crops, baseline candidates checked by SAM 3</a:t>
            </a:r>
            <a:endParaRPr lang="en-US" sz="1300" dirty="0"/>
          </a:p>
        </p:txBody>
      </p:sp>
      <p:sp>
        <p:nvSpPr>
          <p:cNvPr id="23" name="divider"/>
          <p:cNvSpPr/>
          <p:nvPr/>
        </p:nvSpPr>
        <p:spPr>
          <a:xfrm>
            <a:off x="5715000" y="3291840"/>
            <a:ext cx="55622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760720" y="34564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US$150 of API credits runs out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8275320" y="3456432"/>
            <a:ext cx="2956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Cache every response; fixed 300-image ablation subset</a:t>
            </a:r>
            <a:endParaRPr lang="en-US" sz="1300" dirty="0"/>
          </a:p>
        </p:txBody>
      </p:sp>
      <p:sp>
        <p:nvSpPr>
          <p:cNvPr id="26" name="divider"/>
          <p:cNvSpPr/>
          <p:nvPr/>
        </p:nvSpPr>
        <p:spPr>
          <a:xfrm>
            <a:off x="5715000" y="4160520"/>
            <a:ext cx="55622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5760720" y="432511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API shape differs from assumptions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8275320" y="4325112"/>
            <a:ext cx="2956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One adapter file changes; the rest is tested on mocks</a:t>
            </a:r>
            <a:endParaRPr lang="en-US" sz="1300" dirty="0"/>
          </a:p>
        </p:txBody>
      </p:sp>
      <p:sp>
        <p:nvSpPr>
          <p:cNvPr id="29" name="divider"/>
          <p:cNvSpPr/>
          <p:nvPr/>
        </p:nvSpPr>
        <p:spPr>
          <a:xfrm>
            <a:off x="5715000" y="5029200"/>
            <a:ext cx="556229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760720" y="519379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Power or network cut in Dar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5193792"/>
            <a:ext cx="2956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UPS, mobile data, cloud workspace; video recorded by day 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498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Ten days from repository to live microscope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Decision support, not a diagnostic device. A qualified microscopist confirms every result.</a:t>
            </a:r>
            <a:endParaRPr lang="en-US" sz="1400" dirty="0"/>
          </a:p>
        </p:txBody>
      </p:sp>
      <p:sp>
        <p:nvSpPr>
          <p:cNvPr id="5" name="next"/>
          <p:cNvSpPr/>
          <p:nvPr/>
        </p:nvSpPr>
        <p:spPr>
          <a:xfrm>
            <a:off x="640080" y="1828800"/>
            <a:ext cx="2577008" cy="2651760"/>
          </a:xfrm>
          <a:prstGeom prst="roundRect">
            <a:avLst>
              <a:gd name="adj" fmla="val 49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icon-tile"/>
          <p:cNvSpPr/>
          <p:nvPr/>
        </p:nvSpPr>
        <p:spPr>
          <a:xfrm>
            <a:off x="914400" y="2103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" y="2233879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2788920"/>
            <a:ext cx="211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Mon 26 Oct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063240"/>
            <a:ext cx="211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Kickoff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474720"/>
            <a:ext cx="2119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Wire SAM 3 and Muse Spark into the adapter</a:t>
            </a:r>
            <a:endParaRPr lang="en-US" sz="1300" dirty="0"/>
          </a:p>
        </p:txBody>
      </p:sp>
      <p:sp>
        <p:nvSpPr>
          <p:cNvPr id="11" name="next"/>
          <p:cNvSpPr/>
          <p:nvPr/>
        </p:nvSpPr>
        <p:spPr>
          <a:xfrm>
            <a:off x="3418256" y="1828800"/>
            <a:ext cx="2577008" cy="2651760"/>
          </a:xfrm>
          <a:prstGeom prst="roundRect">
            <a:avLst>
              <a:gd name="adj" fmla="val 49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2" name="icon-tile"/>
          <p:cNvSpPr/>
          <p:nvPr/>
        </p:nvSpPr>
        <p:spPr>
          <a:xfrm>
            <a:off x="3692576" y="2103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335" y="223387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92576" y="2788920"/>
            <a:ext cx="211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Thu 29 Oct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692576" y="3063240"/>
            <a:ext cx="211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First results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92576" y="3474720"/>
            <a:ext cx="2119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Count error on Tanzanian slides it never saw</a:t>
            </a:r>
            <a:endParaRPr lang="en-US" sz="1300" dirty="0"/>
          </a:p>
        </p:txBody>
      </p:sp>
      <p:sp>
        <p:nvSpPr>
          <p:cNvPr id="17" name="next"/>
          <p:cNvSpPr/>
          <p:nvPr/>
        </p:nvSpPr>
        <p:spPr>
          <a:xfrm>
            <a:off x="6196432" y="1828800"/>
            <a:ext cx="2577008" cy="2651760"/>
          </a:xfrm>
          <a:prstGeom prst="roundRect">
            <a:avLst>
              <a:gd name="adj" fmla="val 49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18" name="icon-tile"/>
          <p:cNvSpPr/>
          <p:nvPr/>
        </p:nvSpPr>
        <p:spPr>
          <a:xfrm>
            <a:off x="6470752" y="2103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511" y="2233879"/>
            <a:ext cx="241402" cy="241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0752" y="2788920"/>
            <a:ext cx="211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Mon 2 Nov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70752" y="3063240"/>
            <a:ext cx="211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Live lab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470752" y="3474720"/>
            <a:ext cx="2119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Real microscope in Dar es Salaam; feature freeze</a:t>
            </a:r>
            <a:endParaRPr lang="en-US" sz="1300" dirty="0"/>
          </a:p>
        </p:txBody>
      </p:sp>
      <p:sp>
        <p:nvSpPr>
          <p:cNvPr id="23" name="next"/>
          <p:cNvSpPr/>
          <p:nvPr/>
        </p:nvSpPr>
        <p:spPr>
          <a:xfrm>
            <a:off x="8974607" y="1828800"/>
            <a:ext cx="2577008" cy="2651760"/>
          </a:xfrm>
          <a:prstGeom prst="roundRect">
            <a:avLst>
              <a:gd name="adj" fmla="val 49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24" name="icon-tile"/>
          <p:cNvSpPr/>
          <p:nvPr/>
        </p:nvSpPr>
        <p:spPr>
          <a:xfrm>
            <a:off x="9248927" y="2103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563EB"/>
          </a:solidFill>
          <a:ln/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687" y="2233879"/>
            <a:ext cx="241402" cy="24140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48927" y="2788920"/>
            <a:ext cx="211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Wed 4 Nov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9248927" y="3063240"/>
            <a:ext cx="211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Submit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248927" y="3474720"/>
            <a:ext cx="2119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11 hours before the deadline</a:t>
            </a:r>
            <a:endParaRPr lang="en-US" sz="1300" dirty="0"/>
          </a:p>
        </p:txBody>
      </p:sp>
      <p:sp>
        <p:nvSpPr>
          <p:cNvPr id="29" name="cta"/>
          <p:cNvSpPr/>
          <p:nvPr/>
        </p:nvSpPr>
        <p:spPr>
          <a:xfrm>
            <a:off x="640080" y="4754880"/>
            <a:ext cx="10911535" cy="128016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6000"/>
              </a:srgbClr>
            </a:outerShdw>
          </a:effectLst>
        </p:spPr>
      </p:sp>
      <p:sp>
        <p:nvSpPr>
          <p:cNvPr id="30" name="Text 24"/>
          <p:cNvSpPr txBox="1"/>
          <p:nvPr/>
        </p:nvSpPr>
        <p:spPr>
          <a:xfrm>
            <a:off x="105156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Darubini</a:t>
            </a:r>
            <a:endParaRPr lang="en-US" sz="2400" dirty="0"/>
          </a:p>
        </p:txBody>
      </p:sp>
      <p:sp>
        <p:nvSpPr>
          <p:cNvPr id="31" name="Text 25"/>
          <p:cNvSpPr txBox="1"/>
          <p:nvPr/>
        </p:nvSpPr>
        <p:spPr>
          <a:xfrm>
            <a:off x="1051560" y="54406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BEAFE"/>
                </a:solidFill>
              </a:rPr>
              <a:t>Albert William Mwangwa · MSc Data Science, University of Dar es Salaam</a:t>
            </a:r>
            <a:endParaRPr lang="en-US" sz="1300" dirty="0"/>
          </a:p>
        </p:txBody>
      </p:sp>
      <p:sp>
        <p:nvSpPr>
          <p:cNvPr id="32" name="cta-button"/>
          <p:cNvSpPr/>
          <p:nvPr/>
        </p:nvSpPr>
        <p:spPr>
          <a:xfrm>
            <a:off x="7848295" y="5166360"/>
            <a:ext cx="3291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7848295" y="51663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</a:rPr>
              <a:t>github.com/albertmwangwa/darubini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8251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ubini shadcn">
  <a:themeElements>
    <a:clrScheme name="Darubini shadcn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2563EB"/>
      </a:accent1>
      <a:accent2>
        <a:srgbClr val="60A5FA"/>
      </a:accent2>
      <a:accent3>
        <a:srgbClr val="3B82F6"/>
      </a:accent3>
      <a:accent4>
        <a:srgbClr val="93C5FD"/>
      </a:accent4>
      <a:accent5>
        <a:srgbClr val="64748B"/>
      </a:accent5>
      <a:accent6>
        <a:srgbClr val="E2E8F0"/>
      </a:accent6>
      <a:hlink>
        <a:srgbClr val="2563EB"/>
      </a:hlink>
      <a:folHlink>
        <a:srgbClr val="1D4ED8"/>
      </a:folHlink>
    </a:clrScheme>
    <a:fontScheme name="Darubini shadcn">
      <a:majorFont>
        <a:latin typeface="Manrop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Darubini: malaria microscopy copilot</dc:title>
  <dc:subject>PptxGenJS Presentation</dc:subject>
  <dc:creator>Albert William Mwangwa</dc:creator>
  <cp:lastModifiedBy>Albert William Mwangwa</cp:lastModifiedBy>
  <cp:revision>1</cp:revision>
  <dcterms:created xsi:type="dcterms:W3CDTF">2026-10-24T04:12:37Z</dcterms:created>
  <dcterms:modified xsi:type="dcterms:W3CDTF">2026-10-24T04:12:37Z</dcterms:modified>
</cp:coreProperties>
</file>